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83" r:id="rId5"/>
    <p:sldId id="260" r:id="rId6"/>
    <p:sldId id="284" r:id="rId7"/>
    <p:sldId id="289" r:id="rId8"/>
    <p:sldId id="263" r:id="rId9"/>
    <p:sldId id="264" r:id="rId10"/>
    <p:sldId id="265" r:id="rId11"/>
    <p:sldId id="266" r:id="rId12"/>
    <p:sldId id="267" r:id="rId13"/>
    <p:sldId id="290" r:id="rId14"/>
    <p:sldId id="285" r:id="rId15"/>
    <p:sldId id="270" r:id="rId16"/>
    <p:sldId id="272" r:id="rId17"/>
    <p:sldId id="271" r:id="rId18"/>
    <p:sldId id="286" r:id="rId19"/>
    <p:sldId id="274" r:id="rId20"/>
    <p:sldId id="261" r:id="rId21"/>
    <p:sldId id="281" r:id="rId22"/>
    <p:sldId id="295" r:id="rId23"/>
    <p:sldId id="294" r:id="rId24"/>
    <p:sldId id="296" r:id="rId25"/>
    <p:sldId id="297" r:id="rId26"/>
    <p:sldId id="298" r:id="rId27"/>
  </p:sldIdLst>
  <p:sldSz cx="18288000" cy="10287000"/>
  <p:notesSz cx="6858000" cy="9144000"/>
  <p:embeddedFontLst>
    <p:embeddedFont>
      <p:font typeface="Canva Sans Bold" panose="020B0604020202020204" charset="0"/>
      <p:regular r:id="rId29"/>
    </p:embeddedFont>
    <p:embeddedFont>
      <p:font typeface="Clear Sans" panose="020B0604020202020204" charset="0"/>
      <p:regular r:id="rId30"/>
    </p:embeddedFont>
    <p:embeddedFont>
      <p:font typeface="Clear Sans Bold" panose="020B0604020202020204" charset="0"/>
      <p:regular r:id="rId31"/>
    </p:embeddedFont>
    <p:embeddedFont>
      <p:font typeface="Clear Sans Medium" panose="020B0604020202020204" charset="0"/>
      <p:regular r:id="rId32"/>
    </p:embeddedFont>
    <p:embeddedFont>
      <p:font typeface="Garet" panose="020B0604020202020204" charset="0"/>
      <p:regular r:id="rId33"/>
    </p:embeddedFont>
    <p:embeddedFont>
      <p:font typeface="Hammersmith One" panose="02010703030501060504" pitchFamily="2" charset="0"/>
      <p:regular r:id="rId34"/>
    </p:embeddedFont>
    <p:embeddedFont>
      <p:font typeface="Proxima Nova Light" panose="020B0604020202020204" charset="0"/>
      <p:regular r:id="rId35"/>
    </p:embeddedFont>
    <p:embeddedFont>
      <p:font typeface="Telegraf Medium" panose="020B0604020202020204" charset="0"/>
      <p:regular r:id="rId36"/>
    </p:embeddedFont>
    <p:embeddedFont>
      <p:font typeface="Trebuchet MS" panose="020B0603020202020204" pitchFamily="3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93"/>
    <a:srgbClr val="222F85"/>
    <a:srgbClr val="FFBE00"/>
    <a:srgbClr val="FFC54B"/>
    <a:srgbClr val="FFC000"/>
    <a:srgbClr val="243186"/>
    <a:srgbClr val="FFFFFF"/>
    <a:srgbClr val="F9F9FA"/>
    <a:srgbClr val="FBFBFD"/>
    <a:srgbClr val="FFD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26"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3ACBE3-930F-4603-850E-817ABF0C968E}" type="datetimeFigureOut">
              <a:rPr lang="en-US" smtClean="0"/>
              <a:t>4/14/2026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15BFF5-965C-4BB2-BF6C-89DA196B5A85}" type="slidenum">
              <a:rPr lang="en-US" smtClean="0"/>
              <a:t>‹N°›</a:t>
            </a:fld>
            <a:endParaRPr lang="en-US"/>
          </a:p>
        </p:txBody>
      </p:sp>
    </p:spTree>
    <p:extLst>
      <p:ext uri="{BB962C8B-B14F-4D97-AF65-F5344CB8AC3E}">
        <p14:creationId xmlns:p14="http://schemas.microsoft.com/office/powerpoint/2010/main" val="226105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1F15BFF5-965C-4BB2-BF6C-89DA196B5A85}" type="slidenum">
              <a:rPr lang="en-US" smtClean="0"/>
              <a:t>1</a:t>
            </a:fld>
            <a:endParaRPr lang="en-US"/>
          </a:p>
        </p:txBody>
      </p:sp>
    </p:spTree>
    <p:extLst>
      <p:ext uri="{BB962C8B-B14F-4D97-AF65-F5344CB8AC3E}">
        <p14:creationId xmlns:p14="http://schemas.microsoft.com/office/powerpoint/2010/main" val="4056482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F15BFF5-965C-4BB2-BF6C-89DA196B5A85}" type="slidenum">
              <a:rPr lang="en-US" smtClean="0"/>
              <a:t>2</a:t>
            </a:fld>
            <a:endParaRPr lang="en-US"/>
          </a:p>
        </p:txBody>
      </p:sp>
    </p:spTree>
    <p:extLst>
      <p:ext uri="{BB962C8B-B14F-4D97-AF65-F5344CB8AC3E}">
        <p14:creationId xmlns:p14="http://schemas.microsoft.com/office/powerpoint/2010/main" val="268043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012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sv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8.sv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0.jpeg"/></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8.sv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30.jpeg"/><Relationship Id="rId1" Type="http://schemas.openxmlformats.org/officeDocument/2006/relationships/slideLayout" Target="../slideLayouts/slideLayout7.xml"/><Relationship Id="rId6" Type="http://schemas.openxmlformats.org/officeDocument/2006/relationships/image" Target="../media/image1.svg"/><Relationship Id="rId5" Type="http://schemas.openxmlformats.org/officeDocument/2006/relationships/image" Target="../media/image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3.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3.sv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3.svg"/><Relationship Id="rId1" Type="http://schemas.openxmlformats.org/officeDocument/2006/relationships/slideLayout" Target="../slideLayouts/slideLayout7.xml"/><Relationship Id="rId5" Type="http://schemas.openxmlformats.org/officeDocument/2006/relationships/image" Target="../media/image38.jpe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9.jpe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3.sv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8930781" y="1962901"/>
            <a:ext cx="12724315" cy="6361198"/>
            <a:chOff x="0" y="0"/>
            <a:chExt cx="16965753" cy="8481598"/>
          </a:xfrm>
        </p:grpSpPr>
        <p:sp>
          <p:nvSpPr>
            <p:cNvPr id="3" name="Freeform 3"/>
            <p:cNvSpPr/>
            <p:nvPr/>
          </p:nvSpPr>
          <p:spPr>
            <a:xfrm rot="-5400000">
              <a:off x="8480553"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4" name="Freeform 4"/>
            <p:cNvSpPr/>
            <p:nvPr/>
          </p:nvSpPr>
          <p:spPr>
            <a:xfrm rot="-5400000">
              <a:off x="3602"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grpSp>
      <p:grpSp>
        <p:nvGrpSpPr>
          <p:cNvPr id="8" name="Group 8"/>
          <p:cNvGrpSpPr/>
          <p:nvPr/>
        </p:nvGrpSpPr>
        <p:grpSpPr>
          <a:xfrm>
            <a:off x="652261" y="2951611"/>
            <a:ext cx="16182942" cy="3225178"/>
            <a:chOff x="-3995" y="-169100"/>
            <a:chExt cx="12936901" cy="4300237"/>
          </a:xfrm>
        </p:grpSpPr>
        <p:sp>
          <p:nvSpPr>
            <p:cNvPr id="9" name="TextBox 9"/>
            <p:cNvSpPr txBox="1"/>
            <p:nvPr/>
          </p:nvSpPr>
          <p:spPr>
            <a:xfrm>
              <a:off x="-3995" y="-169100"/>
              <a:ext cx="12936901" cy="4300237"/>
            </a:xfrm>
            <a:prstGeom prst="rect">
              <a:avLst/>
            </a:prstGeom>
          </p:spPr>
          <p:txBody>
            <a:bodyPr lIns="0" tIns="0" rIns="0" bIns="0" rtlCol="0" anchor="t">
              <a:spAutoFit/>
            </a:bodyPr>
            <a:lstStyle/>
            <a:p>
              <a:pPr algn="l">
                <a:lnSpc>
                  <a:spcPts val="12419"/>
                </a:lnSpc>
              </a:pPr>
              <a:r>
                <a:rPr lang="en-US" sz="11499" spc="-114" dirty="0">
                  <a:solidFill>
                    <a:srgbClr val="000000"/>
                  </a:solidFill>
                  <a:latin typeface="Hammersmith One"/>
                  <a:ea typeface="Hammersmith One"/>
                  <a:cs typeface="Hammersmith One"/>
                  <a:sym typeface="Hammersmith One"/>
                </a:rPr>
                <a:t>Project Kickoff meeting</a:t>
              </a:r>
            </a:p>
          </p:txBody>
        </p:sp>
        <p:sp>
          <p:nvSpPr>
            <p:cNvPr id="10" name="Freeform 10"/>
            <p:cNvSpPr/>
            <p:nvPr/>
          </p:nvSpPr>
          <p:spPr>
            <a:xfrm>
              <a:off x="82694" y="2228667"/>
              <a:ext cx="9191696" cy="679299"/>
            </a:xfrm>
            <a:custGeom>
              <a:avLst/>
              <a:gdLst/>
              <a:ahLst/>
              <a:cxnLst/>
              <a:rect l="l" t="t" r="r" b="b"/>
              <a:pathLst>
                <a:path w="9191696" h="679299">
                  <a:moveTo>
                    <a:pt x="0" y="0"/>
                  </a:moveTo>
                  <a:lnTo>
                    <a:pt x="9191696" y="0"/>
                  </a:lnTo>
                  <a:lnTo>
                    <a:pt x="9191696" y="679299"/>
                  </a:lnTo>
                  <a:lnTo>
                    <a:pt x="0" y="679299"/>
                  </a:lnTo>
                  <a:lnTo>
                    <a:pt x="0" y="0"/>
                  </a:lnTo>
                  <a:close/>
                </a:path>
              </a:pathLst>
            </a:custGeom>
            <a:blipFill>
              <a:blip>
                <a:extLst>
                  <a:ext uri="{96DAC541-7B7A-43D3-8B79-37D633B846F1}">
                    <asvg:svgBlip xmlns:asvg="http://schemas.microsoft.com/office/drawing/2016/SVG/main" r:embed="rId4"/>
                  </a:ext>
                </a:extLst>
              </a:blip>
              <a:stretch>
                <a:fillRect l="-171" t="-308623" r="-7088" b="-1042730"/>
              </a:stretch>
            </a:blipFill>
          </p:spPr>
          <p:txBody>
            <a:bodyPr/>
            <a:lstStyle/>
            <a:p>
              <a:endParaRPr lang="en-US"/>
            </a:p>
          </p:txBody>
        </p:sp>
      </p:grpSp>
      <p:sp>
        <p:nvSpPr>
          <p:cNvPr id="11" name="Freeform 11"/>
          <p:cNvSpPr/>
          <p:nvPr/>
        </p:nvSpPr>
        <p:spPr>
          <a:xfrm>
            <a:off x="12860423" y="161781"/>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5"/>
            <a:stretch>
              <a:fillRect/>
            </a:stretch>
          </a:blipFill>
        </p:spPr>
        <p:txBody>
          <a:bodyPr/>
          <a:lstStyle/>
          <a:p>
            <a:endParaRPr lang="en-US"/>
          </a:p>
        </p:txBody>
      </p:sp>
      <p:sp>
        <p:nvSpPr>
          <p:cNvPr id="13" name="Freeform 13"/>
          <p:cNvSpPr/>
          <p:nvPr/>
        </p:nvSpPr>
        <p:spPr>
          <a:xfrm>
            <a:off x="15292939" y="9203216"/>
            <a:ext cx="2858690" cy="1041128"/>
          </a:xfrm>
          <a:custGeom>
            <a:avLst/>
            <a:gdLst/>
            <a:ahLst/>
            <a:cxnLst/>
            <a:rect l="l" t="t" r="r" b="b"/>
            <a:pathLst>
              <a:path w="2858690" h="1041128">
                <a:moveTo>
                  <a:pt x="0" y="0"/>
                </a:moveTo>
                <a:lnTo>
                  <a:pt x="2858690" y="0"/>
                </a:lnTo>
                <a:lnTo>
                  <a:pt x="2858690" y="1041128"/>
                </a:lnTo>
                <a:lnTo>
                  <a:pt x="0" y="1041128"/>
                </a:lnTo>
                <a:lnTo>
                  <a:pt x="0" y="0"/>
                </a:lnTo>
                <a:close/>
              </a:path>
            </a:pathLst>
          </a:custGeom>
          <a:blipFill>
            <a:blip r:embed="rId6"/>
            <a:stretch>
              <a:fillRect/>
            </a:stretch>
          </a:blipFill>
        </p:spPr>
        <p:txBody>
          <a:bodyPr/>
          <a:lstStyle/>
          <a:p>
            <a:endParaRPr lang="en-US"/>
          </a:p>
        </p:txBody>
      </p:sp>
      <p:sp>
        <p:nvSpPr>
          <p:cNvPr id="14" name="Freeform 14"/>
          <p:cNvSpPr/>
          <p:nvPr/>
        </p:nvSpPr>
        <p:spPr>
          <a:xfrm>
            <a:off x="1559164" y="0"/>
            <a:ext cx="11301259" cy="1115999"/>
          </a:xfrm>
          <a:custGeom>
            <a:avLst/>
            <a:gdLst/>
            <a:ahLst/>
            <a:cxnLst/>
            <a:rect l="l" t="t" r="r" b="b"/>
            <a:pathLst>
              <a:path w="11301259" h="1115999">
                <a:moveTo>
                  <a:pt x="0" y="0"/>
                </a:moveTo>
                <a:lnTo>
                  <a:pt x="11301259" y="0"/>
                </a:lnTo>
                <a:lnTo>
                  <a:pt x="11301259" y="1115999"/>
                </a:lnTo>
                <a:lnTo>
                  <a:pt x="0" y="1115999"/>
                </a:lnTo>
                <a:lnTo>
                  <a:pt x="0" y="0"/>
                </a:lnTo>
                <a:close/>
              </a:path>
            </a:pathLst>
          </a:custGeom>
          <a:blipFill>
            <a:blip r:embed="rId7"/>
            <a:stretch>
              <a:fillRect/>
            </a:stretch>
          </a:blipFill>
        </p:spPr>
        <p:txBody>
          <a:bodyPr/>
          <a:lstStyle/>
          <a:p>
            <a:endParaRPr lang="en-US"/>
          </a:p>
        </p:txBody>
      </p:sp>
      <p:sp>
        <p:nvSpPr>
          <p:cNvPr id="15" name="TextBox 15"/>
          <p:cNvSpPr txBox="1"/>
          <p:nvPr/>
        </p:nvSpPr>
        <p:spPr>
          <a:xfrm>
            <a:off x="754455" y="7512432"/>
            <a:ext cx="4479896" cy="542925"/>
          </a:xfrm>
          <a:prstGeom prst="rect">
            <a:avLst/>
          </a:prstGeom>
          <a:solidFill>
            <a:srgbClr val="FFE393"/>
          </a:solidFill>
        </p:spPr>
        <p:txBody>
          <a:bodyPr lIns="0" tIns="0" rIns="0" bIns="0" rtlCol="0" anchor="t">
            <a:spAutoFit/>
          </a:bodyPr>
          <a:lstStyle/>
          <a:p>
            <a:pPr algn="l">
              <a:lnSpc>
                <a:spcPts val="4200"/>
              </a:lnSpc>
              <a:spcBef>
                <a:spcPct val="0"/>
              </a:spcBef>
            </a:pPr>
            <a:r>
              <a:rPr lang="en-US" sz="3500" b="1" dirty="0">
                <a:solidFill>
                  <a:srgbClr val="000000"/>
                </a:solidFill>
                <a:latin typeface="Clear Sans Medium"/>
                <a:ea typeface="Clear Sans Medium"/>
                <a:cs typeface="Clear Sans Medium"/>
                <a:sym typeface="Clear Sans Medium"/>
              </a:rPr>
              <a:t>28 Avril 2026</a:t>
            </a:r>
          </a:p>
        </p:txBody>
      </p:sp>
      <p:sp>
        <p:nvSpPr>
          <p:cNvPr id="16" name="TextBox 16"/>
          <p:cNvSpPr txBox="1"/>
          <p:nvPr/>
        </p:nvSpPr>
        <p:spPr>
          <a:xfrm>
            <a:off x="760702" y="5853024"/>
            <a:ext cx="15469898" cy="1036438"/>
          </a:xfrm>
          <a:prstGeom prst="rect">
            <a:avLst/>
          </a:prstGeom>
        </p:spPr>
        <p:txBody>
          <a:bodyPr wrap="square" lIns="0" tIns="0" rIns="0" bIns="0" rtlCol="0" anchor="t">
            <a:spAutoFit/>
          </a:bodyPr>
          <a:lstStyle/>
          <a:p>
            <a:pPr algn="l">
              <a:lnSpc>
                <a:spcPts val="4200"/>
              </a:lnSpc>
              <a:spcBef>
                <a:spcPct val="0"/>
              </a:spcBef>
            </a:pPr>
            <a:r>
              <a:rPr lang="en-US" sz="3000" b="1" dirty="0">
                <a:solidFill>
                  <a:srgbClr val="000000"/>
                </a:solidFill>
                <a:latin typeface="Clear Sans Bold"/>
                <a:ea typeface="Clear Sans Bold"/>
                <a:cs typeface="Clear Sans Bold"/>
                <a:sym typeface="Clear Sans Bold"/>
              </a:rPr>
              <a:t>Développement </a:t>
            </a:r>
            <a:r>
              <a:rPr lang="en-US" sz="3000" b="1" dirty="0" err="1">
                <a:solidFill>
                  <a:srgbClr val="000000"/>
                </a:solidFill>
                <a:latin typeface="Clear Sans Bold"/>
                <a:ea typeface="Clear Sans Bold"/>
                <a:cs typeface="Clear Sans Bold"/>
                <a:sym typeface="Clear Sans Bold"/>
              </a:rPr>
              <a:t>D’une</a:t>
            </a:r>
            <a:r>
              <a:rPr lang="en-US" sz="3000" b="1" dirty="0">
                <a:solidFill>
                  <a:srgbClr val="000000"/>
                </a:solidFill>
                <a:latin typeface="Clear Sans Bold"/>
                <a:ea typeface="Clear Sans Bold"/>
                <a:cs typeface="Clear Sans Bold"/>
                <a:sym typeface="Clear Sans Bold"/>
              </a:rPr>
              <a:t> Chambre </a:t>
            </a:r>
            <a:r>
              <a:rPr lang="en-US" sz="3000" b="1" dirty="0" err="1">
                <a:solidFill>
                  <a:srgbClr val="000000"/>
                </a:solidFill>
                <a:latin typeface="Clear Sans Bold"/>
                <a:ea typeface="Clear Sans Bold"/>
                <a:cs typeface="Clear Sans Bold"/>
                <a:sym typeface="Clear Sans Bold"/>
              </a:rPr>
              <a:t>Froide</a:t>
            </a:r>
            <a:r>
              <a:rPr lang="en-US" sz="3000" b="1" dirty="0">
                <a:solidFill>
                  <a:srgbClr val="000000"/>
                </a:solidFill>
                <a:latin typeface="Clear Sans Bold"/>
                <a:ea typeface="Clear Sans Bold"/>
                <a:cs typeface="Clear Sans Bold"/>
                <a:sym typeface="Clear Sans Bold"/>
              </a:rPr>
              <a:t> </a:t>
            </a:r>
            <a:r>
              <a:rPr lang="en-US" sz="3000" b="1" dirty="0" err="1">
                <a:solidFill>
                  <a:srgbClr val="000000"/>
                </a:solidFill>
                <a:latin typeface="Clear Sans Bold"/>
                <a:ea typeface="Clear Sans Bold"/>
                <a:cs typeface="Clear Sans Bold"/>
                <a:sym typeface="Clear Sans Bold"/>
              </a:rPr>
              <a:t>Intelligente</a:t>
            </a:r>
            <a:r>
              <a:rPr lang="en-US" sz="3000" b="1" dirty="0">
                <a:solidFill>
                  <a:srgbClr val="000000"/>
                </a:solidFill>
                <a:latin typeface="Clear Sans Bold"/>
                <a:ea typeface="Clear Sans Bold"/>
                <a:cs typeface="Clear Sans Bold"/>
                <a:sym typeface="Clear Sans Bold"/>
              </a:rPr>
              <a:t>, Durable Et </a:t>
            </a:r>
            <a:r>
              <a:rPr lang="en-US" sz="3000" b="1" dirty="0" err="1">
                <a:solidFill>
                  <a:srgbClr val="000000"/>
                </a:solidFill>
                <a:latin typeface="Clear Sans Bold"/>
                <a:ea typeface="Clear Sans Bold"/>
                <a:cs typeface="Clear Sans Bold"/>
                <a:sym typeface="Clear Sans Bold"/>
              </a:rPr>
              <a:t>Autonome</a:t>
            </a:r>
            <a:r>
              <a:rPr lang="en-US" sz="3000" b="1" dirty="0">
                <a:solidFill>
                  <a:srgbClr val="000000"/>
                </a:solidFill>
                <a:latin typeface="Clear Sans Bold"/>
                <a:ea typeface="Clear Sans Bold"/>
                <a:cs typeface="Clear Sans Bold"/>
                <a:sym typeface="Clear Sans Bold"/>
              </a:rPr>
              <a:t> </a:t>
            </a:r>
            <a:r>
              <a:rPr lang="en-US" sz="3000" b="1" dirty="0" err="1">
                <a:solidFill>
                  <a:srgbClr val="000000"/>
                </a:solidFill>
                <a:latin typeface="Clear Sans Bold"/>
                <a:ea typeface="Clear Sans Bold"/>
                <a:cs typeface="Clear Sans Bold"/>
                <a:sym typeface="Clear Sans Bold"/>
              </a:rPr>
              <a:t>Alimentée</a:t>
            </a:r>
            <a:r>
              <a:rPr lang="en-US" sz="3000" b="1" dirty="0">
                <a:solidFill>
                  <a:srgbClr val="000000"/>
                </a:solidFill>
                <a:latin typeface="Clear Sans Bold"/>
                <a:ea typeface="Clear Sans Bold"/>
                <a:cs typeface="Clear Sans Bold"/>
                <a:sym typeface="Clear Sans Bold"/>
              </a:rPr>
              <a:t> Par </a:t>
            </a:r>
            <a:r>
              <a:rPr lang="en-US" sz="3000" b="1" dirty="0" err="1">
                <a:solidFill>
                  <a:srgbClr val="000000"/>
                </a:solidFill>
                <a:latin typeface="Clear Sans Bold"/>
                <a:ea typeface="Clear Sans Bold"/>
                <a:cs typeface="Clear Sans Bold"/>
                <a:sym typeface="Clear Sans Bold"/>
              </a:rPr>
              <a:t>Panneaux</a:t>
            </a:r>
            <a:r>
              <a:rPr lang="en-US" sz="3000" b="1" dirty="0">
                <a:solidFill>
                  <a:srgbClr val="000000"/>
                </a:solidFill>
                <a:latin typeface="Clear Sans Bold"/>
                <a:ea typeface="Clear Sans Bold"/>
                <a:cs typeface="Clear Sans Bold"/>
                <a:sym typeface="Clear Sans Bold"/>
              </a:rPr>
              <a:t> </a:t>
            </a:r>
            <a:r>
              <a:rPr lang="en-US" sz="3000" b="1" dirty="0" err="1">
                <a:solidFill>
                  <a:srgbClr val="000000"/>
                </a:solidFill>
                <a:latin typeface="Clear Sans Bold"/>
                <a:ea typeface="Clear Sans Bold"/>
                <a:cs typeface="Clear Sans Bold"/>
                <a:sym typeface="Clear Sans Bold"/>
              </a:rPr>
              <a:t>Photovoltaïques</a:t>
            </a:r>
            <a:r>
              <a:rPr lang="en-US" sz="3000" b="1" dirty="0">
                <a:solidFill>
                  <a:srgbClr val="000000"/>
                </a:solidFill>
                <a:latin typeface="Clear Sans Bold"/>
                <a:ea typeface="Clear Sans Bold"/>
                <a:cs typeface="Clear Sans Bold"/>
                <a:sym typeface="Clear Sans Bold"/>
              </a:rPr>
              <a:t>  (</a:t>
            </a:r>
            <a:r>
              <a:rPr lang="en-US" sz="3000" b="1" dirty="0" err="1">
                <a:solidFill>
                  <a:srgbClr val="000000"/>
                </a:solidFill>
                <a:latin typeface="Clear Sans Bold"/>
                <a:ea typeface="Clear Sans Bold"/>
                <a:cs typeface="Clear Sans Bold"/>
                <a:sym typeface="Clear Sans Bold"/>
              </a:rPr>
              <a:t>T3P3</a:t>
            </a:r>
            <a:r>
              <a:rPr lang="en-US" sz="3000" b="1" dirty="0">
                <a:solidFill>
                  <a:srgbClr val="000000"/>
                </a:solidFill>
                <a:latin typeface="Clear Sans Bold"/>
                <a:ea typeface="Clear Sans Bold"/>
                <a:cs typeface="Clear Sans Bold"/>
                <a:sym typeface="Clear Sans Bold"/>
              </a:rPr>
              <a:t>)</a:t>
            </a:r>
          </a:p>
        </p:txBody>
      </p:sp>
      <p:sp>
        <p:nvSpPr>
          <p:cNvPr id="5" name="Freeform 32">
            <a:extLst>
              <a:ext uri="{FF2B5EF4-FFF2-40B4-BE49-F238E27FC236}">
                <a16:creationId xmlns:a16="http://schemas.microsoft.com/office/drawing/2014/main" id="{4EFC148A-DBEC-FCE8-0389-47390D8C2A76}"/>
              </a:ext>
            </a:extLst>
          </p:cNvPr>
          <p:cNvSpPr/>
          <p:nvPr/>
        </p:nvSpPr>
        <p:spPr>
          <a:xfrm>
            <a:off x="5028263" y="9001332"/>
            <a:ext cx="1064664" cy="1083784"/>
          </a:xfrm>
          <a:custGeom>
            <a:avLst/>
            <a:gdLst/>
            <a:ahLst/>
            <a:cxnLst/>
            <a:rect l="l" t="t" r="r" b="b"/>
            <a:pathLst>
              <a:path w="1664905" h="1664905">
                <a:moveTo>
                  <a:pt x="0" y="0"/>
                </a:moveTo>
                <a:lnTo>
                  <a:pt x="1664905" y="0"/>
                </a:lnTo>
                <a:lnTo>
                  <a:pt x="1664905" y="1664905"/>
                </a:lnTo>
                <a:lnTo>
                  <a:pt x="0" y="1664905"/>
                </a:lnTo>
                <a:lnTo>
                  <a:pt x="0" y="0"/>
                </a:lnTo>
                <a:close/>
              </a:path>
            </a:pathLst>
          </a:custGeom>
          <a:blipFill>
            <a:blip r:embed="rId8"/>
            <a:stretch>
              <a:fillRect/>
            </a:stretch>
          </a:blipFill>
        </p:spPr>
        <p:txBody>
          <a:bodyPr/>
          <a:lstStyle/>
          <a:p>
            <a:endParaRPr lang="en-US"/>
          </a:p>
        </p:txBody>
      </p:sp>
      <p:sp>
        <p:nvSpPr>
          <p:cNvPr id="6" name="Freeform 36">
            <a:extLst>
              <a:ext uri="{FF2B5EF4-FFF2-40B4-BE49-F238E27FC236}">
                <a16:creationId xmlns:a16="http://schemas.microsoft.com/office/drawing/2014/main" id="{8DBC1CF6-F23B-0B4F-7BC6-1579C0FE269A}"/>
              </a:ext>
            </a:extLst>
          </p:cNvPr>
          <p:cNvSpPr/>
          <p:nvPr/>
        </p:nvSpPr>
        <p:spPr>
          <a:xfrm>
            <a:off x="6645601" y="9011334"/>
            <a:ext cx="1064664" cy="1083784"/>
          </a:xfrm>
          <a:custGeom>
            <a:avLst/>
            <a:gdLst/>
            <a:ahLst/>
            <a:cxnLst/>
            <a:rect l="l" t="t" r="r" b="b"/>
            <a:pathLst>
              <a:path w="1699567" h="1688742">
                <a:moveTo>
                  <a:pt x="0" y="0"/>
                </a:moveTo>
                <a:lnTo>
                  <a:pt x="1699567" y="0"/>
                </a:lnTo>
                <a:lnTo>
                  <a:pt x="1699567" y="1688742"/>
                </a:lnTo>
                <a:lnTo>
                  <a:pt x="0" y="1688742"/>
                </a:lnTo>
                <a:lnTo>
                  <a:pt x="0" y="0"/>
                </a:lnTo>
                <a:close/>
              </a:path>
            </a:pathLst>
          </a:custGeom>
          <a:blipFill>
            <a:blip r:embed="rId9"/>
            <a:stretch>
              <a:fillRect/>
            </a:stretch>
          </a:blipFill>
        </p:spPr>
        <p:txBody>
          <a:bodyPr/>
          <a:lstStyle/>
          <a:p>
            <a:endParaRPr lang="en-US"/>
          </a:p>
        </p:txBody>
      </p:sp>
      <p:grpSp>
        <p:nvGrpSpPr>
          <p:cNvPr id="7" name="Group 12">
            <a:extLst>
              <a:ext uri="{FF2B5EF4-FFF2-40B4-BE49-F238E27FC236}">
                <a16:creationId xmlns:a16="http://schemas.microsoft.com/office/drawing/2014/main" id="{C6B6C053-82E0-CAE7-680C-9E20A935E1C0}"/>
              </a:ext>
            </a:extLst>
          </p:cNvPr>
          <p:cNvGrpSpPr/>
          <p:nvPr/>
        </p:nvGrpSpPr>
        <p:grpSpPr>
          <a:xfrm>
            <a:off x="8324149" y="9156128"/>
            <a:ext cx="1192856" cy="852463"/>
            <a:chOff x="0" y="0"/>
            <a:chExt cx="1421924" cy="774942"/>
          </a:xfrm>
        </p:grpSpPr>
        <p:sp>
          <p:nvSpPr>
            <p:cNvPr id="12" name="Freeform 13">
              <a:extLst>
                <a:ext uri="{FF2B5EF4-FFF2-40B4-BE49-F238E27FC236}">
                  <a16:creationId xmlns:a16="http://schemas.microsoft.com/office/drawing/2014/main" id="{8EAA0011-4AD7-E3B8-8EEA-FF719A659CC8}"/>
                </a:ext>
              </a:extLst>
            </p:cNvPr>
            <p:cNvSpPr/>
            <p:nvPr/>
          </p:nvSpPr>
          <p:spPr>
            <a:xfrm>
              <a:off x="0" y="0"/>
              <a:ext cx="1421924" cy="774942"/>
            </a:xfrm>
            <a:custGeom>
              <a:avLst/>
              <a:gdLst/>
              <a:ahLst/>
              <a:cxnLst/>
              <a:rect l="l" t="t" r="r" b="b"/>
              <a:pathLst>
                <a:path w="1421924" h="774942">
                  <a:moveTo>
                    <a:pt x="68101" y="0"/>
                  </a:moveTo>
                  <a:lnTo>
                    <a:pt x="1353823" y="0"/>
                  </a:lnTo>
                  <a:cubicBezTo>
                    <a:pt x="1371885" y="0"/>
                    <a:pt x="1389207" y="7175"/>
                    <a:pt x="1401978" y="19946"/>
                  </a:cubicBezTo>
                  <a:cubicBezTo>
                    <a:pt x="1414749" y="32718"/>
                    <a:pt x="1421924" y="50040"/>
                    <a:pt x="1421924" y="68101"/>
                  </a:cubicBezTo>
                  <a:lnTo>
                    <a:pt x="1421924" y="706841"/>
                  </a:lnTo>
                  <a:cubicBezTo>
                    <a:pt x="1421924" y="724902"/>
                    <a:pt x="1414749" y="742224"/>
                    <a:pt x="1401978" y="754996"/>
                  </a:cubicBezTo>
                  <a:cubicBezTo>
                    <a:pt x="1389207" y="767767"/>
                    <a:pt x="1371885" y="774942"/>
                    <a:pt x="1353823" y="774942"/>
                  </a:cubicBezTo>
                  <a:lnTo>
                    <a:pt x="68101" y="774942"/>
                  </a:lnTo>
                  <a:cubicBezTo>
                    <a:pt x="50040" y="774942"/>
                    <a:pt x="32718" y="767767"/>
                    <a:pt x="19946" y="754996"/>
                  </a:cubicBezTo>
                  <a:cubicBezTo>
                    <a:pt x="7175" y="742224"/>
                    <a:pt x="0" y="724902"/>
                    <a:pt x="0" y="706841"/>
                  </a:cubicBezTo>
                  <a:lnTo>
                    <a:pt x="0" y="68101"/>
                  </a:lnTo>
                  <a:cubicBezTo>
                    <a:pt x="0" y="50040"/>
                    <a:pt x="7175" y="32718"/>
                    <a:pt x="19946" y="19946"/>
                  </a:cubicBezTo>
                  <a:cubicBezTo>
                    <a:pt x="32718" y="7175"/>
                    <a:pt x="50040" y="0"/>
                    <a:pt x="68101" y="0"/>
                  </a:cubicBezTo>
                  <a:close/>
                </a:path>
              </a:pathLst>
            </a:custGeom>
            <a:blipFill>
              <a:blip r:embed="rId10"/>
              <a:stretch>
                <a:fillRect l="-2362" r="-2362"/>
              </a:stretch>
            </a:blipFill>
          </p:spPr>
          <p:txBody>
            <a:bodyPr/>
            <a:lstStyle/>
            <a:p>
              <a:endParaRPr lang="en-US"/>
            </a:p>
          </p:txBody>
        </p:sp>
      </p:grpSp>
      <p:grpSp>
        <p:nvGrpSpPr>
          <p:cNvPr id="17" name="Group 25">
            <a:extLst>
              <a:ext uri="{FF2B5EF4-FFF2-40B4-BE49-F238E27FC236}">
                <a16:creationId xmlns:a16="http://schemas.microsoft.com/office/drawing/2014/main" id="{F14A8999-6AED-8C61-61E0-1A0E004BDFFA}"/>
              </a:ext>
            </a:extLst>
          </p:cNvPr>
          <p:cNvGrpSpPr/>
          <p:nvPr/>
        </p:nvGrpSpPr>
        <p:grpSpPr>
          <a:xfrm>
            <a:off x="10097022" y="9090875"/>
            <a:ext cx="1064664" cy="944449"/>
            <a:chOff x="0" y="0"/>
            <a:chExt cx="1018773" cy="720238"/>
          </a:xfrm>
        </p:grpSpPr>
        <p:sp>
          <p:nvSpPr>
            <p:cNvPr id="18" name="Freeform 26">
              <a:extLst>
                <a:ext uri="{FF2B5EF4-FFF2-40B4-BE49-F238E27FC236}">
                  <a16:creationId xmlns:a16="http://schemas.microsoft.com/office/drawing/2014/main" id="{6CE654BF-8076-D8B9-3694-ECD20C075176}"/>
                </a:ext>
              </a:extLst>
            </p:cNvPr>
            <p:cNvSpPr/>
            <p:nvPr/>
          </p:nvSpPr>
          <p:spPr>
            <a:xfrm>
              <a:off x="0" y="0"/>
              <a:ext cx="1018773" cy="720238"/>
            </a:xfrm>
            <a:custGeom>
              <a:avLst/>
              <a:gdLst/>
              <a:ahLst/>
              <a:cxnLst/>
              <a:rect l="l" t="t" r="r" b="b"/>
              <a:pathLst>
                <a:path w="1018773" h="720238">
                  <a:moveTo>
                    <a:pt x="88341" y="0"/>
                  </a:moveTo>
                  <a:lnTo>
                    <a:pt x="930433" y="0"/>
                  </a:lnTo>
                  <a:cubicBezTo>
                    <a:pt x="979222" y="0"/>
                    <a:pt x="1018773" y="39551"/>
                    <a:pt x="1018773" y="88341"/>
                  </a:cubicBezTo>
                  <a:lnTo>
                    <a:pt x="1018773" y="631897"/>
                  </a:lnTo>
                  <a:cubicBezTo>
                    <a:pt x="1018773" y="680686"/>
                    <a:pt x="979222" y="720238"/>
                    <a:pt x="930433" y="720238"/>
                  </a:cubicBezTo>
                  <a:lnTo>
                    <a:pt x="88341" y="720238"/>
                  </a:lnTo>
                  <a:cubicBezTo>
                    <a:pt x="39551" y="720238"/>
                    <a:pt x="0" y="680686"/>
                    <a:pt x="0" y="631897"/>
                  </a:cubicBezTo>
                  <a:lnTo>
                    <a:pt x="0" y="88341"/>
                  </a:lnTo>
                  <a:cubicBezTo>
                    <a:pt x="0" y="39551"/>
                    <a:pt x="39551" y="0"/>
                    <a:pt x="88341" y="0"/>
                  </a:cubicBezTo>
                  <a:close/>
                </a:path>
              </a:pathLst>
            </a:custGeom>
            <a:blipFill>
              <a:blip r:embed="rId11"/>
              <a:stretch>
                <a:fillRect l="-1350" r="-1350"/>
              </a:stretch>
            </a:blipFill>
          </p:spPr>
          <p:txBody>
            <a:bodyPr/>
            <a:lstStyle/>
            <a:p>
              <a:endParaRPr lang="en-US"/>
            </a:p>
          </p:txBody>
        </p:sp>
      </p:grpSp>
      <p:grpSp>
        <p:nvGrpSpPr>
          <p:cNvPr id="19" name="Group 27">
            <a:extLst>
              <a:ext uri="{FF2B5EF4-FFF2-40B4-BE49-F238E27FC236}">
                <a16:creationId xmlns:a16="http://schemas.microsoft.com/office/drawing/2014/main" id="{0793E4A1-A175-28F1-1656-2595A1060D94}"/>
              </a:ext>
            </a:extLst>
          </p:cNvPr>
          <p:cNvGrpSpPr/>
          <p:nvPr/>
        </p:nvGrpSpPr>
        <p:grpSpPr>
          <a:xfrm>
            <a:off x="11843519" y="9145325"/>
            <a:ext cx="1121151" cy="1041128"/>
            <a:chOff x="0" y="0"/>
            <a:chExt cx="1389365" cy="774942"/>
          </a:xfrm>
        </p:grpSpPr>
        <p:sp>
          <p:nvSpPr>
            <p:cNvPr id="20" name="Freeform 28">
              <a:extLst>
                <a:ext uri="{FF2B5EF4-FFF2-40B4-BE49-F238E27FC236}">
                  <a16:creationId xmlns:a16="http://schemas.microsoft.com/office/drawing/2014/main" id="{4116F289-2084-FFCF-3D2D-DC87F2033C29}"/>
                </a:ext>
              </a:extLst>
            </p:cNvPr>
            <p:cNvSpPr/>
            <p:nvPr/>
          </p:nvSpPr>
          <p:spPr>
            <a:xfrm>
              <a:off x="0" y="0"/>
              <a:ext cx="1389365" cy="774942"/>
            </a:xfrm>
            <a:custGeom>
              <a:avLst/>
              <a:gdLst/>
              <a:ahLst/>
              <a:cxnLst/>
              <a:rect l="l" t="t" r="r" b="b"/>
              <a:pathLst>
                <a:path w="1389365" h="774942">
                  <a:moveTo>
                    <a:pt x="71688" y="0"/>
                  </a:moveTo>
                  <a:lnTo>
                    <a:pt x="1317677" y="0"/>
                  </a:lnTo>
                  <a:cubicBezTo>
                    <a:pt x="1336690" y="0"/>
                    <a:pt x="1354924" y="7553"/>
                    <a:pt x="1368368" y="20997"/>
                  </a:cubicBezTo>
                  <a:cubicBezTo>
                    <a:pt x="1381812" y="34441"/>
                    <a:pt x="1389365" y="52675"/>
                    <a:pt x="1389365" y="71688"/>
                  </a:cubicBezTo>
                  <a:lnTo>
                    <a:pt x="1389365" y="703254"/>
                  </a:lnTo>
                  <a:cubicBezTo>
                    <a:pt x="1389365" y="742846"/>
                    <a:pt x="1357269" y="774942"/>
                    <a:pt x="1317677" y="774942"/>
                  </a:cubicBezTo>
                  <a:lnTo>
                    <a:pt x="71688" y="774942"/>
                  </a:lnTo>
                  <a:cubicBezTo>
                    <a:pt x="32096" y="774942"/>
                    <a:pt x="0" y="742846"/>
                    <a:pt x="0" y="703254"/>
                  </a:cubicBezTo>
                  <a:lnTo>
                    <a:pt x="0" y="71688"/>
                  </a:lnTo>
                  <a:cubicBezTo>
                    <a:pt x="0" y="32096"/>
                    <a:pt x="32096" y="0"/>
                    <a:pt x="71688" y="0"/>
                  </a:cubicBezTo>
                  <a:close/>
                </a:path>
              </a:pathLst>
            </a:custGeom>
            <a:blipFill>
              <a:blip r:embed="rId12"/>
              <a:stretch>
                <a:fillRect t="-2240" b="-2240"/>
              </a:stretch>
            </a:blipFill>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53745" y="5737962"/>
            <a:ext cx="4414893" cy="1036438"/>
            <a:chOff x="0" y="-504801"/>
            <a:chExt cx="5886524" cy="1381917"/>
          </a:xfrm>
        </p:grpSpPr>
        <p:sp>
          <p:nvSpPr>
            <p:cNvPr id="3" name="Freeform 3"/>
            <p:cNvSpPr/>
            <p:nvPr/>
          </p:nvSpPr>
          <p:spPr>
            <a:xfrm rot="5400000">
              <a:off x="226" y="38444"/>
              <a:ext cx="532260" cy="532712"/>
            </a:xfrm>
            <a:custGeom>
              <a:avLst/>
              <a:gdLst/>
              <a:ahLst/>
              <a:cxnLst/>
              <a:rect l="l" t="t" r="r" b="b"/>
              <a:pathLst>
                <a:path w="532260" h="532712">
                  <a:moveTo>
                    <a:pt x="0" y="0"/>
                  </a:moveTo>
                  <a:lnTo>
                    <a:pt x="532260" y="0"/>
                  </a:lnTo>
                  <a:lnTo>
                    <a:pt x="532260" y="532712"/>
                  </a:lnTo>
                  <a:lnTo>
                    <a:pt x="0" y="53271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4" name="TextBox 4"/>
            <p:cNvSpPr txBox="1"/>
            <p:nvPr/>
          </p:nvSpPr>
          <p:spPr>
            <a:xfrm>
              <a:off x="1053411" y="-504801"/>
              <a:ext cx="4833113" cy="1381917"/>
            </a:xfrm>
            <a:prstGeom prst="rect">
              <a:avLst/>
            </a:prstGeom>
          </p:spPr>
          <p:txBody>
            <a:bodyPr lIns="0" tIns="0" rIns="0" bIns="0" rtlCol="0" anchor="t">
              <a:spAutoFit/>
            </a:bodyPr>
            <a:lstStyle/>
            <a:p>
              <a:pPr marL="0" lvl="0" indent="0" algn="l">
                <a:lnSpc>
                  <a:spcPts val="4200"/>
                </a:lnSpc>
                <a:spcBef>
                  <a:spcPct val="0"/>
                </a:spcBef>
              </a:pPr>
              <a:r>
                <a:rPr lang="en-US" sz="3000" dirty="0" err="1">
                  <a:solidFill>
                    <a:srgbClr val="000000"/>
                  </a:solidFill>
                  <a:latin typeface="Clear Sans"/>
                  <a:ea typeface="Clear Sans"/>
                  <a:cs typeface="Clear Sans"/>
                  <a:sym typeface="Clear Sans"/>
                </a:rPr>
                <a:t>Contexte</a:t>
              </a:r>
              <a:r>
                <a:rPr lang="en-US" sz="3000" dirty="0">
                  <a:solidFill>
                    <a:srgbClr val="000000"/>
                  </a:solidFill>
                  <a:latin typeface="Clear Sans"/>
                  <a:ea typeface="Clear Sans"/>
                  <a:cs typeface="Clear Sans"/>
                  <a:sym typeface="Clear Sans"/>
                </a:rPr>
                <a:t> &amp; </a:t>
              </a:r>
              <a:r>
                <a:rPr lang="en-US" sz="3000" dirty="0" err="1">
                  <a:solidFill>
                    <a:srgbClr val="000000"/>
                  </a:solidFill>
                  <a:latin typeface="Clear Sans"/>
                  <a:ea typeface="Clear Sans"/>
                  <a:cs typeface="Clear Sans"/>
                  <a:sym typeface="Clear Sans"/>
                </a:rPr>
                <a:t>Problématique</a:t>
              </a:r>
              <a:endParaRPr lang="en-US" sz="3000" dirty="0">
                <a:solidFill>
                  <a:srgbClr val="000000"/>
                </a:solidFill>
                <a:latin typeface="Clear Sans"/>
                <a:ea typeface="Clear Sans"/>
                <a:cs typeface="Clear Sans"/>
                <a:sym typeface="Clear Sans"/>
              </a:endParaRPr>
            </a:p>
          </p:txBody>
        </p:sp>
      </p:grpSp>
      <p:grpSp>
        <p:nvGrpSpPr>
          <p:cNvPr id="5" name="Group 5"/>
          <p:cNvGrpSpPr/>
          <p:nvPr/>
        </p:nvGrpSpPr>
        <p:grpSpPr>
          <a:xfrm>
            <a:off x="8853745" y="7877197"/>
            <a:ext cx="3888577" cy="457200"/>
            <a:chOff x="0" y="0"/>
            <a:chExt cx="5184770" cy="609600"/>
          </a:xfrm>
        </p:grpSpPr>
        <p:sp>
          <p:nvSpPr>
            <p:cNvPr id="6" name="Freeform 6"/>
            <p:cNvSpPr/>
            <p:nvPr/>
          </p:nvSpPr>
          <p:spPr>
            <a:xfrm rot="5400000">
              <a:off x="226" y="38444"/>
              <a:ext cx="532260" cy="532712"/>
            </a:xfrm>
            <a:custGeom>
              <a:avLst/>
              <a:gdLst/>
              <a:ahLst/>
              <a:cxnLst/>
              <a:rect l="l" t="t" r="r" b="b"/>
              <a:pathLst>
                <a:path w="532260" h="532712">
                  <a:moveTo>
                    <a:pt x="0" y="0"/>
                  </a:moveTo>
                  <a:lnTo>
                    <a:pt x="532260" y="0"/>
                  </a:lnTo>
                  <a:lnTo>
                    <a:pt x="532260" y="532712"/>
                  </a:lnTo>
                  <a:lnTo>
                    <a:pt x="0" y="53271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7" name="TextBox 7"/>
            <p:cNvSpPr txBox="1"/>
            <p:nvPr/>
          </p:nvSpPr>
          <p:spPr>
            <a:xfrm>
              <a:off x="1053412" y="-57150"/>
              <a:ext cx="4131358" cy="666750"/>
            </a:xfrm>
            <a:prstGeom prst="rect">
              <a:avLst/>
            </a:prstGeom>
          </p:spPr>
          <p:txBody>
            <a:bodyPr lIns="0" tIns="0" rIns="0" bIns="0" rtlCol="0" anchor="t">
              <a:spAutoFit/>
            </a:bodyPr>
            <a:lstStyle/>
            <a:p>
              <a:pPr marL="0" lvl="0" indent="0" algn="l">
                <a:lnSpc>
                  <a:spcPts val="4200"/>
                </a:lnSpc>
                <a:spcBef>
                  <a:spcPct val="0"/>
                </a:spcBef>
              </a:pPr>
              <a:r>
                <a:rPr lang="en-US" sz="3000" dirty="0">
                  <a:solidFill>
                    <a:srgbClr val="000000"/>
                  </a:solidFill>
                  <a:latin typeface="Clear Sans"/>
                  <a:ea typeface="Clear Sans"/>
                  <a:cs typeface="Clear Sans"/>
                  <a:sym typeface="Clear Sans"/>
                </a:rPr>
                <a:t>Equipe</a:t>
              </a:r>
            </a:p>
          </p:txBody>
        </p:sp>
      </p:grpSp>
      <p:grpSp>
        <p:nvGrpSpPr>
          <p:cNvPr id="8" name="Group 8"/>
          <p:cNvGrpSpPr/>
          <p:nvPr/>
        </p:nvGrpSpPr>
        <p:grpSpPr>
          <a:xfrm>
            <a:off x="13370723" y="6116563"/>
            <a:ext cx="4965134" cy="457200"/>
            <a:chOff x="0" y="0"/>
            <a:chExt cx="6620178" cy="609600"/>
          </a:xfrm>
        </p:grpSpPr>
        <p:sp>
          <p:nvSpPr>
            <p:cNvPr id="9" name="Freeform 9"/>
            <p:cNvSpPr/>
            <p:nvPr/>
          </p:nvSpPr>
          <p:spPr>
            <a:xfrm rot="5400000">
              <a:off x="226" y="38444"/>
              <a:ext cx="532260" cy="532712"/>
            </a:xfrm>
            <a:custGeom>
              <a:avLst/>
              <a:gdLst/>
              <a:ahLst/>
              <a:cxnLst/>
              <a:rect l="l" t="t" r="r" b="b"/>
              <a:pathLst>
                <a:path w="532260" h="532712">
                  <a:moveTo>
                    <a:pt x="0" y="0"/>
                  </a:moveTo>
                  <a:lnTo>
                    <a:pt x="532260" y="0"/>
                  </a:lnTo>
                  <a:lnTo>
                    <a:pt x="532260" y="532712"/>
                  </a:lnTo>
                  <a:lnTo>
                    <a:pt x="0" y="53271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10" name="TextBox 10"/>
            <p:cNvSpPr txBox="1"/>
            <p:nvPr/>
          </p:nvSpPr>
          <p:spPr>
            <a:xfrm>
              <a:off x="1053412" y="-57150"/>
              <a:ext cx="5566766" cy="666750"/>
            </a:xfrm>
            <a:prstGeom prst="rect">
              <a:avLst/>
            </a:prstGeom>
          </p:spPr>
          <p:txBody>
            <a:bodyPr lIns="0" tIns="0" rIns="0" bIns="0" rtlCol="0" anchor="t">
              <a:spAutoFit/>
            </a:bodyPr>
            <a:lstStyle/>
            <a:p>
              <a:pPr marL="0" lvl="0" indent="0" algn="l">
                <a:lnSpc>
                  <a:spcPts val="4200"/>
                </a:lnSpc>
                <a:spcBef>
                  <a:spcPct val="0"/>
                </a:spcBef>
              </a:pPr>
              <a:r>
                <a:rPr lang="en-US" sz="3000" dirty="0">
                  <a:solidFill>
                    <a:srgbClr val="000000"/>
                  </a:solidFill>
                  <a:latin typeface="Clear Sans"/>
                  <a:ea typeface="Clear Sans"/>
                  <a:cs typeface="Clear Sans"/>
                  <a:sym typeface="Clear Sans"/>
                </a:rPr>
                <a:t>Planification Du </a:t>
              </a:r>
              <a:r>
                <a:rPr lang="en-US" sz="3000" dirty="0" err="1">
                  <a:solidFill>
                    <a:srgbClr val="000000"/>
                  </a:solidFill>
                  <a:latin typeface="Clear Sans"/>
                  <a:ea typeface="Clear Sans"/>
                  <a:cs typeface="Clear Sans"/>
                  <a:sym typeface="Clear Sans"/>
                </a:rPr>
                <a:t>Projet</a:t>
              </a:r>
              <a:endParaRPr lang="en-US" sz="3000" dirty="0">
                <a:solidFill>
                  <a:srgbClr val="000000"/>
                </a:solidFill>
                <a:latin typeface="Clear Sans"/>
                <a:ea typeface="Clear Sans"/>
                <a:cs typeface="Clear Sans"/>
                <a:sym typeface="Clear Sans"/>
              </a:endParaRPr>
            </a:p>
          </p:txBody>
        </p:sp>
      </p:grpSp>
      <p:grpSp>
        <p:nvGrpSpPr>
          <p:cNvPr id="11" name="Group 11"/>
          <p:cNvGrpSpPr/>
          <p:nvPr/>
        </p:nvGrpSpPr>
        <p:grpSpPr>
          <a:xfrm>
            <a:off x="13370723" y="6906859"/>
            <a:ext cx="4536277" cy="497829"/>
            <a:chOff x="0" y="-57149"/>
            <a:chExt cx="5184770" cy="663772"/>
          </a:xfrm>
        </p:grpSpPr>
        <p:sp>
          <p:nvSpPr>
            <p:cNvPr id="12" name="TextBox 12"/>
            <p:cNvSpPr txBox="1"/>
            <p:nvPr/>
          </p:nvSpPr>
          <p:spPr>
            <a:xfrm>
              <a:off x="1053412" y="-57149"/>
              <a:ext cx="4131358" cy="663772"/>
            </a:xfrm>
            <a:prstGeom prst="rect">
              <a:avLst/>
            </a:prstGeom>
          </p:spPr>
          <p:txBody>
            <a:bodyPr lIns="0" tIns="0" rIns="0" bIns="0" rtlCol="0" anchor="t">
              <a:spAutoFit/>
            </a:bodyPr>
            <a:lstStyle/>
            <a:p>
              <a:pPr marL="0" lvl="0" indent="0" algn="l">
                <a:lnSpc>
                  <a:spcPts val="4200"/>
                </a:lnSpc>
                <a:spcBef>
                  <a:spcPct val="0"/>
                </a:spcBef>
              </a:pPr>
              <a:r>
                <a:rPr lang="en-US" sz="3000" dirty="0">
                  <a:solidFill>
                    <a:srgbClr val="000000"/>
                  </a:solidFill>
                  <a:latin typeface="Clear Sans"/>
                  <a:ea typeface="Clear Sans"/>
                  <a:cs typeface="Clear Sans"/>
                  <a:sym typeface="Clear Sans"/>
                </a:rPr>
                <a:t>Budget Du </a:t>
              </a:r>
              <a:r>
                <a:rPr lang="en-US" sz="3000" dirty="0" err="1">
                  <a:solidFill>
                    <a:srgbClr val="000000"/>
                  </a:solidFill>
                  <a:latin typeface="Clear Sans"/>
                  <a:ea typeface="Clear Sans"/>
                  <a:cs typeface="Clear Sans"/>
                  <a:sym typeface="Clear Sans"/>
                </a:rPr>
                <a:t>Projet</a:t>
              </a:r>
              <a:endParaRPr lang="en-US" sz="3000" dirty="0">
                <a:solidFill>
                  <a:srgbClr val="000000"/>
                </a:solidFill>
                <a:latin typeface="Clear Sans"/>
                <a:ea typeface="Clear Sans"/>
                <a:cs typeface="Clear Sans"/>
                <a:sym typeface="Clear Sans"/>
              </a:endParaRPr>
            </a:p>
          </p:txBody>
        </p:sp>
        <p:sp>
          <p:nvSpPr>
            <p:cNvPr id="13" name="Freeform 13"/>
            <p:cNvSpPr/>
            <p:nvPr/>
          </p:nvSpPr>
          <p:spPr>
            <a:xfrm rot="5400000">
              <a:off x="226" y="38444"/>
              <a:ext cx="532260" cy="532712"/>
            </a:xfrm>
            <a:custGeom>
              <a:avLst/>
              <a:gdLst/>
              <a:ahLst/>
              <a:cxnLst/>
              <a:rect l="l" t="t" r="r" b="b"/>
              <a:pathLst>
                <a:path w="532260" h="532712">
                  <a:moveTo>
                    <a:pt x="0" y="0"/>
                  </a:moveTo>
                  <a:lnTo>
                    <a:pt x="532260" y="0"/>
                  </a:lnTo>
                  <a:lnTo>
                    <a:pt x="532260" y="532712"/>
                  </a:lnTo>
                  <a:lnTo>
                    <a:pt x="0" y="53271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grpSp>
      <p:grpSp>
        <p:nvGrpSpPr>
          <p:cNvPr id="15" name="Group 15"/>
          <p:cNvGrpSpPr/>
          <p:nvPr/>
        </p:nvGrpSpPr>
        <p:grpSpPr>
          <a:xfrm>
            <a:off x="8853745" y="1952603"/>
            <a:ext cx="7607896" cy="2038196"/>
            <a:chOff x="0" y="0"/>
            <a:chExt cx="10143861" cy="2717595"/>
          </a:xfrm>
        </p:grpSpPr>
        <p:sp>
          <p:nvSpPr>
            <p:cNvPr id="16" name="TextBox 16"/>
            <p:cNvSpPr txBox="1"/>
            <p:nvPr/>
          </p:nvSpPr>
          <p:spPr>
            <a:xfrm>
              <a:off x="0" y="76200"/>
              <a:ext cx="10143861" cy="1642533"/>
            </a:xfrm>
            <a:prstGeom prst="rect">
              <a:avLst/>
            </a:prstGeom>
          </p:spPr>
          <p:txBody>
            <a:bodyPr lIns="0" tIns="0" rIns="0" bIns="0" rtlCol="0" anchor="t">
              <a:spAutoFit/>
            </a:bodyPr>
            <a:lstStyle/>
            <a:p>
              <a:pPr marL="0" lvl="0" indent="0" algn="l">
                <a:lnSpc>
                  <a:spcPts val="9349"/>
                </a:lnSpc>
                <a:spcBef>
                  <a:spcPct val="0"/>
                </a:spcBef>
              </a:pPr>
              <a:r>
                <a:rPr lang="en-US" sz="8499" dirty="0">
                  <a:solidFill>
                    <a:srgbClr val="000000"/>
                  </a:solidFill>
                  <a:latin typeface="Hammersmith One"/>
                  <a:ea typeface="Hammersmith One"/>
                  <a:cs typeface="Hammersmith One"/>
                  <a:sym typeface="Hammersmith One"/>
                </a:rPr>
                <a:t>Our Agenda</a:t>
              </a:r>
            </a:p>
          </p:txBody>
        </p:sp>
        <p:sp>
          <p:nvSpPr>
            <p:cNvPr id="17" name="Freeform 17"/>
            <p:cNvSpPr/>
            <p:nvPr/>
          </p:nvSpPr>
          <p:spPr>
            <a:xfrm>
              <a:off x="0" y="2334422"/>
              <a:ext cx="5184770" cy="383173"/>
            </a:xfrm>
            <a:custGeom>
              <a:avLst/>
              <a:gdLst/>
              <a:ahLst/>
              <a:cxnLst/>
              <a:rect l="l" t="t" r="r" b="b"/>
              <a:pathLst>
                <a:path w="5184770" h="383173">
                  <a:moveTo>
                    <a:pt x="0" y="0"/>
                  </a:moveTo>
                  <a:lnTo>
                    <a:pt x="5184770" y="0"/>
                  </a:lnTo>
                  <a:lnTo>
                    <a:pt x="5184770" y="383173"/>
                  </a:lnTo>
                  <a:lnTo>
                    <a:pt x="0" y="383173"/>
                  </a:lnTo>
                  <a:lnTo>
                    <a:pt x="0" y="0"/>
                  </a:lnTo>
                  <a:close/>
                </a:path>
              </a:pathLst>
            </a:custGeom>
            <a:blipFill>
              <a:blip>
                <a:extLst>
                  <a:ext uri="{96DAC541-7B7A-43D3-8B79-37D633B846F1}">
                    <asvg:svgBlip xmlns:asvg="http://schemas.microsoft.com/office/drawing/2016/SVG/main" r:embed="rId4"/>
                  </a:ext>
                </a:extLst>
              </a:blip>
              <a:stretch>
                <a:fillRect l="-171" t="-308623" r="-7088" b="-1042730"/>
              </a:stretch>
            </a:blipFill>
          </p:spPr>
          <p:txBody>
            <a:bodyPr/>
            <a:lstStyle/>
            <a:p>
              <a:endParaRPr lang="en-US"/>
            </a:p>
          </p:txBody>
        </p:sp>
      </p:grpSp>
      <p:grpSp>
        <p:nvGrpSpPr>
          <p:cNvPr id="18" name="Group 18"/>
          <p:cNvGrpSpPr/>
          <p:nvPr/>
        </p:nvGrpSpPr>
        <p:grpSpPr>
          <a:xfrm>
            <a:off x="8853745" y="7025882"/>
            <a:ext cx="4189510" cy="527400"/>
            <a:chOff x="0" y="38670"/>
            <a:chExt cx="5586014" cy="703200"/>
          </a:xfrm>
        </p:grpSpPr>
        <p:sp>
          <p:nvSpPr>
            <p:cNvPr id="19" name="Freeform 19"/>
            <p:cNvSpPr/>
            <p:nvPr/>
          </p:nvSpPr>
          <p:spPr>
            <a:xfrm rot="5400000">
              <a:off x="226" y="38444"/>
              <a:ext cx="532260" cy="532712"/>
            </a:xfrm>
            <a:custGeom>
              <a:avLst/>
              <a:gdLst/>
              <a:ahLst/>
              <a:cxnLst/>
              <a:rect l="l" t="t" r="r" b="b"/>
              <a:pathLst>
                <a:path w="532260" h="532712">
                  <a:moveTo>
                    <a:pt x="0" y="0"/>
                  </a:moveTo>
                  <a:lnTo>
                    <a:pt x="532260" y="0"/>
                  </a:lnTo>
                  <a:lnTo>
                    <a:pt x="532260" y="532712"/>
                  </a:lnTo>
                  <a:lnTo>
                    <a:pt x="0" y="53271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20" name="TextBox 20"/>
            <p:cNvSpPr txBox="1"/>
            <p:nvPr/>
          </p:nvSpPr>
          <p:spPr>
            <a:xfrm>
              <a:off x="933956" y="78098"/>
              <a:ext cx="4652058" cy="663772"/>
            </a:xfrm>
            <a:prstGeom prst="rect">
              <a:avLst/>
            </a:prstGeom>
          </p:spPr>
          <p:txBody>
            <a:bodyPr wrap="square" lIns="0" tIns="0" rIns="0" bIns="0" rtlCol="0" anchor="t">
              <a:spAutoFit/>
            </a:bodyPr>
            <a:lstStyle/>
            <a:p>
              <a:pPr marL="0" lvl="0" indent="0" algn="l">
                <a:lnSpc>
                  <a:spcPts val="4200"/>
                </a:lnSpc>
                <a:spcBef>
                  <a:spcPct val="0"/>
                </a:spcBef>
              </a:pPr>
              <a:r>
                <a:rPr lang="en-US" sz="3000" dirty="0">
                  <a:solidFill>
                    <a:srgbClr val="000000"/>
                  </a:solidFill>
                  <a:latin typeface="Clear Sans"/>
                  <a:ea typeface="Clear Sans"/>
                  <a:cs typeface="Clear Sans"/>
                  <a:sym typeface="Clear Sans"/>
                </a:rPr>
                <a:t>Objectif </a:t>
              </a:r>
              <a:r>
                <a:rPr lang="en-US" sz="3000" dirty="0" err="1">
                  <a:solidFill>
                    <a:srgbClr val="000000"/>
                  </a:solidFill>
                  <a:latin typeface="Clear Sans"/>
                  <a:ea typeface="Clear Sans"/>
                  <a:cs typeface="Clear Sans"/>
                  <a:sym typeface="Clear Sans"/>
                </a:rPr>
                <a:t>Général</a:t>
              </a:r>
              <a:endParaRPr lang="en-US" sz="3000" dirty="0">
                <a:solidFill>
                  <a:srgbClr val="000000"/>
                </a:solidFill>
                <a:latin typeface="Clear Sans"/>
                <a:ea typeface="Clear Sans"/>
                <a:cs typeface="Clear Sans"/>
                <a:sym typeface="Clear Sans"/>
              </a:endParaRPr>
            </a:p>
          </p:txBody>
        </p:sp>
      </p:grpSp>
      <p:grpSp>
        <p:nvGrpSpPr>
          <p:cNvPr id="24" name="Group 24"/>
          <p:cNvGrpSpPr/>
          <p:nvPr/>
        </p:nvGrpSpPr>
        <p:grpSpPr>
          <a:xfrm>
            <a:off x="8853745" y="8612328"/>
            <a:ext cx="3888577" cy="1049133"/>
            <a:chOff x="0" y="103904"/>
            <a:chExt cx="5184770" cy="1398844"/>
          </a:xfrm>
        </p:grpSpPr>
        <p:sp>
          <p:nvSpPr>
            <p:cNvPr id="25" name="Freeform 25"/>
            <p:cNvSpPr/>
            <p:nvPr/>
          </p:nvSpPr>
          <p:spPr>
            <a:xfrm rot="5400000">
              <a:off x="226" y="394044"/>
              <a:ext cx="532260" cy="532712"/>
            </a:xfrm>
            <a:custGeom>
              <a:avLst/>
              <a:gdLst/>
              <a:ahLst/>
              <a:cxnLst/>
              <a:rect l="l" t="t" r="r" b="b"/>
              <a:pathLst>
                <a:path w="532260" h="532712">
                  <a:moveTo>
                    <a:pt x="0" y="0"/>
                  </a:moveTo>
                  <a:lnTo>
                    <a:pt x="532260" y="0"/>
                  </a:lnTo>
                  <a:lnTo>
                    <a:pt x="532260" y="532712"/>
                  </a:lnTo>
                  <a:lnTo>
                    <a:pt x="0" y="53271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26" name="TextBox 26"/>
            <p:cNvSpPr txBox="1"/>
            <p:nvPr/>
          </p:nvSpPr>
          <p:spPr>
            <a:xfrm>
              <a:off x="1053412" y="103904"/>
              <a:ext cx="4131358" cy="1398844"/>
            </a:xfrm>
            <a:prstGeom prst="rect">
              <a:avLst/>
            </a:prstGeom>
          </p:spPr>
          <p:txBody>
            <a:bodyPr lIns="0" tIns="0" rIns="0" bIns="0" rtlCol="0" anchor="t">
              <a:spAutoFit/>
            </a:bodyPr>
            <a:lstStyle/>
            <a:p>
              <a:pPr lvl="0">
                <a:lnSpc>
                  <a:spcPts val="4200"/>
                </a:lnSpc>
                <a:spcBef>
                  <a:spcPct val="0"/>
                </a:spcBef>
              </a:pPr>
              <a:r>
                <a:rPr lang="fr-FR" sz="3200" dirty="0"/>
                <a:t>Périmètre Du Projet Et Livrables</a:t>
              </a:r>
              <a:endParaRPr lang="en-US" sz="3000" u="none" dirty="0">
                <a:solidFill>
                  <a:srgbClr val="000000"/>
                </a:solidFill>
                <a:latin typeface="Clear Sans"/>
                <a:ea typeface="Clear Sans"/>
                <a:cs typeface="Clear Sans"/>
                <a:sym typeface="Clear Sans"/>
              </a:endParaRPr>
            </a:p>
          </p:txBody>
        </p:sp>
      </p:grpSp>
      <p:grpSp>
        <p:nvGrpSpPr>
          <p:cNvPr id="27" name="Group 27"/>
          <p:cNvGrpSpPr/>
          <p:nvPr/>
        </p:nvGrpSpPr>
        <p:grpSpPr>
          <a:xfrm>
            <a:off x="13370723" y="7873624"/>
            <a:ext cx="3888577" cy="457200"/>
            <a:chOff x="0" y="0"/>
            <a:chExt cx="5184770" cy="609600"/>
          </a:xfrm>
        </p:grpSpPr>
        <p:sp>
          <p:nvSpPr>
            <p:cNvPr id="28" name="TextBox 28"/>
            <p:cNvSpPr txBox="1"/>
            <p:nvPr/>
          </p:nvSpPr>
          <p:spPr>
            <a:xfrm>
              <a:off x="1053412" y="-57150"/>
              <a:ext cx="4131358" cy="666750"/>
            </a:xfrm>
            <a:prstGeom prst="rect">
              <a:avLst/>
            </a:prstGeom>
          </p:spPr>
          <p:txBody>
            <a:bodyPr lIns="0" tIns="0" rIns="0" bIns="0" rtlCol="0" anchor="t">
              <a:spAutoFit/>
            </a:bodyPr>
            <a:lstStyle/>
            <a:p>
              <a:pPr marL="0" lvl="0" indent="0" algn="l">
                <a:lnSpc>
                  <a:spcPts val="4200"/>
                </a:lnSpc>
                <a:spcBef>
                  <a:spcPct val="0"/>
                </a:spcBef>
              </a:pPr>
              <a:r>
                <a:rPr lang="fr-FR" sz="3000" noProof="0" dirty="0">
                  <a:solidFill>
                    <a:srgbClr val="000000"/>
                  </a:solidFill>
                  <a:latin typeface="Clear Sans"/>
                  <a:ea typeface="Clear Sans"/>
                  <a:cs typeface="Clear Sans"/>
                  <a:sym typeface="Clear Sans"/>
                </a:rPr>
                <a:t>Méthodologies</a:t>
              </a:r>
            </a:p>
          </p:txBody>
        </p:sp>
        <p:sp>
          <p:nvSpPr>
            <p:cNvPr id="29" name="Freeform 29"/>
            <p:cNvSpPr/>
            <p:nvPr/>
          </p:nvSpPr>
          <p:spPr>
            <a:xfrm rot="5400000">
              <a:off x="226" y="38444"/>
              <a:ext cx="532260" cy="532712"/>
            </a:xfrm>
            <a:custGeom>
              <a:avLst/>
              <a:gdLst/>
              <a:ahLst/>
              <a:cxnLst/>
              <a:rect l="l" t="t" r="r" b="b"/>
              <a:pathLst>
                <a:path w="532260" h="532712">
                  <a:moveTo>
                    <a:pt x="0" y="0"/>
                  </a:moveTo>
                  <a:lnTo>
                    <a:pt x="532260" y="0"/>
                  </a:lnTo>
                  <a:lnTo>
                    <a:pt x="532260" y="532712"/>
                  </a:lnTo>
                  <a:lnTo>
                    <a:pt x="0" y="53271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grpSp>
      <p:grpSp>
        <p:nvGrpSpPr>
          <p:cNvPr id="30" name="Group 27">
            <a:extLst>
              <a:ext uri="{FF2B5EF4-FFF2-40B4-BE49-F238E27FC236}">
                <a16:creationId xmlns:a16="http://schemas.microsoft.com/office/drawing/2014/main" id="{8BABCC46-71FE-A130-600D-6BC34064CA85}"/>
              </a:ext>
            </a:extLst>
          </p:cNvPr>
          <p:cNvGrpSpPr/>
          <p:nvPr/>
        </p:nvGrpSpPr>
        <p:grpSpPr>
          <a:xfrm>
            <a:off x="13433124" y="8787504"/>
            <a:ext cx="3888577" cy="457200"/>
            <a:chOff x="0" y="0"/>
            <a:chExt cx="5184770" cy="609600"/>
          </a:xfrm>
        </p:grpSpPr>
        <p:sp>
          <p:nvSpPr>
            <p:cNvPr id="31" name="TextBox 28">
              <a:extLst>
                <a:ext uri="{FF2B5EF4-FFF2-40B4-BE49-F238E27FC236}">
                  <a16:creationId xmlns:a16="http://schemas.microsoft.com/office/drawing/2014/main" id="{44D4EE7E-8D7E-F25A-6527-5411108BE775}"/>
                </a:ext>
              </a:extLst>
            </p:cNvPr>
            <p:cNvSpPr txBox="1"/>
            <p:nvPr/>
          </p:nvSpPr>
          <p:spPr>
            <a:xfrm>
              <a:off x="1053412" y="-57150"/>
              <a:ext cx="4131358" cy="666750"/>
            </a:xfrm>
            <a:prstGeom prst="rect">
              <a:avLst/>
            </a:prstGeom>
          </p:spPr>
          <p:txBody>
            <a:bodyPr lIns="0" tIns="0" rIns="0" bIns="0" rtlCol="0" anchor="t">
              <a:spAutoFit/>
            </a:bodyPr>
            <a:lstStyle/>
            <a:p>
              <a:pPr marL="0" lvl="0" indent="0" algn="l">
                <a:lnSpc>
                  <a:spcPts val="4200"/>
                </a:lnSpc>
                <a:spcBef>
                  <a:spcPct val="0"/>
                </a:spcBef>
              </a:pPr>
              <a:r>
                <a:rPr lang="en-US" sz="3000" dirty="0">
                  <a:solidFill>
                    <a:srgbClr val="000000"/>
                  </a:solidFill>
                  <a:latin typeface="Clear Sans"/>
                  <a:ea typeface="Clear Sans"/>
                  <a:cs typeface="Clear Sans"/>
                  <a:sym typeface="Clear Sans"/>
                </a:rPr>
                <a:t>What's Next</a:t>
              </a:r>
            </a:p>
          </p:txBody>
        </p:sp>
        <p:sp>
          <p:nvSpPr>
            <p:cNvPr id="32" name="Freeform 29">
              <a:extLst>
                <a:ext uri="{FF2B5EF4-FFF2-40B4-BE49-F238E27FC236}">
                  <a16:creationId xmlns:a16="http://schemas.microsoft.com/office/drawing/2014/main" id="{723265AF-B284-4143-AA7D-403384A03590}"/>
                </a:ext>
              </a:extLst>
            </p:cNvPr>
            <p:cNvSpPr/>
            <p:nvPr/>
          </p:nvSpPr>
          <p:spPr>
            <a:xfrm rot="5400000">
              <a:off x="226" y="38444"/>
              <a:ext cx="532260" cy="532712"/>
            </a:xfrm>
            <a:custGeom>
              <a:avLst/>
              <a:gdLst/>
              <a:ahLst/>
              <a:cxnLst/>
              <a:rect l="l" t="t" r="r" b="b"/>
              <a:pathLst>
                <a:path w="532260" h="532712">
                  <a:moveTo>
                    <a:pt x="0" y="0"/>
                  </a:moveTo>
                  <a:lnTo>
                    <a:pt x="532260" y="0"/>
                  </a:lnTo>
                  <a:lnTo>
                    <a:pt x="532260" y="532712"/>
                  </a:lnTo>
                  <a:lnTo>
                    <a:pt x="0" y="53271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grpSp>
      <p:sp>
        <p:nvSpPr>
          <p:cNvPr id="33" name="Freeform 17">
            <a:extLst>
              <a:ext uri="{FF2B5EF4-FFF2-40B4-BE49-F238E27FC236}">
                <a16:creationId xmlns:a16="http://schemas.microsoft.com/office/drawing/2014/main" id="{E5BBDA6C-CD0A-A048-1910-3CBA1CC21F9D}"/>
              </a:ext>
            </a:extLst>
          </p:cNvPr>
          <p:cNvSpPr/>
          <p:nvPr/>
        </p:nvSpPr>
        <p:spPr>
          <a:xfrm>
            <a:off x="23129" y="0"/>
            <a:ext cx="8384544" cy="10287000"/>
          </a:xfrm>
          <a:custGeom>
            <a:avLst/>
            <a:gdLst/>
            <a:ahLst/>
            <a:cxnLst/>
            <a:rect l="l" t="t" r="r" b="b"/>
            <a:pathLst>
              <a:path w="8384544" h="10287000">
                <a:moveTo>
                  <a:pt x="0" y="0"/>
                </a:moveTo>
                <a:lnTo>
                  <a:pt x="8384544" y="0"/>
                </a:lnTo>
                <a:lnTo>
                  <a:pt x="8384544" y="10287000"/>
                </a:lnTo>
                <a:lnTo>
                  <a:pt x="0" y="10287000"/>
                </a:lnTo>
                <a:lnTo>
                  <a:pt x="0" y="0"/>
                </a:lnTo>
                <a:close/>
              </a:path>
            </a:pathLst>
          </a:custGeom>
          <a:blipFill>
            <a:blip r:embed="rId5">
              <a:alphaModFix amt="50000"/>
            </a:blip>
            <a:stretch>
              <a:fillRect l="-4060" r="-4060"/>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8381071" cy="10287000"/>
          </a:xfrm>
          <a:custGeom>
            <a:avLst/>
            <a:gdLst/>
            <a:ahLst/>
            <a:cxnLst/>
            <a:rect l="l" t="t" r="r" b="b"/>
            <a:pathLst>
              <a:path w="8381071" h="10287000">
                <a:moveTo>
                  <a:pt x="0" y="0"/>
                </a:moveTo>
                <a:lnTo>
                  <a:pt x="8381071" y="0"/>
                </a:lnTo>
                <a:lnTo>
                  <a:pt x="8381071" y="10287000"/>
                </a:lnTo>
                <a:lnTo>
                  <a:pt x="0" y="10287000"/>
                </a:lnTo>
                <a:lnTo>
                  <a:pt x="0" y="0"/>
                </a:lnTo>
                <a:close/>
              </a:path>
            </a:pathLst>
          </a:custGeom>
          <a:blipFill>
            <a:blip r:embed="rId2"/>
            <a:stretch>
              <a:fillRect t="-13266" b="-8942"/>
            </a:stretch>
          </a:blipFill>
        </p:spPr>
        <p:txBody>
          <a:bodyPr/>
          <a:lstStyle/>
          <a:p>
            <a:endParaRPr lang="en-US"/>
          </a:p>
        </p:txBody>
      </p:sp>
      <p:sp>
        <p:nvSpPr>
          <p:cNvPr id="3" name="Freeform 3"/>
          <p:cNvSpPr/>
          <p:nvPr/>
        </p:nvSpPr>
        <p:spPr>
          <a:xfrm rot="-10800000" flipH="1">
            <a:off x="12375474" y="6859089"/>
            <a:ext cx="8541821" cy="3427911"/>
          </a:xfrm>
          <a:custGeom>
            <a:avLst/>
            <a:gdLst/>
            <a:ahLst/>
            <a:cxnLst/>
            <a:rect l="l" t="t" r="r" b="b"/>
            <a:pathLst>
              <a:path w="8541821" h="3427911">
                <a:moveTo>
                  <a:pt x="8541821" y="0"/>
                </a:moveTo>
                <a:lnTo>
                  <a:pt x="0" y="0"/>
                </a:lnTo>
                <a:lnTo>
                  <a:pt x="0" y="3427911"/>
                </a:lnTo>
                <a:lnTo>
                  <a:pt x="8541821" y="3427911"/>
                </a:lnTo>
                <a:lnTo>
                  <a:pt x="8541821" y="0"/>
                </a:lnTo>
                <a:close/>
              </a:path>
            </a:pathLst>
          </a:custGeom>
          <a:blipFill>
            <a:blip>
              <a:extLst>
                <a:ext uri="{96DAC541-7B7A-43D3-8B79-37D633B846F1}">
                  <asvg:svgBlip xmlns:asvg="http://schemas.microsoft.com/office/drawing/2016/SVG/main" r:embed="rId3"/>
                </a:ext>
              </a:extLst>
            </a:blip>
            <a:stretch>
              <a:fillRect t="-153799"/>
            </a:stretch>
          </a:blipFill>
        </p:spPr>
        <p:txBody>
          <a:bodyPr/>
          <a:lstStyle/>
          <a:p>
            <a:endParaRPr lang="en-US"/>
          </a:p>
        </p:txBody>
      </p:sp>
      <p:sp>
        <p:nvSpPr>
          <p:cNvPr id="4" name="AutoShape 4"/>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sp>
        <p:nvSpPr>
          <p:cNvPr id="5" name="Freeform 5"/>
          <p:cNvSpPr/>
          <p:nvPr/>
        </p:nvSpPr>
        <p:spPr>
          <a:xfrm>
            <a:off x="0" y="0"/>
            <a:ext cx="8384544" cy="10287000"/>
          </a:xfrm>
          <a:custGeom>
            <a:avLst/>
            <a:gdLst/>
            <a:ahLst/>
            <a:cxnLst/>
            <a:rect l="l" t="t" r="r" b="b"/>
            <a:pathLst>
              <a:path w="8384544" h="10287000">
                <a:moveTo>
                  <a:pt x="0" y="0"/>
                </a:moveTo>
                <a:lnTo>
                  <a:pt x="8384544" y="0"/>
                </a:lnTo>
                <a:lnTo>
                  <a:pt x="8384544" y="10287000"/>
                </a:lnTo>
                <a:lnTo>
                  <a:pt x="0" y="10287000"/>
                </a:lnTo>
                <a:lnTo>
                  <a:pt x="0" y="0"/>
                </a:lnTo>
                <a:close/>
              </a:path>
            </a:pathLst>
          </a:custGeom>
          <a:blipFill>
            <a:blip r:embed="rId4"/>
            <a:stretch>
              <a:fillRect l="-4060" r="-4060"/>
            </a:stretch>
          </a:blipFill>
        </p:spPr>
        <p:txBody>
          <a:bodyPr/>
          <a:lstStyle/>
          <a:p>
            <a:endParaRPr lang="en-US"/>
          </a:p>
        </p:txBody>
      </p:sp>
      <p:sp>
        <p:nvSpPr>
          <p:cNvPr id="7" name="TextBox 7"/>
          <p:cNvSpPr txBox="1"/>
          <p:nvPr/>
        </p:nvSpPr>
        <p:spPr>
          <a:xfrm>
            <a:off x="9525000" y="3006197"/>
            <a:ext cx="8384544" cy="3606693"/>
          </a:xfrm>
          <a:prstGeom prst="rect">
            <a:avLst/>
          </a:prstGeom>
        </p:spPr>
        <p:txBody>
          <a:bodyPr wrap="square" lIns="0" tIns="0" rIns="0" bIns="0" rtlCol="0" anchor="t">
            <a:spAutoFit/>
          </a:bodyPr>
          <a:lstStyle/>
          <a:p>
            <a:pPr algn="ctr">
              <a:lnSpc>
                <a:spcPts val="9349"/>
              </a:lnSpc>
              <a:spcBef>
                <a:spcPct val="0"/>
              </a:spcBef>
            </a:pPr>
            <a:r>
              <a:rPr lang="en-US" sz="8499" dirty="0" err="1">
                <a:solidFill>
                  <a:srgbClr val="000000"/>
                </a:solidFill>
                <a:latin typeface="Hammersmith One"/>
                <a:sym typeface="Telegraf Medium"/>
              </a:rPr>
              <a:t>CONTEXTE</a:t>
            </a:r>
            <a:r>
              <a:rPr lang="en-US" sz="8499" dirty="0">
                <a:solidFill>
                  <a:srgbClr val="000000"/>
                </a:solidFill>
                <a:latin typeface="Hammersmith One"/>
                <a:sym typeface="Telegraf Medium"/>
              </a:rPr>
              <a:t> </a:t>
            </a:r>
          </a:p>
          <a:p>
            <a:pPr algn="ctr">
              <a:lnSpc>
                <a:spcPts val="9349"/>
              </a:lnSpc>
              <a:spcBef>
                <a:spcPct val="0"/>
              </a:spcBef>
            </a:pPr>
            <a:r>
              <a:rPr lang="en-US" sz="8499" dirty="0">
                <a:solidFill>
                  <a:srgbClr val="000000"/>
                </a:solidFill>
                <a:latin typeface="Hammersmith One"/>
                <a:sym typeface="Telegraf Medium"/>
              </a:rPr>
              <a:t>&amp; </a:t>
            </a:r>
            <a:r>
              <a:rPr lang="en-US" sz="8499" dirty="0" err="1">
                <a:solidFill>
                  <a:srgbClr val="000000"/>
                </a:solidFill>
                <a:latin typeface="Hammersmith One"/>
                <a:sym typeface="Telegraf Medium"/>
              </a:rPr>
              <a:t>PROBLÉMATIQUE</a:t>
            </a:r>
            <a:endParaRPr lang="en-US" sz="8499" dirty="0">
              <a:solidFill>
                <a:srgbClr val="000000"/>
              </a:solidFill>
              <a:latin typeface="Hammersmith One"/>
              <a:sym typeface="Telegraf Medium"/>
            </a:endParaRPr>
          </a:p>
        </p:txBody>
      </p:sp>
      <p:sp>
        <p:nvSpPr>
          <p:cNvPr id="9" name="TextBox 9"/>
          <p:cNvSpPr txBox="1"/>
          <p:nvPr/>
        </p:nvSpPr>
        <p:spPr>
          <a:xfrm>
            <a:off x="15831003" y="9347181"/>
            <a:ext cx="1745913" cy="334391"/>
          </a:xfrm>
          <a:prstGeom prst="rect">
            <a:avLst/>
          </a:prstGeom>
        </p:spPr>
        <p:txBody>
          <a:bodyPr lIns="0" tIns="0" rIns="0" bIns="0" rtlCol="0" anchor="t">
            <a:spAutoFit/>
          </a:bodyPr>
          <a:lstStyle/>
          <a:p>
            <a:pPr marL="0" lvl="0" indent="0" algn="r">
              <a:lnSpc>
                <a:spcPts val="2331"/>
              </a:lnSpc>
            </a:pPr>
            <a:r>
              <a:rPr lang="en-US" sz="2199" b="1" spc="-98">
                <a:solidFill>
                  <a:srgbClr val="010101"/>
                </a:solidFill>
                <a:latin typeface="Telegraf Medium"/>
                <a:ea typeface="Telegraf Medium"/>
                <a:cs typeface="Telegraf Medium"/>
                <a:sym typeface="Telegraf Medium"/>
              </a:rPr>
              <a:t>schematiq</a:t>
            </a:r>
          </a:p>
        </p:txBody>
      </p:sp>
      <p:sp>
        <p:nvSpPr>
          <p:cNvPr id="10" name="Freeform 10"/>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5"/>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FFC54B"/>
          </a:solidFill>
          <a:ln w="12700">
            <a:solidFill>
              <a:schemeClr val="accent6">
                <a:lumMod val="75000"/>
              </a:schemeClr>
            </a:solidFill>
            <a:prstDash val="solid"/>
          </a:ln>
        </p:spPr>
        <p:txBody>
          <a:bodyPr/>
          <a:lstStyle/>
          <a:p>
            <a:endParaRPr lang="en-US" sz="3600"/>
          </a:p>
        </p:txBody>
      </p:sp>
      <p:sp>
        <p:nvSpPr>
          <p:cNvPr id="3" name="Text 1"/>
          <p:cNvSpPr/>
          <p:nvPr/>
        </p:nvSpPr>
        <p:spPr>
          <a:xfrm>
            <a:off x="731520" y="0"/>
            <a:ext cx="16824960" cy="1463040"/>
          </a:xfrm>
          <a:prstGeom prst="rect">
            <a:avLst/>
          </a:prstGeom>
          <a:noFill/>
          <a:ln/>
        </p:spPr>
        <p:txBody>
          <a:bodyPr wrap="square" lIns="0" tIns="0" rIns="0" bIns="0" rtlCol="0" anchor="ctr"/>
          <a:lstStyle/>
          <a:p>
            <a:r>
              <a:rPr lang="en-US" sz="4000" b="1" dirty="0">
                <a:solidFill>
                  <a:schemeClr val="bg1"/>
                </a:solidFill>
                <a:latin typeface="Trebuchet MS" pitchFamily="34" charset="0"/>
                <a:ea typeface="Trebuchet MS" pitchFamily="34" charset="-122"/>
                <a:cs typeface="Trebuchet MS" pitchFamily="34" charset="-120"/>
              </a:rPr>
              <a:t>CONTEXTE &amp; PROBLÉMATIQUE</a:t>
            </a:r>
            <a:endParaRPr lang="en-US" sz="4000" dirty="0">
              <a:solidFill>
                <a:schemeClr val="bg1"/>
              </a:solidFill>
            </a:endParaRPr>
          </a:p>
        </p:txBody>
      </p:sp>
      <p:sp>
        <p:nvSpPr>
          <p:cNvPr id="4" name="Shape 2"/>
          <p:cNvSpPr/>
          <p:nvPr/>
        </p:nvSpPr>
        <p:spPr>
          <a:xfrm>
            <a:off x="548640" y="1737360"/>
            <a:ext cx="5486400" cy="4572000"/>
          </a:xfrm>
          <a:prstGeom prst="rect">
            <a:avLst/>
          </a:prstGeom>
          <a:solidFill>
            <a:srgbClr val="16384F"/>
          </a:solidFill>
          <a:ln w="25400">
            <a:solidFill>
              <a:srgbClr val="F5A623"/>
            </a:solidFill>
            <a:prstDash val="solid"/>
          </a:ln>
        </p:spPr>
        <p:txBody>
          <a:bodyPr/>
          <a:lstStyle/>
          <a:p>
            <a:endParaRPr lang="en-US" sz="3600"/>
          </a:p>
        </p:txBody>
      </p:sp>
      <p:sp>
        <p:nvSpPr>
          <p:cNvPr id="5" name="Shape 3"/>
          <p:cNvSpPr/>
          <p:nvPr/>
        </p:nvSpPr>
        <p:spPr>
          <a:xfrm>
            <a:off x="548640" y="1737360"/>
            <a:ext cx="5486400" cy="182880"/>
          </a:xfrm>
          <a:prstGeom prst="rect">
            <a:avLst/>
          </a:prstGeom>
          <a:solidFill>
            <a:srgbClr val="F5A623"/>
          </a:solidFill>
          <a:ln w="12700">
            <a:solidFill>
              <a:srgbClr val="F5A623"/>
            </a:solidFill>
            <a:prstDash val="solid"/>
          </a:ln>
        </p:spPr>
        <p:txBody>
          <a:bodyPr/>
          <a:lstStyle/>
          <a:p>
            <a:endParaRPr lang="en-US" sz="3600"/>
          </a:p>
        </p:txBody>
      </p:sp>
      <p:sp>
        <p:nvSpPr>
          <p:cNvPr id="6" name="Text 4"/>
          <p:cNvSpPr/>
          <p:nvPr/>
        </p:nvSpPr>
        <p:spPr>
          <a:xfrm>
            <a:off x="548640" y="2011680"/>
            <a:ext cx="5486400" cy="1645920"/>
          </a:xfrm>
          <a:prstGeom prst="rect">
            <a:avLst/>
          </a:prstGeom>
          <a:noFill/>
          <a:ln/>
        </p:spPr>
        <p:txBody>
          <a:bodyPr wrap="square" lIns="0" tIns="0" rIns="0" bIns="0" rtlCol="0" anchor="ctr"/>
          <a:lstStyle/>
          <a:p>
            <a:pPr algn="ctr"/>
            <a:r>
              <a:rPr lang="en-US" sz="8000" b="1" dirty="0">
                <a:solidFill>
                  <a:srgbClr val="F5A623"/>
                </a:solidFill>
                <a:latin typeface="Trebuchet MS" pitchFamily="34" charset="0"/>
                <a:ea typeface="Trebuchet MS" pitchFamily="34" charset="-122"/>
                <a:cs typeface="Trebuchet MS" pitchFamily="34" charset="-120"/>
              </a:rPr>
              <a:t>40%+</a:t>
            </a:r>
            <a:endParaRPr lang="en-US" sz="8000" dirty="0"/>
          </a:p>
        </p:txBody>
      </p:sp>
      <p:sp>
        <p:nvSpPr>
          <p:cNvPr id="7" name="Text 5"/>
          <p:cNvSpPr/>
          <p:nvPr/>
        </p:nvSpPr>
        <p:spPr>
          <a:xfrm>
            <a:off x="548640" y="3657600"/>
            <a:ext cx="5486400" cy="914400"/>
          </a:xfrm>
          <a:prstGeom prst="rect">
            <a:avLst/>
          </a:prstGeom>
          <a:noFill/>
          <a:ln/>
        </p:spPr>
        <p:txBody>
          <a:bodyPr wrap="square" lIns="0" tIns="0" rIns="0" bIns="0" rtlCol="0" anchor="ctr"/>
          <a:lstStyle/>
          <a:p>
            <a:pPr algn="ctr"/>
            <a:r>
              <a:rPr lang="en-US" sz="2600" b="1" dirty="0">
                <a:solidFill>
                  <a:srgbClr val="FFFFFF"/>
                </a:solidFill>
                <a:latin typeface="Calibri" pitchFamily="34" charset="0"/>
                <a:ea typeface="Calibri" pitchFamily="34" charset="-122"/>
                <a:cs typeface="Calibri" pitchFamily="34" charset="-120"/>
              </a:rPr>
              <a:t>des récoltes perdues</a:t>
            </a:r>
            <a:endParaRPr lang="en-US" sz="2600" dirty="0"/>
          </a:p>
        </p:txBody>
      </p:sp>
      <p:sp>
        <p:nvSpPr>
          <p:cNvPr id="8" name="Text 6"/>
          <p:cNvSpPr/>
          <p:nvPr/>
        </p:nvSpPr>
        <p:spPr>
          <a:xfrm>
            <a:off x="548640" y="4572000"/>
            <a:ext cx="5486400" cy="1280160"/>
          </a:xfrm>
          <a:prstGeom prst="rect">
            <a:avLst/>
          </a:prstGeom>
          <a:noFill/>
          <a:ln/>
        </p:spPr>
        <p:txBody>
          <a:bodyPr wrap="square" lIns="0" tIns="0" rIns="0" bIns="0" rtlCol="0" anchor="ctr"/>
          <a:lstStyle/>
          <a:p>
            <a:pPr algn="ctr"/>
            <a:r>
              <a:rPr lang="en-US" sz="2000" b="1" dirty="0">
                <a:solidFill>
                  <a:srgbClr val="E2E2E2"/>
                </a:solidFill>
                <a:latin typeface="Calibri" pitchFamily="34" charset="0"/>
                <a:ea typeface="Calibri" pitchFamily="34" charset="-122"/>
                <a:cs typeface="Calibri" pitchFamily="34" charset="-120"/>
              </a:rPr>
              <a:t>faute d'infrastructure adaptée</a:t>
            </a:r>
            <a:endParaRPr lang="en-US" sz="2000" b="1" dirty="0">
              <a:solidFill>
                <a:srgbClr val="E2E2E2"/>
              </a:solidFill>
            </a:endParaRPr>
          </a:p>
        </p:txBody>
      </p:sp>
      <p:sp>
        <p:nvSpPr>
          <p:cNvPr id="9" name="Shape 7"/>
          <p:cNvSpPr/>
          <p:nvPr/>
        </p:nvSpPr>
        <p:spPr>
          <a:xfrm>
            <a:off x="6437376" y="1737360"/>
            <a:ext cx="5486400" cy="4572000"/>
          </a:xfrm>
          <a:prstGeom prst="rect">
            <a:avLst/>
          </a:prstGeom>
          <a:solidFill>
            <a:srgbClr val="16384F"/>
          </a:solidFill>
          <a:ln w="25400">
            <a:solidFill>
              <a:srgbClr val="00A884"/>
            </a:solidFill>
            <a:prstDash val="solid"/>
          </a:ln>
        </p:spPr>
        <p:txBody>
          <a:bodyPr/>
          <a:lstStyle/>
          <a:p>
            <a:endParaRPr lang="en-US" sz="3600"/>
          </a:p>
        </p:txBody>
      </p:sp>
      <p:sp>
        <p:nvSpPr>
          <p:cNvPr id="10" name="Shape 8"/>
          <p:cNvSpPr/>
          <p:nvPr/>
        </p:nvSpPr>
        <p:spPr>
          <a:xfrm>
            <a:off x="6437376" y="1737360"/>
            <a:ext cx="5486400" cy="182880"/>
          </a:xfrm>
          <a:prstGeom prst="rect">
            <a:avLst/>
          </a:prstGeom>
          <a:solidFill>
            <a:srgbClr val="00A884"/>
          </a:solidFill>
          <a:ln w="12700">
            <a:solidFill>
              <a:srgbClr val="00A884"/>
            </a:solidFill>
            <a:prstDash val="solid"/>
          </a:ln>
        </p:spPr>
        <p:txBody>
          <a:bodyPr/>
          <a:lstStyle/>
          <a:p>
            <a:endParaRPr lang="en-US" sz="3600"/>
          </a:p>
        </p:txBody>
      </p:sp>
      <p:sp>
        <p:nvSpPr>
          <p:cNvPr id="11" name="Text 9"/>
          <p:cNvSpPr/>
          <p:nvPr/>
        </p:nvSpPr>
        <p:spPr>
          <a:xfrm>
            <a:off x="6437376" y="2011680"/>
            <a:ext cx="5486400" cy="1645920"/>
          </a:xfrm>
          <a:prstGeom prst="rect">
            <a:avLst/>
          </a:prstGeom>
          <a:noFill/>
          <a:ln/>
        </p:spPr>
        <p:txBody>
          <a:bodyPr wrap="square" lIns="0" tIns="0" rIns="0" bIns="0" rtlCol="0" anchor="ctr"/>
          <a:lstStyle/>
          <a:p>
            <a:pPr algn="ctr"/>
            <a:r>
              <a:rPr lang="en-US" sz="8000" b="1" dirty="0">
                <a:solidFill>
                  <a:srgbClr val="00A884"/>
                </a:solidFill>
                <a:latin typeface="Trebuchet MS" pitchFamily="34" charset="0"/>
                <a:ea typeface="Trebuchet MS" pitchFamily="34" charset="-122"/>
                <a:cs typeface="Trebuchet MS" pitchFamily="34" charset="-120"/>
              </a:rPr>
              <a:t>25%</a:t>
            </a:r>
            <a:endParaRPr lang="en-US" sz="8000" dirty="0"/>
          </a:p>
        </p:txBody>
      </p:sp>
      <p:sp>
        <p:nvSpPr>
          <p:cNvPr id="12" name="Text 10"/>
          <p:cNvSpPr/>
          <p:nvPr/>
        </p:nvSpPr>
        <p:spPr>
          <a:xfrm>
            <a:off x="6437376" y="3657600"/>
            <a:ext cx="5486400" cy="914400"/>
          </a:xfrm>
          <a:prstGeom prst="rect">
            <a:avLst/>
          </a:prstGeom>
          <a:noFill/>
          <a:ln/>
        </p:spPr>
        <p:txBody>
          <a:bodyPr wrap="square" lIns="0" tIns="0" rIns="0" bIns="0" rtlCol="0" anchor="ctr"/>
          <a:lstStyle/>
          <a:p>
            <a:pPr algn="ctr"/>
            <a:r>
              <a:rPr lang="en-US" sz="2600" b="1" dirty="0">
                <a:solidFill>
                  <a:srgbClr val="FFFFFF"/>
                </a:solidFill>
                <a:latin typeface="Calibri" pitchFamily="34" charset="0"/>
                <a:ea typeface="Calibri" pitchFamily="34" charset="-122"/>
                <a:cs typeface="Calibri" pitchFamily="34" charset="-120"/>
              </a:rPr>
              <a:t>d'aliments sauvables</a:t>
            </a:r>
            <a:endParaRPr lang="en-US" sz="2600" dirty="0"/>
          </a:p>
        </p:txBody>
      </p:sp>
      <p:sp>
        <p:nvSpPr>
          <p:cNvPr id="13" name="Text 11"/>
          <p:cNvSpPr/>
          <p:nvPr/>
        </p:nvSpPr>
        <p:spPr>
          <a:xfrm>
            <a:off x="6437376" y="4572000"/>
            <a:ext cx="5486400" cy="1280160"/>
          </a:xfrm>
          <a:prstGeom prst="rect">
            <a:avLst/>
          </a:prstGeom>
          <a:noFill/>
          <a:ln/>
        </p:spPr>
        <p:txBody>
          <a:bodyPr wrap="square" lIns="0" tIns="0" rIns="0" bIns="0" rtlCol="0" anchor="ctr"/>
          <a:lstStyle/>
          <a:p>
            <a:pPr algn="ctr"/>
            <a:r>
              <a:rPr lang="en-US" sz="2000" b="1" dirty="0">
                <a:solidFill>
                  <a:srgbClr val="E2E2E2"/>
                </a:solidFill>
                <a:latin typeface="Calibri" pitchFamily="34" charset="0"/>
                <a:cs typeface="Calibri" pitchFamily="34" charset="-120"/>
              </a:rPr>
              <a:t>avec un meilleur accès au stockage</a:t>
            </a:r>
          </a:p>
        </p:txBody>
      </p:sp>
      <p:sp>
        <p:nvSpPr>
          <p:cNvPr id="14" name="Shape 12"/>
          <p:cNvSpPr/>
          <p:nvPr/>
        </p:nvSpPr>
        <p:spPr>
          <a:xfrm>
            <a:off x="12326112" y="1737360"/>
            <a:ext cx="5486400" cy="4572000"/>
          </a:xfrm>
          <a:prstGeom prst="rect">
            <a:avLst/>
          </a:prstGeom>
          <a:solidFill>
            <a:srgbClr val="16384F"/>
          </a:solidFill>
          <a:ln w="25400">
            <a:solidFill>
              <a:srgbClr val="5DA8E0"/>
            </a:solidFill>
            <a:prstDash val="solid"/>
          </a:ln>
        </p:spPr>
        <p:txBody>
          <a:bodyPr/>
          <a:lstStyle/>
          <a:p>
            <a:endParaRPr lang="en-US" sz="3600"/>
          </a:p>
        </p:txBody>
      </p:sp>
      <p:sp>
        <p:nvSpPr>
          <p:cNvPr id="15" name="Shape 13"/>
          <p:cNvSpPr/>
          <p:nvPr/>
        </p:nvSpPr>
        <p:spPr>
          <a:xfrm>
            <a:off x="12326112" y="1737360"/>
            <a:ext cx="5486400" cy="182880"/>
          </a:xfrm>
          <a:prstGeom prst="rect">
            <a:avLst/>
          </a:prstGeom>
          <a:solidFill>
            <a:srgbClr val="5DA8E0"/>
          </a:solidFill>
          <a:ln w="12700">
            <a:solidFill>
              <a:srgbClr val="5DA8E0"/>
            </a:solidFill>
            <a:prstDash val="solid"/>
          </a:ln>
        </p:spPr>
        <p:txBody>
          <a:bodyPr/>
          <a:lstStyle/>
          <a:p>
            <a:endParaRPr lang="en-US" sz="3600"/>
          </a:p>
        </p:txBody>
      </p:sp>
      <p:sp>
        <p:nvSpPr>
          <p:cNvPr id="16" name="Text 14"/>
          <p:cNvSpPr/>
          <p:nvPr/>
        </p:nvSpPr>
        <p:spPr>
          <a:xfrm>
            <a:off x="12326112" y="2011680"/>
            <a:ext cx="5486400" cy="1645920"/>
          </a:xfrm>
          <a:prstGeom prst="rect">
            <a:avLst/>
          </a:prstGeom>
          <a:noFill/>
          <a:ln/>
        </p:spPr>
        <p:txBody>
          <a:bodyPr wrap="square" lIns="0" tIns="0" rIns="0" bIns="0" rtlCol="0" anchor="ctr"/>
          <a:lstStyle/>
          <a:p>
            <a:pPr algn="ctr"/>
            <a:r>
              <a:rPr lang="en-US" sz="8000" b="1" dirty="0">
                <a:solidFill>
                  <a:srgbClr val="5DA8E0"/>
                </a:solidFill>
                <a:latin typeface="Trebuchet MS" pitchFamily="34" charset="0"/>
                <a:ea typeface="Trebuchet MS" pitchFamily="34" charset="-122"/>
                <a:cs typeface="Trebuchet MS" pitchFamily="34" charset="-120"/>
              </a:rPr>
              <a:t>1er km</a:t>
            </a:r>
            <a:endParaRPr lang="en-US" sz="8000" dirty="0"/>
          </a:p>
        </p:txBody>
      </p:sp>
      <p:sp>
        <p:nvSpPr>
          <p:cNvPr id="17" name="Text 15"/>
          <p:cNvSpPr/>
          <p:nvPr/>
        </p:nvSpPr>
        <p:spPr>
          <a:xfrm>
            <a:off x="12326112" y="3657600"/>
            <a:ext cx="5486400" cy="914400"/>
          </a:xfrm>
          <a:prstGeom prst="rect">
            <a:avLst/>
          </a:prstGeom>
          <a:noFill/>
          <a:ln/>
        </p:spPr>
        <p:txBody>
          <a:bodyPr wrap="square" lIns="0" tIns="0" rIns="0" bIns="0" rtlCol="0" anchor="ctr"/>
          <a:lstStyle/>
          <a:p>
            <a:pPr algn="ctr"/>
            <a:r>
              <a:rPr lang="en-US" sz="2600" b="1" dirty="0">
                <a:solidFill>
                  <a:srgbClr val="FFFFFF"/>
                </a:solidFill>
                <a:latin typeface="Calibri" pitchFamily="34" charset="0"/>
                <a:ea typeface="Calibri" pitchFamily="34" charset="-122"/>
                <a:cs typeface="Calibri" pitchFamily="34" charset="-120"/>
              </a:rPr>
              <a:t>Zone critique</a:t>
            </a:r>
            <a:endParaRPr lang="en-US" sz="2600" dirty="0"/>
          </a:p>
        </p:txBody>
      </p:sp>
      <p:sp>
        <p:nvSpPr>
          <p:cNvPr id="18" name="Text 16"/>
          <p:cNvSpPr/>
          <p:nvPr/>
        </p:nvSpPr>
        <p:spPr>
          <a:xfrm>
            <a:off x="12326112" y="4572000"/>
            <a:ext cx="5486400" cy="1280160"/>
          </a:xfrm>
          <a:prstGeom prst="rect">
            <a:avLst/>
          </a:prstGeom>
          <a:noFill/>
          <a:ln/>
        </p:spPr>
        <p:txBody>
          <a:bodyPr wrap="square" lIns="0" tIns="0" rIns="0" bIns="0" rtlCol="0" anchor="ctr"/>
          <a:lstStyle/>
          <a:p>
            <a:pPr algn="ctr"/>
            <a:r>
              <a:rPr lang="en-US" sz="2000" b="1" dirty="0">
                <a:solidFill>
                  <a:srgbClr val="E2E2E2"/>
                </a:solidFill>
                <a:latin typeface="Calibri" pitchFamily="34" charset="0"/>
                <a:cs typeface="Calibri" pitchFamily="34" charset="-120"/>
              </a:rPr>
              <a:t>entre récolte et distribution</a:t>
            </a:r>
          </a:p>
        </p:txBody>
      </p:sp>
      <p:sp>
        <p:nvSpPr>
          <p:cNvPr id="20" name="Shape 18"/>
          <p:cNvSpPr/>
          <p:nvPr/>
        </p:nvSpPr>
        <p:spPr>
          <a:xfrm>
            <a:off x="731520" y="7406640"/>
            <a:ext cx="329184" cy="329184"/>
          </a:xfrm>
          <a:prstGeom prst="ellipse">
            <a:avLst/>
          </a:prstGeom>
          <a:solidFill>
            <a:srgbClr val="00A884"/>
          </a:solidFill>
          <a:ln w="12700">
            <a:solidFill>
              <a:srgbClr val="00A884"/>
            </a:solidFill>
            <a:prstDash val="solid"/>
          </a:ln>
        </p:spPr>
        <p:txBody>
          <a:bodyPr/>
          <a:lstStyle/>
          <a:p>
            <a:endParaRPr lang="en-US" sz="3600">
              <a:solidFill>
                <a:srgbClr val="F5A623"/>
              </a:solidFill>
            </a:endParaRPr>
          </a:p>
        </p:txBody>
      </p:sp>
      <p:sp>
        <p:nvSpPr>
          <p:cNvPr id="21" name="Text 19"/>
          <p:cNvSpPr/>
          <p:nvPr/>
        </p:nvSpPr>
        <p:spPr>
          <a:xfrm>
            <a:off x="1280160" y="7315200"/>
            <a:ext cx="15544800" cy="640080"/>
          </a:xfrm>
          <a:prstGeom prst="rect">
            <a:avLst/>
          </a:prstGeom>
          <a:noFill/>
          <a:ln/>
        </p:spPr>
        <p:txBody>
          <a:bodyPr wrap="square" lIns="0" tIns="0" rIns="0" bIns="0" rtlCol="0" anchor="ctr"/>
          <a:lstStyle/>
          <a:p>
            <a:r>
              <a:rPr lang="en-US" sz="2400" dirty="0">
                <a:solidFill>
                  <a:srgbClr val="F5A623"/>
                </a:solidFill>
                <a:latin typeface="Calibri" pitchFamily="34" charset="0"/>
                <a:ea typeface="Calibri" pitchFamily="34" charset="-122"/>
                <a:cs typeface="Calibri" pitchFamily="34" charset="-120"/>
              </a:rPr>
              <a:t>Absence d'entrepôts frigorifiques en zones rurales</a:t>
            </a:r>
            <a:endParaRPr lang="en-US" sz="2400" dirty="0">
              <a:solidFill>
                <a:srgbClr val="F5A623"/>
              </a:solidFill>
            </a:endParaRPr>
          </a:p>
        </p:txBody>
      </p:sp>
      <p:sp>
        <p:nvSpPr>
          <p:cNvPr id="22" name="Shape 20"/>
          <p:cNvSpPr/>
          <p:nvPr/>
        </p:nvSpPr>
        <p:spPr>
          <a:xfrm>
            <a:off x="731520" y="7849690"/>
            <a:ext cx="329184" cy="329184"/>
          </a:xfrm>
          <a:prstGeom prst="ellipse">
            <a:avLst/>
          </a:prstGeom>
          <a:solidFill>
            <a:srgbClr val="00A884"/>
          </a:solidFill>
          <a:ln w="12700">
            <a:solidFill>
              <a:srgbClr val="00A884"/>
            </a:solidFill>
            <a:prstDash val="solid"/>
          </a:ln>
        </p:spPr>
        <p:txBody>
          <a:bodyPr/>
          <a:lstStyle/>
          <a:p>
            <a:endParaRPr lang="en-US" sz="3600">
              <a:solidFill>
                <a:srgbClr val="F5A623"/>
              </a:solidFill>
            </a:endParaRPr>
          </a:p>
        </p:txBody>
      </p:sp>
      <p:sp>
        <p:nvSpPr>
          <p:cNvPr id="23" name="Text 21"/>
          <p:cNvSpPr/>
          <p:nvPr/>
        </p:nvSpPr>
        <p:spPr>
          <a:xfrm>
            <a:off x="1280160" y="7735824"/>
            <a:ext cx="15544800" cy="640080"/>
          </a:xfrm>
          <a:prstGeom prst="rect">
            <a:avLst/>
          </a:prstGeom>
          <a:noFill/>
          <a:ln/>
        </p:spPr>
        <p:txBody>
          <a:bodyPr wrap="square" lIns="0" tIns="0" rIns="0" bIns="0" rtlCol="0" anchor="ctr"/>
          <a:lstStyle/>
          <a:p>
            <a:r>
              <a:rPr lang="en-US" sz="2400" dirty="0">
                <a:solidFill>
                  <a:srgbClr val="F5A623"/>
                </a:solidFill>
                <a:latin typeface="Calibri" pitchFamily="34" charset="0"/>
                <a:ea typeface="Calibri" pitchFamily="34" charset="-122"/>
                <a:cs typeface="Calibri" pitchFamily="34" charset="-120"/>
              </a:rPr>
              <a:t>Petits exploitants hors-réseau électrique</a:t>
            </a:r>
            <a:endParaRPr lang="en-US" sz="2400" dirty="0">
              <a:solidFill>
                <a:srgbClr val="F5A623"/>
              </a:solidFill>
            </a:endParaRPr>
          </a:p>
        </p:txBody>
      </p:sp>
      <p:sp>
        <p:nvSpPr>
          <p:cNvPr id="24" name="Shape 22"/>
          <p:cNvSpPr/>
          <p:nvPr/>
        </p:nvSpPr>
        <p:spPr>
          <a:xfrm>
            <a:off x="731520" y="8300059"/>
            <a:ext cx="329184" cy="329184"/>
          </a:xfrm>
          <a:prstGeom prst="ellipse">
            <a:avLst/>
          </a:prstGeom>
          <a:solidFill>
            <a:srgbClr val="00A884"/>
          </a:solidFill>
          <a:ln w="12700">
            <a:solidFill>
              <a:srgbClr val="00A884"/>
            </a:solidFill>
            <a:prstDash val="solid"/>
          </a:ln>
        </p:spPr>
        <p:txBody>
          <a:bodyPr/>
          <a:lstStyle/>
          <a:p>
            <a:endParaRPr lang="en-US" sz="3600">
              <a:solidFill>
                <a:srgbClr val="F5A623"/>
              </a:solidFill>
            </a:endParaRPr>
          </a:p>
        </p:txBody>
      </p:sp>
      <p:sp>
        <p:nvSpPr>
          <p:cNvPr id="25" name="Text 23"/>
          <p:cNvSpPr/>
          <p:nvPr/>
        </p:nvSpPr>
        <p:spPr>
          <a:xfrm>
            <a:off x="1257675" y="8163762"/>
            <a:ext cx="15544800" cy="640080"/>
          </a:xfrm>
          <a:prstGeom prst="rect">
            <a:avLst/>
          </a:prstGeom>
          <a:noFill/>
          <a:ln/>
        </p:spPr>
        <p:txBody>
          <a:bodyPr wrap="square" lIns="0" tIns="0" rIns="0" bIns="0" rtlCol="0" anchor="ctr"/>
          <a:lstStyle/>
          <a:p>
            <a:r>
              <a:rPr lang="en-US" sz="2400" dirty="0">
                <a:solidFill>
                  <a:srgbClr val="F5A623"/>
                </a:solidFill>
                <a:latin typeface="Calibri" pitchFamily="34" charset="0"/>
                <a:ea typeface="Calibri" pitchFamily="34" charset="-122"/>
                <a:cs typeface="Calibri" pitchFamily="34" charset="-120"/>
              </a:rPr>
              <a:t>Pression croissante du changement climatique</a:t>
            </a:r>
            <a:endParaRPr lang="en-US" sz="2400" dirty="0">
              <a:solidFill>
                <a:srgbClr val="F5A623"/>
              </a:solidFill>
            </a:endParaRPr>
          </a:p>
        </p:txBody>
      </p:sp>
      <p:sp>
        <p:nvSpPr>
          <p:cNvPr id="26" name="AutoShape 4">
            <a:extLst>
              <a:ext uri="{FF2B5EF4-FFF2-40B4-BE49-F238E27FC236}">
                <a16:creationId xmlns:a16="http://schemas.microsoft.com/office/drawing/2014/main" id="{E207ECDE-199D-C2E2-F979-AE26E80DD07E}"/>
              </a:ext>
            </a:extLst>
          </p:cNvPr>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sp>
        <p:nvSpPr>
          <p:cNvPr id="27" name="Freeform 10">
            <a:extLst>
              <a:ext uri="{FF2B5EF4-FFF2-40B4-BE49-F238E27FC236}">
                <a16:creationId xmlns:a16="http://schemas.microsoft.com/office/drawing/2014/main" id="{2371D718-0B0E-7621-E7F6-5473026E54B9}"/>
              </a:ext>
            </a:extLst>
          </p:cNvPr>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5334000" y="12518232"/>
            <a:ext cx="8761234" cy="3747293"/>
          </a:xfrm>
          <a:prstGeom prst="rect">
            <a:avLst/>
          </a:prstGeom>
        </p:spPr>
        <p:txBody>
          <a:bodyPr lIns="0" tIns="0" rIns="0" bIns="0" rtlCol="0" anchor="t">
            <a:spAutoFit/>
          </a:bodyPr>
          <a:lstStyle/>
          <a:p>
            <a:pPr algn="l">
              <a:lnSpc>
                <a:spcPts val="5200"/>
              </a:lnSpc>
            </a:pPr>
            <a:r>
              <a:rPr lang="en-US" sz="4000" spc="-80" dirty="0">
                <a:solidFill>
                  <a:srgbClr val="000000"/>
                </a:solidFill>
                <a:latin typeface="Clear Sans"/>
                <a:ea typeface="Clear Sans"/>
                <a:cs typeface="Clear Sans"/>
                <a:sym typeface="Clear Sans"/>
              </a:rPr>
              <a:t>•Chambre </a:t>
            </a:r>
            <a:r>
              <a:rPr lang="en-US" sz="4000" spc="-80" dirty="0" err="1">
                <a:solidFill>
                  <a:srgbClr val="000000"/>
                </a:solidFill>
                <a:latin typeface="Clear Sans"/>
                <a:ea typeface="Clear Sans"/>
                <a:cs typeface="Clear Sans"/>
                <a:sym typeface="Clear Sans"/>
              </a:rPr>
              <a:t>froide</a:t>
            </a:r>
            <a:r>
              <a:rPr lang="en-US" sz="4000" spc="-80" dirty="0">
                <a:solidFill>
                  <a:srgbClr val="000000"/>
                </a:solidFill>
                <a:latin typeface="Clear Sans"/>
                <a:ea typeface="Clear Sans"/>
                <a:cs typeface="Clear Sans"/>
                <a:sym typeface="Clear Sans"/>
              </a:rPr>
              <a:t> </a:t>
            </a:r>
            <a:r>
              <a:rPr lang="en-US" sz="4000" spc="-80" dirty="0" err="1">
                <a:solidFill>
                  <a:srgbClr val="000000"/>
                </a:solidFill>
                <a:latin typeface="Clear Sans"/>
                <a:ea typeface="Clear Sans"/>
                <a:cs typeface="Clear Sans"/>
                <a:sym typeface="Clear Sans"/>
              </a:rPr>
              <a:t>solaire</a:t>
            </a:r>
            <a:r>
              <a:rPr lang="en-US" sz="4000" spc="-80" dirty="0">
                <a:solidFill>
                  <a:srgbClr val="000000"/>
                </a:solidFill>
                <a:latin typeface="Clear Sans"/>
                <a:ea typeface="Clear Sans"/>
                <a:cs typeface="Clear Sans"/>
                <a:sym typeface="Clear Sans"/>
              </a:rPr>
              <a:t> </a:t>
            </a:r>
            <a:r>
              <a:rPr lang="en-US" sz="4000" spc="-80" dirty="0" err="1">
                <a:solidFill>
                  <a:srgbClr val="000000"/>
                </a:solidFill>
                <a:latin typeface="Clear Sans"/>
                <a:ea typeface="Clear Sans"/>
                <a:cs typeface="Clear Sans"/>
                <a:sym typeface="Clear Sans"/>
              </a:rPr>
              <a:t>autonome</a:t>
            </a:r>
            <a:r>
              <a:rPr lang="en-US" sz="4000" spc="-80" dirty="0">
                <a:solidFill>
                  <a:srgbClr val="000000"/>
                </a:solidFill>
                <a:latin typeface="Clear Sans"/>
                <a:ea typeface="Clear Sans"/>
                <a:cs typeface="Clear Sans"/>
                <a:sym typeface="Clear Sans"/>
              </a:rPr>
              <a:t> et </a:t>
            </a:r>
            <a:r>
              <a:rPr lang="en-US" sz="4000" spc="-80" dirty="0" err="1">
                <a:solidFill>
                  <a:srgbClr val="000000"/>
                </a:solidFill>
                <a:latin typeface="Clear Sans"/>
                <a:ea typeface="Clear Sans"/>
                <a:cs typeface="Clear Sans"/>
                <a:sym typeface="Clear Sans"/>
              </a:rPr>
              <a:t>intelligente</a:t>
            </a:r>
            <a:endParaRPr lang="en-US" sz="4000" spc="-80" dirty="0">
              <a:solidFill>
                <a:srgbClr val="000000"/>
              </a:solidFill>
              <a:latin typeface="Clear Sans"/>
              <a:ea typeface="Clear Sans"/>
              <a:cs typeface="Clear Sans"/>
              <a:sym typeface="Clear Sans"/>
            </a:endParaRPr>
          </a:p>
          <a:p>
            <a:pPr algn="l">
              <a:lnSpc>
                <a:spcPts val="5200"/>
              </a:lnSpc>
            </a:pPr>
            <a:r>
              <a:rPr lang="en-US" sz="4000" spc="-80" dirty="0">
                <a:solidFill>
                  <a:srgbClr val="000000"/>
                </a:solidFill>
                <a:latin typeface="Clear Sans"/>
                <a:ea typeface="Clear Sans"/>
                <a:cs typeface="Clear Sans"/>
                <a:sym typeface="Clear Sans"/>
              </a:rPr>
              <a:t>•</a:t>
            </a:r>
            <a:r>
              <a:rPr lang="en-US" sz="4000" spc="-80" dirty="0" err="1">
                <a:solidFill>
                  <a:srgbClr val="000000"/>
                </a:solidFill>
                <a:latin typeface="Clear Sans"/>
                <a:ea typeface="Clear Sans"/>
                <a:cs typeface="Clear Sans"/>
                <a:sym typeface="Clear Sans"/>
              </a:rPr>
              <a:t>Réduction</a:t>
            </a:r>
            <a:r>
              <a:rPr lang="en-US" sz="4000" spc="-80" dirty="0">
                <a:solidFill>
                  <a:srgbClr val="000000"/>
                </a:solidFill>
                <a:latin typeface="Clear Sans"/>
                <a:ea typeface="Clear Sans"/>
                <a:cs typeface="Clear Sans"/>
                <a:sym typeface="Clear Sans"/>
              </a:rPr>
              <a:t> </a:t>
            </a:r>
            <a:r>
              <a:rPr lang="en-US" sz="4000" spc="-80" dirty="0" err="1">
                <a:solidFill>
                  <a:srgbClr val="000000"/>
                </a:solidFill>
                <a:latin typeface="Clear Sans"/>
                <a:ea typeface="Clear Sans"/>
                <a:cs typeface="Clear Sans"/>
                <a:sym typeface="Clear Sans"/>
              </a:rPr>
              <a:t>pertes</a:t>
            </a:r>
            <a:endParaRPr lang="en-US" sz="4000" spc="-80" dirty="0">
              <a:solidFill>
                <a:srgbClr val="000000"/>
              </a:solidFill>
              <a:latin typeface="Clear Sans"/>
              <a:ea typeface="Clear Sans"/>
              <a:cs typeface="Clear Sans"/>
              <a:sym typeface="Clear Sans"/>
            </a:endParaRPr>
          </a:p>
          <a:p>
            <a:pPr algn="l">
              <a:lnSpc>
                <a:spcPts val="5200"/>
              </a:lnSpc>
            </a:pPr>
            <a:r>
              <a:rPr lang="en-US" sz="4000" spc="-80" dirty="0">
                <a:solidFill>
                  <a:srgbClr val="000000"/>
                </a:solidFill>
                <a:latin typeface="Clear Sans"/>
                <a:ea typeface="Clear Sans"/>
                <a:cs typeface="Clear Sans"/>
                <a:sym typeface="Clear Sans"/>
              </a:rPr>
              <a:t>•</a:t>
            </a:r>
            <a:r>
              <a:rPr lang="en-US" sz="4000" spc="-80" dirty="0" err="1">
                <a:solidFill>
                  <a:srgbClr val="000000"/>
                </a:solidFill>
                <a:latin typeface="Clear Sans"/>
                <a:ea typeface="Clear Sans"/>
                <a:cs typeface="Clear Sans"/>
                <a:sym typeface="Clear Sans"/>
              </a:rPr>
              <a:t>Optimisation</a:t>
            </a:r>
            <a:r>
              <a:rPr lang="en-US" sz="4000" spc="-80" dirty="0">
                <a:solidFill>
                  <a:srgbClr val="000000"/>
                </a:solidFill>
                <a:latin typeface="Clear Sans"/>
                <a:ea typeface="Clear Sans"/>
                <a:cs typeface="Clear Sans"/>
                <a:sym typeface="Clear Sans"/>
              </a:rPr>
              <a:t> </a:t>
            </a:r>
            <a:r>
              <a:rPr lang="en-US" sz="4000" spc="-80" dirty="0" err="1">
                <a:solidFill>
                  <a:srgbClr val="000000"/>
                </a:solidFill>
                <a:latin typeface="Clear Sans"/>
                <a:ea typeface="Clear Sans"/>
                <a:cs typeface="Clear Sans"/>
                <a:sym typeface="Clear Sans"/>
              </a:rPr>
              <a:t>énergétique</a:t>
            </a:r>
            <a:endParaRPr lang="en-US" sz="4000" spc="-80" dirty="0">
              <a:solidFill>
                <a:srgbClr val="000000"/>
              </a:solidFill>
              <a:latin typeface="Clear Sans"/>
              <a:ea typeface="Clear Sans"/>
              <a:cs typeface="Clear Sans"/>
              <a:sym typeface="Clear Sans"/>
            </a:endParaRPr>
          </a:p>
          <a:p>
            <a:pPr algn="l">
              <a:lnSpc>
                <a:spcPts val="9099"/>
              </a:lnSpc>
            </a:pPr>
            <a:endParaRPr lang="en-US" sz="4000" spc="-80" dirty="0">
              <a:solidFill>
                <a:srgbClr val="000000"/>
              </a:solidFill>
              <a:latin typeface="Clear Sans"/>
              <a:ea typeface="Clear Sans"/>
              <a:cs typeface="Clear Sans"/>
              <a:sym typeface="Clear Sans"/>
            </a:endParaRPr>
          </a:p>
        </p:txBody>
      </p:sp>
      <p:grpSp>
        <p:nvGrpSpPr>
          <p:cNvPr id="5" name="Group 5"/>
          <p:cNvGrpSpPr/>
          <p:nvPr/>
        </p:nvGrpSpPr>
        <p:grpSpPr>
          <a:xfrm rot="5400000">
            <a:off x="-3460888" y="1962901"/>
            <a:ext cx="12724315" cy="6361198"/>
            <a:chOff x="0" y="0"/>
            <a:chExt cx="16965753" cy="8481598"/>
          </a:xfrm>
        </p:grpSpPr>
        <p:sp>
          <p:nvSpPr>
            <p:cNvPr id="6" name="Freeform 6"/>
            <p:cNvSpPr/>
            <p:nvPr/>
          </p:nvSpPr>
          <p:spPr>
            <a:xfrm rot="-5400000">
              <a:off x="8480553"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2"/>
                  </a:ext>
                </a:extLst>
              </a:blip>
              <a:stretch>
                <a:fillRect l="-50" r="-34"/>
              </a:stretch>
            </a:blipFill>
          </p:spPr>
          <p:txBody>
            <a:bodyPr/>
            <a:lstStyle/>
            <a:p>
              <a:endParaRPr lang="en-US"/>
            </a:p>
          </p:txBody>
        </p:sp>
        <p:sp>
          <p:nvSpPr>
            <p:cNvPr id="7" name="Freeform 7"/>
            <p:cNvSpPr/>
            <p:nvPr/>
          </p:nvSpPr>
          <p:spPr>
            <a:xfrm rot="-5400000">
              <a:off x="3602"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2"/>
                  </a:ext>
                </a:extLst>
              </a:blip>
              <a:stretch>
                <a:fillRect l="-50" r="-34"/>
              </a:stretch>
            </a:blipFill>
          </p:spPr>
          <p:txBody>
            <a:bodyPr/>
            <a:lstStyle/>
            <a:p>
              <a:endParaRPr lang="en-US"/>
            </a:p>
          </p:txBody>
        </p:sp>
      </p:grpSp>
      <p:pic>
        <p:nvPicPr>
          <p:cNvPr id="9" name="Image 8">
            <a:extLst>
              <a:ext uri="{FF2B5EF4-FFF2-40B4-BE49-F238E27FC236}">
                <a16:creationId xmlns:a16="http://schemas.microsoft.com/office/drawing/2014/main" id="{84F2CB50-339C-F495-639C-5C8CCD25E0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736" y="1104900"/>
            <a:ext cx="7489048" cy="8153400"/>
          </a:xfrm>
          <a:prstGeom prst="rect">
            <a:avLst/>
          </a:prstGeom>
        </p:spPr>
      </p:pic>
      <p:sp>
        <p:nvSpPr>
          <p:cNvPr id="10" name="TextBox 7">
            <a:extLst>
              <a:ext uri="{FF2B5EF4-FFF2-40B4-BE49-F238E27FC236}">
                <a16:creationId xmlns:a16="http://schemas.microsoft.com/office/drawing/2014/main" id="{F4115CD9-37D0-50C0-58DF-42D3A951786F}"/>
              </a:ext>
            </a:extLst>
          </p:cNvPr>
          <p:cNvSpPr txBox="1"/>
          <p:nvPr/>
        </p:nvSpPr>
        <p:spPr>
          <a:xfrm>
            <a:off x="9170233" y="3890613"/>
            <a:ext cx="7775763" cy="2582758"/>
          </a:xfrm>
          <a:prstGeom prst="rect">
            <a:avLst/>
          </a:prstGeom>
        </p:spPr>
        <p:txBody>
          <a:bodyPr lIns="0" tIns="0" rIns="0" bIns="0" rtlCol="0" anchor="t">
            <a:spAutoFit/>
          </a:bodyPr>
          <a:lstStyle/>
          <a:p>
            <a:pPr algn="l">
              <a:lnSpc>
                <a:spcPts val="9999"/>
              </a:lnSpc>
            </a:pPr>
            <a:r>
              <a:rPr lang="en-US" sz="9999" b="1" spc="-299" dirty="0">
                <a:solidFill>
                  <a:srgbClr val="010101"/>
                </a:solidFill>
                <a:latin typeface="Telegraf Medium"/>
                <a:ea typeface="Telegraf Medium"/>
                <a:cs typeface="Telegraf Medium"/>
                <a:sym typeface="Telegraf Medium"/>
              </a:rPr>
              <a:t>OBJECTIF </a:t>
            </a:r>
            <a:r>
              <a:rPr lang="en-US" sz="9999" b="1" spc="-299" dirty="0" err="1">
                <a:solidFill>
                  <a:srgbClr val="010101"/>
                </a:solidFill>
                <a:latin typeface="Telegraf Medium"/>
                <a:ea typeface="Telegraf Medium"/>
                <a:cs typeface="Telegraf Medium"/>
                <a:sym typeface="Telegraf Medium"/>
              </a:rPr>
              <a:t>GÉNÉRAL</a:t>
            </a:r>
            <a:endParaRPr lang="en-US" sz="9999" b="1" spc="-299" dirty="0">
              <a:solidFill>
                <a:srgbClr val="010101"/>
              </a:solidFill>
              <a:latin typeface="Telegraf Medium"/>
              <a:ea typeface="Telegraf Medium"/>
              <a:cs typeface="Telegraf Medium"/>
              <a:sym typeface="Telegraf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FFC000"/>
          </a:solidFill>
          <a:ln w="12700">
            <a:solidFill>
              <a:schemeClr val="accent6">
                <a:lumMod val="75000"/>
              </a:schemeClr>
            </a:solidFill>
            <a:prstDash val="solid"/>
          </a:ln>
        </p:spPr>
        <p:txBody>
          <a:bodyPr/>
          <a:lstStyle/>
          <a:p>
            <a:endParaRPr lang="en-US" sz="3600"/>
          </a:p>
        </p:txBody>
      </p:sp>
      <p:sp>
        <p:nvSpPr>
          <p:cNvPr id="3" name="Text 1"/>
          <p:cNvSpPr/>
          <p:nvPr/>
        </p:nvSpPr>
        <p:spPr>
          <a:xfrm>
            <a:off x="731520" y="0"/>
            <a:ext cx="16824960" cy="1463040"/>
          </a:xfrm>
          <a:prstGeom prst="rect">
            <a:avLst/>
          </a:prstGeom>
          <a:noFill/>
          <a:ln/>
        </p:spPr>
        <p:txBody>
          <a:bodyPr wrap="square" lIns="0" tIns="0" rIns="0" bIns="0" rtlCol="0" anchor="ctr"/>
          <a:lstStyle/>
          <a:p>
            <a:r>
              <a:rPr lang="en-US" sz="4000" b="1" dirty="0">
                <a:solidFill>
                  <a:srgbClr val="FFFFFF"/>
                </a:solidFill>
                <a:latin typeface="Trebuchet MS" pitchFamily="34" charset="0"/>
                <a:ea typeface="Trebuchet MS" pitchFamily="34" charset="-122"/>
                <a:cs typeface="Trebuchet MS" pitchFamily="34" charset="-120"/>
              </a:rPr>
              <a:t>OBJECTIF GÉNÉRAL</a:t>
            </a:r>
            <a:endParaRPr lang="en-US" sz="4000" dirty="0"/>
          </a:p>
        </p:txBody>
      </p:sp>
      <p:sp>
        <p:nvSpPr>
          <p:cNvPr id="4" name="Shape 2"/>
          <p:cNvSpPr/>
          <p:nvPr/>
        </p:nvSpPr>
        <p:spPr>
          <a:xfrm>
            <a:off x="731520" y="1737360"/>
            <a:ext cx="16824960" cy="2103120"/>
          </a:xfrm>
          <a:prstGeom prst="rect">
            <a:avLst/>
          </a:prstGeom>
          <a:solidFill>
            <a:srgbClr val="EAF6F2"/>
          </a:solidFill>
          <a:ln w="25400">
            <a:solidFill>
              <a:srgbClr val="00A884"/>
            </a:solidFill>
            <a:prstDash val="solid"/>
          </a:ln>
        </p:spPr>
        <p:txBody>
          <a:bodyPr/>
          <a:lstStyle/>
          <a:p>
            <a:endParaRPr lang="en-US" sz="3600"/>
          </a:p>
        </p:txBody>
      </p:sp>
      <p:sp>
        <p:nvSpPr>
          <p:cNvPr id="5" name="Shape 3"/>
          <p:cNvSpPr/>
          <p:nvPr/>
        </p:nvSpPr>
        <p:spPr>
          <a:xfrm>
            <a:off x="731520" y="1737360"/>
            <a:ext cx="219456" cy="2103120"/>
          </a:xfrm>
          <a:prstGeom prst="rect">
            <a:avLst/>
          </a:prstGeom>
          <a:solidFill>
            <a:srgbClr val="00A884"/>
          </a:solidFill>
          <a:ln w="12700">
            <a:solidFill>
              <a:srgbClr val="00A884"/>
            </a:solidFill>
            <a:prstDash val="solid"/>
          </a:ln>
        </p:spPr>
        <p:txBody>
          <a:bodyPr/>
          <a:lstStyle/>
          <a:p>
            <a:endParaRPr lang="en-US" sz="3600"/>
          </a:p>
        </p:txBody>
      </p:sp>
      <p:sp>
        <p:nvSpPr>
          <p:cNvPr id="6" name="Text 4"/>
          <p:cNvSpPr/>
          <p:nvPr/>
        </p:nvSpPr>
        <p:spPr>
          <a:xfrm>
            <a:off x="1188720" y="1792224"/>
            <a:ext cx="16093440" cy="1920240"/>
          </a:xfrm>
          <a:prstGeom prst="rect">
            <a:avLst/>
          </a:prstGeom>
          <a:noFill/>
          <a:ln/>
        </p:spPr>
        <p:txBody>
          <a:bodyPr wrap="square" lIns="0" tIns="0" rIns="0" bIns="0" rtlCol="0" anchor="ctr"/>
          <a:lstStyle/>
          <a:p>
            <a:r>
              <a:rPr lang="en-US" sz="2800" dirty="0">
                <a:solidFill>
                  <a:srgbClr val="102A3E"/>
                </a:solidFill>
                <a:latin typeface="Calibri" pitchFamily="34" charset="0"/>
                <a:ea typeface="Calibri" pitchFamily="34" charset="-122"/>
                <a:cs typeface="Calibri" pitchFamily="34" charset="-120"/>
              </a:rPr>
              <a:t>Développer deux conteneurs-chambres froides mobiles, connectés et alimentés</a:t>
            </a:r>
            <a:endParaRPr lang="en-US" sz="2800" dirty="0"/>
          </a:p>
          <a:p>
            <a:r>
              <a:rPr lang="en-US" sz="2800" dirty="0">
                <a:solidFill>
                  <a:srgbClr val="102A3E"/>
                </a:solidFill>
                <a:latin typeface="Calibri" pitchFamily="34" charset="0"/>
                <a:ea typeface="Calibri" pitchFamily="34" charset="-122"/>
                <a:cs typeface="Calibri" pitchFamily="34" charset="-120"/>
              </a:rPr>
              <a:t>par énergie solaire pour les petits exploitants en Tunisie.</a:t>
            </a:r>
            <a:endParaRPr lang="en-US" sz="2800" dirty="0"/>
          </a:p>
        </p:txBody>
      </p:sp>
      <p:sp>
        <p:nvSpPr>
          <p:cNvPr id="7" name="Shape 5"/>
          <p:cNvSpPr/>
          <p:nvPr/>
        </p:nvSpPr>
        <p:spPr>
          <a:xfrm>
            <a:off x="731520" y="4206240"/>
            <a:ext cx="5212080" cy="4572000"/>
          </a:xfrm>
          <a:prstGeom prst="rect">
            <a:avLst/>
          </a:prstGeom>
          <a:solidFill>
            <a:srgbClr val="102A3E"/>
          </a:solidFill>
          <a:ln w="25400">
            <a:solidFill>
              <a:srgbClr val="F5A623"/>
            </a:solidFill>
            <a:prstDash val="solid"/>
          </a:ln>
        </p:spPr>
        <p:txBody>
          <a:bodyPr/>
          <a:lstStyle/>
          <a:p>
            <a:endParaRPr lang="en-US" sz="3600"/>
          </a:p>
        </p:txBody>
      </p:sp>
      <p:sp>
        <p:nvSpPr>
          <p:cNvPr id="8" name="Shape 6"/>
          <p:cNvSpPr/>
          <p:nvPr/>
        </p:nvSpPr>
        <p:spPr>
          <a:xfrm>
            <a:off x="731520" y="4206240"/>
            <a:ext cx="5212080" cy="219456"/>
          </a:xfrm>
          <a:prstGeom prst="rect">
            <a:avLst/>
          </a:prstGeom>
          <a:solidFill>
            <a:srgbClr val="F5A623"/>
          </a:solidFill>
          <a:ln w="12700">
            <a:solidFill>
              <a:srgbClr val="F5A623"/>
            </a:solidFill>
            <a:prstDash val="solid"/>
          </a:ln>
        </p:spPr>
        <p:txBody>
          <a:bodyPr/>
          <a:lstStyle/>
          <a:p>
            <a:endParaRPr lang="en-US" sz="3600"/>
          </a:p>
        </p:txBody>
      </p:sp>
      <p:sp>
        <p:nvSpPr>
          <p:cNvPr id="10" name="Text 8"/>
          <p:cNvSpPr/>
          <p:nvPr/>
        </p:nvSpPr>
        <p:spPr>
          <a:xfrm>
            <a:off x="731520" y="5760720"/>
            <a:ext cx="5212080" cy="822960"/>
          </a:xfrm>
          <a:prstGeom prst="rect">
            <a:avLst/>
          </a:prstGeom>
          <a:noFill/>
          <a:ln/>
        </p:spPr>
        <p:txBody>
          <a:bodyPr wrap="square" lIns="0" tIns="0" rIns="0" bIns="0" rtlCol="0" anchor="ctr"/>
          <a:lstStyle/>
          <a:p>
            <a:pPr algn="ctr"/>
            <a:r>
              <a:rPr lang="en-US" sz="2600" b="1" dirty="0">
                <a:solidFill>
                  <a:srgbClr val="F5A623"/>
                </a:solidFill>
                <a:latin typeface="Trebuchet MS" pitchFamily="34" charset="0"/>
                <a:ea typeface="Trebuchet MS" pitchFamily="34" charset="-122"/>
                <a:cs typeface="Trebuchet MS" pitchFamily="34" charset="-120"/>
              </a:rPr>
              <a:t>Énergie Solaire</a:t>
            </a:r>
            <a:endParaRPr lang="en-US" sz="2600" dirty="0"/>
          </a:p>
        </p:txBody>
      </p:sp>
      <p:sp>
        <p:nvSpPr>
          <p:cNvPr id="11" name="Text 9"/>
          <p:cNvSpPr/>
          <p:nvPr/>
        </p:nvSpPr>
        <p:spPr>
          <a:xfrm>
            <a:off x="731520" y="6583680"/>
            <a:ext cx="5212080" cy="1645920"/>
          </a:xfrm>
          <a:prstGeom prst="rect">
            <a:avLst/>
          </a:prstGeom>
          <a:noFill/>
          <a:ln/>
        </p:spPr>
        <p:txBody>
          <a:bodyPr wrap="square" lIns="0" tIns="0" rIns="0" bIns="0" rtlCol="0" anchor="ctr"/>
          <a:lstStyle/>
          <a:p>
            <a:pPr algn="ctr"/>
            <a:r>
              <a:rPr lang="en-US" sz="2200" dirty="0">
                <a:solidFill>
                  <a:srgbClr val="FFFFFF"/>
                </a:solidFill>
                <a:latin typeface="Calibri" pitchFamily="34" charset="0"/>
                <a:ea typeface="Calibri" pitchFamily="34" charset="-122"/>
                <a:cs typeface="Calibri" pitchFamily="34" charset="-120"/>
              </a:rPr>
              <a:t>100% photovoltaïque</a:t>
            </a:r>
            <a:endParaRPr lang="en-US" sz="2200" dirty="0"/>
          </a:p>
          <a:p>
            <a:pPr algn="ctr"/>
            <a:r>
              <a:rPr lang="en-US" sz="2200" dirty="0">
                <a:solidFill>
                  <a:srgbClr val="FFFFFF"/>
                </a:solidFill>
                <a:latin typeface="Calibri" pitchFamily="34" charset="0"/>
                <a:ea typeface="Calibri" pitchFamily="34" charset="-122"/>
                <a:cs typeface="Calibri" pitchFamily="34" charset="-120"/>
              </a:rPr>
              <a:t>Autonomie hors-réseau</a:t>
            </a:r>
            <a:endParaRPr lang="en-US" sz="2200" dirty="0"/>
          </a:p>
        </p:txBody>
      </p:sp>
      <p:sp>
        <p:nvSpPr>
          <p:cNvPr id="12" name="Shape 10"/>
          <p:cNvSpPr/>
          <p:nvPr/>
        </p:nvSpPr>
        <p:spPr>
          <a:xfrm>
            <a:off x="6400800" y="4206240"/>
            <a:ext cx="5212080" cy="4572000"/>
          </a:xfrm>
          <a:prstGeom prst="rect">
            <a:avLst/>
          </a:prstGeom>
          <a:solidFill>
            <a:srgbClr val="102A3E"/>
          </a:solidFill>
          <a:ln w="25400">
            <a:solidFill>
              <a:srgbClr val="5DA8E0"/>
            </a:solidFill>
            <a:prstDash val="solid"/>
          </a:ln>
        </p:spPr>
        <p:txBody>
          <a:bodyPr/>
          <a:lstStyle/>
          <a:p>
            <a:endParaRPr lang="en-US" sz="3600"/>
          </a:p>
        </p:txBody>
      </p:sp>
      <p:sp>
        <p:nvSpPr>
          <p:cNvPr id="13" name="Shape 11"/>
          <p:cNvSpPr/>
          <p:nvPr/>
        </p:nvSpPr>
        <p:spPr>
          <a:xfrm>
            <a:off x="6400800" y="4206240"/>
            <a:ext cx="5212080" cy="219456"/>
          </a:xfrm>
          <a:prstGeom prst="rect">
            <a:avLst/>
          </a:prstGeom>
          <a:solidFill>
            <a:srgbClr val="5DA8E0"/>
          </a:solidFill>
          <a:ln w="12700">
            <a:solidFill>
              <a:srgbClr val="5DA8E0"/>
            </a:solidFill>
            <a:prstDash val="solid"/>
          </a:ln>
        </p:spPr>
        <p:txBody>
          <a:bodyPr/>
          <a:lstStyle/>
          <a:p>
            <a:endParaRPr lang="en-US" sz="3600"/>
          </a:p>
        </p:txBody>
      </p:sp>
      <p:sp>
        <p:nvSpPr>
          <p:cNvPr id="15" name="Text 13"/>
          <p:cNvSpPr/>
          <p:nvPr/>
        </p:nvSpPr>
        <p:spPr>
          <a:xfrm>
            <a:off x="6400800" y="5760720"/>
            <a:ext cx="5212080" cy="822960"/>
          </a:xfrm>
          <a:prstGeom prst="rect">
            <a:avLst/>
          </a:prstGeom>
          <a:noFill/>
          <a:ln/>
        </p:spPr>
        <p:txBody>
          <a:bodyPr wrap="square" lIns="0" tIns="0" rIns="0" bIns="0" rtlCol="0" anchor="ctr"/>
          <a:lstStyle/>
          <a:p>
            <a:pPr algn="ctr"/>
            <a:r>
              <a:rPr lang="en-US" sz="2600" b="1" dirty="0">
                <a:solidFill>
                  <a:srgbClr val="5DA8E0"/>
                </a:solidFill>
                <a:latin typeface="Trebuchet MS" pitchFamily="34" charset="0"/>
                <a:ea typeface="Trebuchet MS" pitchFamily="34" charset="-122"/>
                <a:cs typeface="Trebuchet MS" pitchFamily="34" charset="-120"/>
              </a:rPr>
              <a:t>Chambre Froide Mobile</a:t>
            </a:r>
            <a:endParaRPr lang="en-US" sz="2600" dirty="0"/>
          </a:p>
        </p:txBody>
      </p:sp>
      <p:sp>
        <p:nvSpPr>
          <p:cNvPr id="16" name="Text 14"/>
          <p:cNvSpPr/>
          <p:nvPr/>
        </p:nvSpPr>
        <p:spPr>
          <a:xfrm>
            <a:off x="6400800" y="6583680"/>
            <a:ext cx="5212080" cy="1645920"/>
          </a:xfrm>
          <a:prstGeom prst="rect">
            <a:avLst/>
          </a:prstGeom>
          <a:noFill/>
          <a:ln/>
        </p:spPr>
        <p:txBody>
          <a:bodyPr wrap="square" lIns="0" tIns="0" rIns="0" bIns="0" rtlCol="0" anchor="ctr"/>
          <a:lstStyle/>
          <a:p>
            <a:pPr algn="ctr"/>
            <a:r>
              <a:rPr lang="en-US" sz="2200" dirty="0">
                <a:solidFill>
                  <a:srgbClr val="FFFFFF"/>
                </a:solidFill>
                <a:latin typeface="Calibri" pitchFamily="34" charset="0"/>
                <a:ea typeface="Calibri" pitchFamily="34" charset="-122"/>
                <a:cs typeface="Calibri" pitchFamily="34" charset="-120"/>
              </a:rPr>
              <a:t>Conteneur réfrigéré</a:t>
            </a:r>
            <a:endParaRPr lang="en-US" sz="2200" dirty="0"/>
          </a:p>
          <a:p>
            <a:pPr algn="ctr"/>
            <a:r>
              <a:rPr lang="en-US" sz="2200" dirty="0">
                <a:solidFill>
                  <a:srgbClr val="FFFFFF"/>
                </a:solidFill>
                <a:latin typeface="Calibri" pitchFamily="34" charset="0"/>
                <a:ea typeface="Calibri" pitchFamily="34" charset="-122"/>
                <a:cs typeface="Calibri" pitchFamily="34" charset="-120"/>
              </a:rPr>
              <a:t>optimisé</a:t>
            </a:r>
            <a:endParaRPr lang="en-US" sz="2200" dirty="0"/>
          </a:p>
        </p:txBody>
      </p:sp>
      <p:sp>
        <p:nvSpPr>
          <p:cNvPr id="17" name="Shape 15"/>
          <p:cNvSpPr/>
          <p:nvPr/>
        </p:nvSpPr>
        <p:spPr>
          <a:xfrm>
            <a:off x="12070080" y="4206240"/>
            <a:ext cx="5212080" cy="4572000"/>
          </a:xfrm>
          <a:prstGeom prst="rect">
            <a:avLst/>
          </a:prstGeom>
          <a:solidFill>
            <a:srgbClr val="102A3E"/>
          </a:solidFill>
          <a:ln w="25400">
            <a:solidFill>
              <a:srgbClr val="00A884"/>
            </a:solidFill>
            <a:prstDash val="solid"/>
          </a:ln>
        </p:spPr>
        <p:txBody>
          <a:bodyPr/>
          <a:lstStyle/>
          <a:p>
            <a:endParaRPr lang="en-US" sz="3600"/>
          </a:p>
        </p:txBody>
      </p:sp>
      <p:sp>
        <p:nvSpPr>
          <p:cNvPr id="18" name="Shape 16"/>
          <p:cNvSpPr/>
          <p:nvPr/>
        </p:nvSpPr>
        <p:spPr>
          <a:xfrm>
            <a:off x="12070080" y="4206240"/>
            <a:ext cx="5212080" cy="219456"/>
          </a:xfrm>
          <a:prstGeom prst="rect">
            <a:avLst/>
          </a:prstGeom>
          <a:solidFill>
            <a:srgbClr val="00A884"/>
          </a:solidFill>
          <a:ln w="12700">
            <a:solidFill>
              <a:srgbClr val="00A884"/>
            </a:solidFill>
            <a:prstDash val="solid"/>
          </a:ln>
        </p:spPr>
        <p:txBody>
          <a:bodyPr/>
          <a:lstStyle/>
          <a:p>
            <a:endParaRPr lang="en-US" sz="3600"/>
          </a:p>
        </p:txBody>
      </p:sp>
      <p:sp>
        <p:nvSpPr>
          <p:cNvPr id="19" name="Text 17"/>
          <p:cNvSpPr/>
          <p:nvPr/>
        </p:nvSpPr>
        <p:spPr>
          <a:xfrm>
            <a:off x="12070080" y="4480560"/>
            <a:ext cx="5212080" cy="1280160"/>
          </a:xfrm>
          <a:prstGeom prst="rect">
            <a:avLst/>
          </a:prstGeom>
          <a:noFill/>
          <a:ln/>
        </p:spPr>
        <p:txBody>
          <a:bodyPr wrap="square" lIns="0" tIns="0" rIns="0" bIns="0" rtlCol="0" anchor="ctr"/>
          <a:lstStyle/>
          <a:p>
            <a:pPr algn="ctr"/>
            <a:r>
              <a:rPr lang="en-US" sz="5600" dirty="0">
                <a:solidFill>
                  <a:srgbClr val="000000"/>
                </a:solidFill>
              </a:rPr>
              <a:t>🌐</a:t>
            </a:r>
            <a:endParaRPr lang="en-US" sz="5600" dirty="0"/>
          </a:p>
        </p:txBody>
      </p:sp>
      <p:sp>
        <p:nvSpPr>
          <p:cNvPr id="20" name="Text 18"/>
          <p:cNvSpPr/>
          <p:nvPr/>
        </p:nvSpPr>
        <p:spPr>
          <a:xfrm>
            <a:off x="12070080" y="5760720"/>
            <a:ext cx="5212080" cy="822960"/>
          </a:xfrm>
          <a:prstGeom prst="rect">
            <a:avLst/>
          </a:prstGeom>
          <a:noFill/>
          <a:ln/>
        </p:spPr>
        <p:txBody>
          <a:bodyPr wrap="square" lIns="0" tIns="0" rIns="0" bIns="0" rtlCol="0" anchor="ctr"/>
          <a:lstStyle/>
          <a:p>
            <a:pPr algn="ctr"/>
            <a:r>
              <a:rPr lang="en-US" sz="2600" b="1" dirty="0">
                <a:solidFill>
                  <a:srgbClr val="00A884"/>
                </a:solidFill>
                <a:latin typeface="Trebuchet MS" pitchFamily="34" charset="0"/>
                <a:ea typeface="Trebuchet MS" pitchFamily="34" charset="-122"/>
                <a:cs typeface="Trebuchet MS" pitchFamily="34" charset="-120"/>
              </a:rPr>
              <a:t>Digital Twin &amp; IoT</a:t>
            </a:r>
            <a:endParaRPr lang="en-US" sz="2600" dirty="0"/>
          </a:p>
        </p:txBody>
      </p:sp>
      <p:sp>
        <p:nvSpPr>
          <p:cNvPr id="21" name="Text 19"/>
          <p:cNvSpPr/>
          <p:nvPr/>
        </p:nvSpPr>
        <p:spPr>
          <a:xfrm>
            <a:off x="12070080" y="6583680"/>
            <a:ext cx="5212080" cy="1645920"/>
          </a:xfrm>
          <a:prstGeom prst="rect">
            <a:avLst/>
          </a:prstGeom>
          <a:noFill/>
          <a:ln/>
        </p:spPr>
        <p:txBody>
          <a:bodyPr wrap="square" lIns="0" tIns="0" rIns="0" bIns="0" rtlCol="0" anchor="ctr"/>
          <a:lstStyle/>
          <a:p>
            <a:pPr algn="ctr"/>
            <a:r>
              <a:rPr lang="en-US" sz="2200" dirty="0">
                <a:solidFill>
                  <a:srgbClr val="FFFFFF"/>
                </a:solidFill>
                <a:latin typeface="Calibri" pitchFamily="34" charset="0"/>
                <a:ea typeface="Calibri" pitchFamily="34" charset="-122"/>
                <a:cs typeface="Calibri" pitchFamily="34" charset="-120"/>
              </a:rPr>
              <a:t>Gestion EMS</a:t>
            </a:r>
            <a:endParaRPr lang="en-US" sz="2200" dirty="0"/>
          </a:p>
          <a:p>
            <a:pPr algn="ctr"/>
            <a:r>
              <a:rPr lang="en-US" sz="2200" dirty="0">
                <a:solidFill>
                  <a:srgbClr val="FFFFFF"/>
                </a:solidFill>
                <a:latin typeface="Calibri" pitchFamily="34" charset="0"/>
                <a:ea typeface="Calibri" pitchFamily="34" charset="-122"/>
                <a:cs typeface="Calibri" pitchFamily="34" charset="-120"/>
              </a:rPr>
              <a:t>et marketplace</a:t>
            </a:r>
            <a:endParaRPr lang="en-US" sz="2200" dirty="0"/>
          </a:p>
        </p:txBody>
      </p:sp>
      <p:sp>
        <p:nvSpPr>
          <p:cNvPr id="22" name="Shape 20"/>
          <p:cNvSpPr/>
          <p:nvPr/>
        </p:nvSpPr>
        <p:spPr>
          <a:xfrm>
            <a:off x="731520" y="8961120"/>
            <a:ext cx="16824960" cy="768096"/>
          </a:xfrm>
          <a:prstGeom prst="rect">
            <a:avLst/>
          </a:prstGeom>
          <a:solidFill>
            <a:srgbClr val="FFF5E0"/>
          </a:solidFill>
          <a:ln w="12700">
            <a:solidFill>
              <a:srgbClr val="F5A623"/>
            </a:solidFill>
            <a:prstDash val="solid"/>
          </a:ln>
        </p:spPr>
        <p:txBody>
          <a:bodyPr/>
          <a:lstStyle/>
          <a:p>
            <a:endParaRPr lang="en-US" sz="3600"/>
          </a:p>
        </p:txBody>
      </p:sp>
      <p:sp>
        <p:nvSpPr>
          <p:cNvPr id="23" name="Text 21"/>
          <p:cNvSpPr/>
          <p:nvPr/>
        </p:nvSpPr>
        <p:spPr>
          <a:xfrm>
            <a:off x="1097280" y="8961120"/>
            <a:ext cx="16459200" cy="768096"/>
          </a:xfrm>
          <a:prstGeom prst="rect">
            <a:avLst/>
          </a:prstGeom>
          <a:noFill/>
          <a:ln/>
        </p:spPr>
        <p:txBody>
          <a:bodyPr wrap="square" lIns="0" tIns="0" rIns="0" bIns="0" rtlCol="0" anchor="ctr"/>
          <a:lstStyle/>
          <a:p>
            <a:r>
              <a:rPr lang="en-US" sz="2600" b="1" dirty="0">
                <a:solidFill>
                  <a:srgbClr val="102A3E"/>
                </a:solidFill>
                <a:latin typeface="Calibri" pitchFamily="34" charset="0"/>
                <a:ea typeface="Calibri" pitchFamily="34" charset="-122"/>
                <a:cs typeface="Calibri" pitchFamily="34" charset="-120"/>
              </a:rPr>
              <a:t>TRL visé :  Froid : 4 → 7     |     Digital Twin : 4 → 6</a:t>
            </a:r>
            <a:endParaRPr lang="en-US" sz="2600" dirty="0"/>
          </a:p>
        </p:txBody>
      </p:sp>
      <p:sp>
        <p:nvSpPr>
          <p:cNvPr id="24" name="Rectangle 1">
            <a:extLst>
              <a:ext uri="{FF2B5EF4-FFF2-40B4-BE49-F238E27FC236}">
                <a16:creationId xmlns:a16="http://schemas.microsoft.com/office/drawing/2014/main" id="{C65FDACE-8785-91B4-FE4F-211DBB67CC33}"/>
              </a:ext>
            </a:extLst>
          </p:cNvPr>
          <p:cNvSpPr>
            <a:spLocks noChangeArrowheads="1"/>
          </p:cNvSpPr>
          <p:nvPr/>
        </p:nvSpPr>
        <p:spPr bwMode="auto">
          <a:xfrm>
            <a:off x="1" y="-369330"/>
            <a:ext cx="36939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2880" tIns="91440" rIns="182880" bIns="91440" numCol="1" anchor="ctr" anchorCtr="0" compatLnSpc="1">
            <a:prstTxWarp prst="textNoShape">
              <a:avLst/>
            </a:prstTxWarp>
            <a:spAutoFit/>
          </a:bodyPr>
          <a:lstStyle/>
          <a:p>
            <a:endParaRPr lang="en-US" sz="3600"/>
          </a:p>
        </p:txBody>
      </p:sp>
      <p:pic>
        <p:nvPicPr>
          <p:cNvPr id="28" name="Image 27">
            <a:extLst>
              <a:ext uri="{FF2B5EF4-FFF2-40B4-BE49-F238E27FC236}">
                <a16:creationId xmlns:a16="http://schemas.microsoft.com/office/drawing/2014/main" id="{E3B1423D-2605-07CD-33BE-E2B7119BF9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43200" y="4660963"/>
            <a:ext cx="1066800" cy="977278"/>
          </a:xfrm>
          <a:prstGeom prst="rect">
            <a:avLst/>
          </a:prstGeom>
        </p:spPr>
      </p:pic>
      <p:pic>
        <p:nvPicPr>
          <p:cNvPr id="30" name="Image 29">
            <a:extLst>
              <a:ext uri="{FF2B5EF4-FFF2-40B4-BE49-F238E27FC236}">
                <a16:creationId xmlns:a16="http://schemas.microsoft.com/office/drawing/2014/main" id="{54F9B89A-AA5F-8284-4405-79B7E7868B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06790" y="4737354"/>
            <a:ext cx="800100" cy="876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46949-2DC6-F674-D2D1-840FB4A1EF21}"/>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8D4A8246-53F5-7289-68C4-27CD49789C85}"/>
              </a:ext>
            </a:extLst>
          </p:cNvPr>
          <p:cNvSpPr txBox="1"/>
          <p:nvPr/>
        </p:nvSpPr>
        <p:spPr>
          <a:xfrm>
            <a:off x="5334000" y="12518232"/>
            <a:ext cx="8761234" cy="3747293"/>
          </a:xfrm>
          <a:prstGeom prst="rect">
            <a:avLst/>
          </a:prstGeom>
        </p:spPr>
        <p:txBody>
          <a:bodyPr lIns="0" tIns="0" rIns="0" bIns="0" rtlCol="0" anchor="t">
            <a:spAutoFit/>
          </a:bodyPr>
          <a:lstStyle/>
          <a:p>
            <a:pPr algn="l">
              <a:lnSpc>
                <a:spcPts val="5200"/>
              </a:lnSpc>
            </a:pPr>
            <a:r>
              <a:rPr lang="en-US" sz="4000" spc="-80" dirty="0">
                <a:solidFill>
                  <a:srgbClr val="000000"/>
                </a:solidFill>
                <a:latin typeface="Clear Sans"/>
                <a:ea typeface="Clear Sans"/>
                <a:cs typeface="Clear Sans"/>
                <a:sym typeface="Clear Sans"/>
              </a:rPr>
              <a:t>•Chambre </a:t>
            </a:r>
            <a:r>
              <a:rPr lang="en-US" sz="4000" spc="-80" dirty="0" err="1">
                <a:solidFill>
                  <a:srgbClr val="000000"/>
                </a:solidFill>
                <a:latin typeface="Clear Sans"/>
                <a:ea typeface="Clear Sans"/>
                <a:cs typeface="Clear Sans"/>
                <a:sym typeface="Clear Sans"/>
              </a:rPr>
              <a:t>froide</a:t>
            </a:r>
            <a:r>
              <a:rPr lang="en-US" sz="4000" spc="-80" dirty="0">
                <a:solidFill>
                  <a:srgbClr val="000000"/>
                </a:solidFill>
                <a:latin typeface="Clear Sans"/>
                <a:ea typeface="Clear Sans"/>
                <a:cs typeface="Clear Sans"/>
                <a:sym typeface="Clear Sans"/>
              </a:rPr>
              <a:t> </a:t>
            </a:r>
            <a:r>
              <a:rPr lang="en-US" sz="4000" spc="-80" dirty="0" err="1">
                <a:solidFill>
                  <a:srgbClr val="000000"/>
                </a:solidFill>
                <a:latin typeface="Clear Sans"/>
                <a:ea typeface="Clear Sans"/>
                <a:cs typeface="Clear Sans"/>
                <a:sym typeface="Clear Sans"/>
              </a:rPr>
              <a:t>solaire</a:t>
            </a:r>
            <a:r>
              <a:rPr lang="en-US" sz="4000" spc="-80" dirty="0">
                <a:solidFill>
                  <a:srgbClr val="000000"/>
                </a:solidFill>
                <a:latin typeface="Clear Sans"/>
                <a:ea typeface="Clear Sans"/>
                <a:cs typeface="Clear Sans"/>
                <a:sym typeface="Clear Sans"/>
              </a:rPr>
              <a:t> </a:t>
            </a:r>
            <a:r>
              <a:rPr lang="en-US" sz="4000" spc="-80" dirty="0" err="1">
                <a:solidFill>
                  <a:srgbClr val="000000"/>
                </a:solidFill>
                <a:latin typeface="Clear Sans"/>
                <a:ea typeface="Clear Sans"/>
                <a:cs typeface="Clear Sans"/>
                <a:sym typeface="Clear Sans"/>
              </a:rPr>
              <a:t>autonome</a:t>
            </a:r>
            <a:r>
              <a:rPr lang="en-US" sz="4000" spc="-80" dirty="0">
                <a:solidFill>
                  <a:srgbClr val="000000"/>
                </a:solidFill>
                <a:latin typeface="Clear Sans"/>
                <a:ea typeface="Clear Sans"/>
                <a:cs typeface="Clear Sans"/>
                <a:sym typeface="Clear Sans"/>
              </a:rPr>
              <a:t> et </a:t>
            </a:r>
            <a:r>
              <a:rPr lang="en-US" sz="4000" spc="-80" dirty="0" err="1">
                <a:solidFill>
                  <a:srgbClr val="000000"/>
                </a:solidFill>
                <a:latin typeface="Clear Sans"/>
                <a:ea typeface="Clear Sans"/>
                <a:cs typeface="Clear Sans"/>
                <a:sym typeface="Clear Sans"/>
              </a:rPr>
              <a:t>intelligente</a:t>
            </a:r>
            <a:endParaRPr lang="en-US" sz="4000" spc="-80" dirty="0">
              <a:solidFill>
                <a:srgbClr val="000000"/>
              </a:solidFill>
              <a:latin typeface="Clear Sans"/>
              <a:ea typeface="Clear Sans"/>
              <a:cs typeface="Clear Sans"/>
              <a:sym typeface="Clear Sans"/>
            </a:endParaRPr>
          </a:p>
          <a:p>
            <a:pPr algn="l">
              <a:lnSpc>
                <a:spcPts val="5200"/>
              </a:lnSpc>
            </a:pPr>
            <a:r>
              <a:rPr lang="en-US" sz="4000" spc="-80" dirty="0">
                <a:solidFill>
                  <a:srgbClr val="000000"/>
                </a:solidFill>
                <a:latin typeface="Clear Sans"/>
                <a:ea typeface="Clear Sans"/>
                <a:cs typeface="Clear Sans"/>
                <a:sym typeface="Clear Sans"/>
              </a:rPr>
              <a:t>•</a:t>
            </a:r>
            <a:r>
              <a:rPr lang="en-US" sz="4000" spc="-80" dirty="0" err="1">
                <a:solidFill>
                  <a:srgbClr val="000000"/>
                </a:solidFill>
                <a:latin typeface="Clear Sans"/>
                <a:ea typeface="Clear Sans"/>
                <a:cs typeface="Clear Sans"/>
                <a:sym typeface="Clear Sans"/>
              </a:rPr>
              <a:t>Réduction</a:t>
            </a:r>
            <a:r>
              <a:rPr lang="en-US" sz="4000" spc="-80" dirty="0">
                <a:solidFill>
                  <a:srgbClr val="000000"/>
                </a:solidFill>
                <a:latin typeface="Clear Sans"/>
                <a:ea typeface="Clear Sans"/>
                <a:cs typeface="Clear Sans"/>
                <a:sym typeface="Clear Sans"/>
              </a:rPr>
              <a:t> </a:t>
            </a:r>
            <a:r>
              <a:rPr lang="en-US" sz="4000" spc="-80" dirty="0" err="1">
                <a:solidFill>
                  <a:srgbClr val="000000"/>
                </a:solidFill>
                <a:latin typeface="Clear Sans"/>
                <a:ea typeface="Clear Sans"/>
                <a:cs typeface="Clear Sans"/>
                <a:sym typeface="Clear Sans"/>
              </a:rPr>
              <a:t>pertes</a:t>
            </a:r>
            <a:endParaRPr lang="en-US" sz="4000" spc="-80" dirty="0">
              <a:solidFill>
                <a:srgbClr val="000000"/>
              </a:solidFill>
              <a:latin typeface="Clear Sans"/>
              <a:ea typeface="Clear Sans"/>
              <a:cs typeface="Clear Sans"/>
              <a:sym typeface="Clear Sans"/>
            </a:endParaRPr>
          </a:p>
          <a:p>
            <a:pPr algn="l">
              <a:lnSpc>
                <a:spcPts val="5200"/>
              </a:lnSpc>
            </a:pPr>
            <a:r>
              <a:rPr lang="en-US" sz="4000" spc="-80" dirty="0">
                <a:solidFill>
                  <a:srgbClr val="000000"/>
                </a:solidFill>
                <a:latin typeface="Clear Sans"/>
                <a:ea typeface="Clear Sans"/>
                <a:cs typeface="Clear Sans"/>
                <a:sym typeface="Clear Sans"/>
              </a:rPr>
              <a:t>•</a:t>
            </a:r>
            <a:r>
              <a:rPr lang="en-US" sz="4000" spc="-80" dirty="0" err="1">
                <a:solidFill>
                  <a:srgbClr val="000000"/>
                </a:solidFill>
                <a:latin typeface="Clear Sans"/>
                <a:ea typeface="Clear Sans"/>
                <a:cs typeface="Clear Sans"/>
                <a:sym typeface="Clear Sans"/>
              </a:rPr>
              <a:t>Optimisation</a:t>
            </a:r>
            <a:r>
              <a:rPr lang="en-US" sz="4000" spc="-80" dirty="0">
                <a:solidFill>
                  <a:srgbClr val="000000"/>
                </a:solidFill>
                <a:latin typeface="Clear Sans"/>
                <a:ea typeface="Clear Sans"/>
                <a:cs typeface="Clear Sans"/>
                <a:sym typeface="Clear Sans"/>
              </a:rPr>
              <a:t> </a:t>
            </a:r>
            <a:r>
              <a:rPr lang="en-US" sz="4000" spc="-80" dirty="0" err="1">
                <a:solidFill>
                  <a:srgbClr val="000000"/>
                </a:solidFill>
                <a:latin typeface="Clear Sans"/>
                <a:ea typeface="Clear Sans"/>
                <a:cs typeface="Clear Sans"/>
                <a:sym typeface="Clear Sans"/>
              </a:rPr>
              <a:t>énergétique</a:t>
            </a:r>
            <a:endParaRPr lang="en-US" sz="4000" spc="-80" dirty="0">
              <a:solidFill>
                <a:srgbClr val="000000"/>
              </a:solidFill>
              <a:latin typeface="Clear Sans"/>
              <a:ea typeface="Clear Sans"/>
              <a:cs typeface="Clear Sans"/>
              <a:sym typeface="Clear Sans"/>
            </a:endParaRPr>
          </a:p>
          <a:p>
            <a:pPr algn="l">
              <a:lnSpc>
                <a:spcPts val="9099"/>
              </a:lnSpc>
            </a:pPr>
            <a:endParaRPr lang="en-US" sz="4000" spc="-80" dirty="0">
              <a:solidFill>
                <a:srgbClr val="000000"/>
              </a:solidFill>
              <a:latin typeface="Clear Sans"/>
              <a:ea typeface="Clear Sans"/>
              <a:cs typeface="Clear Sans"/>
              <a:sym typeface="Clear Sans"/>
            </a:endParaRPr>
          </a:p>
        </p:txBody>
      </p:sp>
      <p:grpSp>
        <p:nvGrpSpPr>
          <p:cNvPr id="5" name="Group 5">
            <a:extLst>
              <a:ext uri="{FF2B5EF4-FFF2-40B4-BE49-F238E27FC236}">
                <a16:creationId xmlns:a16="http://schemas.microsoft.com/office/drawing/2014/main" id="{4817D417-A718-BA1A-8B45-B1B4250C8893}"/>
              </a:ext>
            </a:extLst>
          </p:cNvPr>
          <p:cNvGrpSpPr/>
          <p:nvPr/>
        </p:nvGrpSpPr>
        <p:grpSpPr>
          <a:xfrm rot="5400000">
            <a:off x="-3460888" y="1962901"/>
            <a:ext cx="12724315" cy="6361198"/>
            <a:chOff x="0" y="0"/>
            <a:chExt cx="16965753" cy="8481598"/>
          </a:xfrm>
        </p:grpSpPr>
        <p:sp>
          <p:nvSpPr>
            <p:cNvPr id="6" name="Freeform 6">
              <a:extLst>
                <a:ext uri="{FF2B5EF4-FFF2-40B4-BE49-F238E27FC236}">
                  <a16:creationId xmlns:a16="http://schemas.microsoft.com/office/drawing/2014/main" id="{776896C2-2430-AB08-8D65-20E8F347F0F3}"/>
                </a:ext>
              </a:extLst>
            </p:cNvPr>
            <p:cNvSpPr/>
            <p:nvPr/>
          </p:nvSpPr>
          <p:spPr>
            <a:xfrm rot="-5400000">
              <a:off x="8480553"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2"/>
                  </a:ext>
                </a:extLst>
              </a:blip>
              <a:stretch>
                <a:fillRect l="-50" r="-34"/>
              </a:stretch>
            </a:blipFill>
          </p:spPr>
          <p:txBody>
            <a:bodyPr/>
            <a:lstStyle/>
            <a:p>
              <a:endParaRPr lang="en-US"/>
            </a:p>
          </p:txBody>
        </p:sp>
        <p:sp>
          <p:nvSpPr>
            <p:cNvPr id="7" name="Freeform 7">
              <a:extLst>
                <a:ext uri="{FF2B5EF4-FFF2-40B4-BE49-F238E27FC236}">
                  <a16:creationId xmlns:a16="http://schemas.microsoft.com/office/drawing/2014/main" id="{FAB6C907-9D52-EB3B-51AE-61CBAB96A6AE}"/>
                </a:ext>
              </a:extLst>
            </p:cNvPr>
            <p:cNvSpPr/>
            <p:nvPr/>
          </p:nvSpPr>
          <p:spPr>
            <a:xfrm rot="-5400000">
              <a:off x="3602"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2"/>
                  </a:ext>
                </a:extLst>
              </a:blip>
              <a:stretch>
                <a:fillRect l="-50" r="-34"/>
              </a:stretch>
            </a:blipFill>
          </p:spPr>
          <p:txBody>
            <a:bodyPr/>
            <a:lstStyle/>
            <a:p>
              <a:endParaRPr lang="en-US"/>
            </a:p>
          </p:txBody>
        </p:sp>
      </p:grpSp>
      <p:sp>
        <p:nvSpPr>
          <p:cNvPr id="2" name="TextBox 7">
            <a:extLst>
              <a:ext uri="{FF2B5EF4-FFF2-40B4-BE49-F238E27FC236}">
                <a16:creationId xmlns:a16="http://schemas.microsoft.com/office/drawing/2014/main" id="{50CB3CB1-1217-973C-1D07-6D524B15B379}"/>
              </a:ext>
            </a:extLst>
          </p:cNvPr>
          <p:cNvSpPr txBox="1"/>
          <p:nvPr/>
        </p:nvSpPr>
        <p:spPr>
          <a:xfrm>
            <a:off x="895135" y="2445144"/>
            <a:ext cx="3770580" cy="303516"/>
          </a:xfrm>
          <a:prstGeom prst="rect">
            <a:avLst/>
          </a:prstGeom>
        </p:spPr>
        <p:txBody>
          <a:bodyPr lIns="0" tIns="0" rIns="0" bIns="0" rtlCol="0" anchor="t">
            <a:spAutoFit/>
          </a:bodyPr>
          <a:lstStyle/>
          <a:p>
            <a:pPr algn="l">
              <a:lnSpc>
                <a:spcPts val="2339"/>
              </a:lnSpc>
            </a:pPr>
            <a:r>
              <a:rPr lang="en-US" sz="2033" b="1">
                <a:solidFill>
                  <a:srgbClr val="FFFFFF"/>
                </a:solidFill>
                <a:latin typeface="Canva Sans Bold"/>
                <a:ea typeface="Canva Sans Bold"/>
                <a:cs typeface="Canva Sans Bold"/>
                <a:sym typeface="Canva Sans Bold"/>
              </a:rPr>
              <a:t>Budget Constraint</a:t>
            </a:r>
          </a:p>
        </p:txBody>
      </p:sp>
      <p:sp>
        <p:nvSpPr>
          <p:cNvPr id="3" name="TextBox 8">
            <a:extLst>
              <a:ext uri="{FF2B5EF4-FFF2-40B4-BE49-F238E27FC236}">
                <a16:creationId xmlns:a16="http://schemas.microsoft.com/office/drawing/2014/main" id="{D38EE336-22FF-8DF0-5EDD-5779350C4014}"/>
              </a:ext>
            </a:extLst>
          </p:cNvPr>
          <p:cNvSpPr txBox="1"/>
          <p:nvPr/>
        </p:nvSpPr>
        <p:spPr>
          <a:xfrm>
            <a:off x="895135" y="2908245"/>
            <a:ext cx="4525931" cy="1132596"/>
          </a:xfrm>
          <a:prstGeom prst="rect">
            <a:avLst/>
          </a:prstGeom>
        </p:spPr>
        <p:txBody>
          <a:bodyPr lIns="0" tIns="0" rIns="0" bIns="0" rtlCol="0" anchor="t">
            <a:spAutoFit/>
          </a:bodyPr>
          <a:lstStyle/>
          <a:p>
            <a:pPr algn="l">
              <a:lnSpc>
                <a:spcPts val="2253"/>
              </a:lnSpc>
            </a:pPr>
            <a:r>
              <a:rPr lang="en-US" sz="1877">
                <a:solidFill>
                  <a:srgbClr val="FFFFFF"/>
                </a:solidFill>
                <a:latin typeface="Proxima Nova Light"/>
                <a:ea typeface="Proxima Nova Light"/>
                <a:cs typeface="Proxima Nova Light"/>
                <a:sym typeface="Proxima Nova Light"/>
              </a:rPr>
              <a:t>Lorem ipsum dolor sit amet, consectetur adipiscing elit. Quisque blandit finibus leo nec elementum. Phasellus hendrerit risus non lobortis posuere.</a:t>
            </a:r>
          </a:p>
        </p:txBody>
      </p:sp>
      <p:grpSp>
        <p:nvGrpSpPr>
          <p:cNvPr id="8" name="Group 9">
            <a:extLst>
              <a:ext uri="{FF2B5EF4-FFF2-40B4-BE49-F238E27FC236}">
                <a16:creationId xmlns:a16="http://schemas.microsoft.com/office/drawing/2014/main" id="{3474442F-A910-C809-EA84-0E49E8457C8F}"/>
              </a:ext>
            </a:extLst>
          </p:cNvPr>
          <p:cNvGrpSpPr/>
          <p:nvPr/>
        </p:nvGrpSpPr>
        <p:grpSpPr>
          <a:xfrm>
            <a:off x="693137" y="2117940"/>
            <a:ext cx="5168367" cy="3569293"/>
            <a:chOff x="0" y="0"/>
            <a:chExt cx="1740045" cy="1201682"/>
          </a:xfrm>
        </p:grpSpPr>
        <p:sp>
          <p:nvSpPr>
            <p:cNvPr id="11" name="Freeform 10">
              <a:extLst>
                <a:ext uri="{FF2B5EF4-FFF2-40B4-BE49-F238E27FC236}">
                  <a16:creationId xmlns:a16="http://schemas.microsoft.com/office/drawing/2014/main" id="{4DA9A78E-6A18-C738-0E08-CD28CA7B0EC7}"/>
                </a:ext>
              </a:extLst>
            </p:cNvPr>
            <p:cNvSpPr/>
            <p:nvPr/>
          </p:nvSpPr>
          <p:spPr>
            <a:xfrm>
              <a:off x="0" y="0"/>
              <a:ext cx="1740045" cy="1201682"/>
            </a:xfrm>
            <a:custGeom>
              <a:avLst/>
              <a:gdLst/>
              <a:ahLst/>
              <a:cxnLst/>
              <a:rect l="l" t="t" r="r" b="b"/>
              <a:pathLst>
                <a:path w="1740045" h="1201682">
                  <a:moveTo>
                    <a:pt x="59918" y="0"/>
                  </a:moveTo>
                  <a:lnTo>
                    <a:pt x="1680128" y="0"/>
                  </a:lnTo>
                  <a:cubicBezTo>
                    <a:pt x="1713219" y="0"/>
                    <a:pt x="1740045" y="26826"/>
                    <a:pt x="1740045" y="59918"/>
                  </a:cubicBezTo>
                  <a:lnTo>
                    <a:pt x="1740045" y="1141764"/>
                  </a:lnTo>
                  <a:cubicBezTo>
                    <a:pt x="1740045" y="1157655"/>
                    <a:pt x="1733733" y="1172895"/>
                    <a:pt x="1722496" y="1184132"/>
                  </a:cubicBezTo>
                  <a:cubicBezTo>
                    <a:pt x="1711259" y="1195369"/>
                    <a:pt x="1696019" y="1201682"/>
                    <a:pt x="1680128" y="1201682"/>
                  </a:cubicBezTo>
                  <a:lnTo>
                    <a:pt x="59918" y="1201682"/>
                  </a:lnTo>
                  <a:cubicBezTo>
                    <a:pt x="26826" y="1201682"/>
                    <a:pt x="0" y="1174856"/>
                    <a:pt x="0" y="1141764"/>
                  </a:cubicBezTo>
                  <a:lnTo>
                    <a:pt x="0" y="59918"/>
                  </a:lnTo>
                  <a:cubicBezTo>
                    <a:pt x="0" y="26826"/>
                    <a:pt x="26826" y="0"/>
                    <a:pt x="59918" y="0"/>
                  </a:cubicBezTo>
                  <a:close/>
                </a:path>
              </a:pathLst>
            </a:custGeom>
            <a:gradFill rotWithShape="1">
              <a:gsLst>
                <a:gs pos="0">
                  <a:srgbClr val="1F72FF">
                    <a:alpha val="100000"/>
                  </a:srgbClr>
                </a:gs>
                <a:gs pos="100000">
                  <a:srgbClr val="0050AD">
                    <a:alpha val="100000"/>
                  </a:srgbClr>
                </a:gs>
              </a:gsLst>
              <a:path path="circle">
                <a:fillToRect r="100000" b="100000"/>
              </a:path>
              <a:tileRect l="-100000" t="-100000"/>
            </a:gradFill>
          </p:spPr>
          <p:txBody>
            <a:bodyPr/>
            <a:lstStyle/>
            <a:p>
              <a:endParaRPr lang="en-US"/>
            </a:p>
          </p:txBody>
        </p:sp>
        <p:sp>
          <p:nvSpPr>
            <p:cNvPr id="12" name="TextBox 11">
              <a:extLst>
                <a:ext uri="{FF2B5EF4-FFF2-40B4-BE49-F238E27FC236}">
                  <a16:creationId xmlns:a16="http://schemas.microsoft.com/office/drawing/2014/main" id="{2A7E1AEB-6462-E3BC-1C27-0DECC132B1FB}"/>
                </a:ext>
              </a:extLst>
            </p:cNvPr>
            <p:cNvSpPr txBox="1"/>
            <p:nvPr/>
          </p:nvSpPr>
          <p:spPr>
            <a:xfrm>
              <a:off x="0" y="19050"/>
              <a:ext cx="1740045" cy="1182632"/>
            </a:xfrm>
            <a:prstGeom prst="rect">
              <a:avLst/>
            </a:prstGeom>
          </p:spPr>
          <p:txBody>
            <a:bodyPr lIns="39740" tIns="39740" rIns="39740" bIns="39740" rtlCol="0" anchor="ctr"/>
            <a:lstStyle/>
            <a:p>
              <a:pPr algn="ctr">
                <a:lnSpc>
                  <a:spcPts val="2760"/>
                </a:lnSpc>
              </a:pPr>
              <a:endParaRPr/>
            </a:p>
          </p:txBody>
        </p:sp>
      </p:grpSp>
      <p:grpSp>
        <p:nvGrpSpPr>
          <p:cNvPr id="13" name="Group 12">
            <a:extLst>
              <a:ext uri="{FF2B5EF4-FFF2-40B4-BE49-F238E27FC236}">
                <a16:creationId xmlns:a16="http://schemas.microsoft.com/office/drawing/2014/main" id="{6CD64FAE-F1F7-C4BA-6B89-219BCCF83257}"/>
              </a:ext>
            </a:extLst>
          </p:cNvPr>
          <p:cNvGrpSpPr/>
          <p:nvPr/>
        </p:nvGrpSpPr>
        <p:grpSpPr>
          <a:xfrm>
            <a:off x="1166997" y="6324400"/>
            <a:ext cx="4547297" cy="2478255"/>
            <a:chOff x="0" y="0"/>
            <a:chExt cx="1421924" cy="774942"/>
          </a:xfrm>
        </p:grpSpPr>
        <p:sp>
          <p:nvSpPr>
            <p:cNvPr id="14" name="Freeform 13">
              <a:extLst>
                <a:ext uri="{FF2B5EF4-FFF2-40B4-BE49-F238E27FC236}">
                  <a16:creationId xmlns:a16="http://schemas.microsoft.com/office/drawing/2014/main" id="{C43881DB-7FC1-B636-0615-8CAB5E7B66CB}"/>
                </a:ext>
              </a:extLst>
            </p:cNvPr>
            <p:cNvSpPr/>
            <p:nvPr/>
          </p:nvSpPr>
          <p:spPr>
            <a:xfrm>
              <a:off x="0" y="0"/>
              <a:ext cx="1421924" cy="774942"/>
            </a:xfrm>
            <a:custGeom>
              <a:avLst/>
              <a:gdLst/>
              <a:ahLst/>
              <a:cxnLst/>
              <a:rect l="l" t="t" r="r" b="b"/>
              <a:pathLst>
                <a:path w="1421924" h="774942">
                  <a:moveTo>
                    <a:pt x="68101" y="0"/>
                  </a:moveTo>
                  <a:lnTo>
                    <a:pt x="1353823" y="0"/>
                  </a:lnTo>
                  <a:cubicBezTo>
                    <a:pt x="1371885" y="0"/>
                    <a:pt x="1389207" y="7175"/>
                    <a:pt x="1401978" y="19946"/>
                  </a:cubicBezTo>
                  <a:cubicBezTo>
                    <a:pt x="1414749" y="32718"/>
                    <a:pt x="1421924" y="50040"/>
                    <a:pt x="1421924" y="68101"/>
                  </a:cubicBezTo>
                  <a:lnTo>
                    <a:pt x="1421924" y="706841"/>
                  </a:lnTo>
                  <a:cubicBezTo>
                    <a:pt x="1421924" y="724902"/>
                    <a:pt x="1414749" y="742224"/>
                    <a:pt x="1401978" y="754996"/>
                  </a:cubicBezTo>
                  <a:cubicBezTo>
                    <a:pt x="1389207" y="767767"/>
                    <a:pt x="1371885" y="774942"/>
                    <a:pt x="1353823" y="774942"/>
                  </a:cubicBezTo>
                  <a:lnTo>
                    <a:pt x="68101" y="774942"/>
                  </a:lnTo>
                  <a:cubicBezTo>
                    <a:pt x="50040" y="774942"/>
                    <a:pt x="32718" y="767767"/>
                    <a:pt x="19946" y="754996"/>
                  </a:cubicBezTo>
                  <a:cubicBezTo>
                    <a:pt x="7175" y="742224"/>
                    <a:pt x="0" y="724902"/>
                    <a:pt x="0" y="706841"/>
                  </a:cubicBezTo>
                  <a:lnTo>
                    <a:pt x="0" y="68101"/>
                  </a:lnTo>
                  <a:cubicBezTo>
                    <a:pt x="0" y="50040"/>
                    <a:pt x="7175" y="32718"/>
                    <a:pt x="19946" y="19946"/>
                  </a:cubicBezTo>
                  <a:cubicBezTo>
                    <a:pt x="32718" y="7175"/>
                    <a:pt x="50040" y="0"/>
                    <a:pt x="68101" y="0"/>
                  </a:cubicBezTo>
                  <a:close/>
                </a:path>
              </a:pathLst>
            </a:custGeom>
            <a:blipFill>
              <a:blip r:embed="rId3"/>
              <a:stretch>
                <a:fillRect l="-2362" r="-2362"/>
              </a:stretch>
            </a:blipFill>
          </p:spPr>
          <p:txBody>
            <a:bodyPr/>
            <a:lstStyle/>
            <a:p>
              <a:endParaRPr lang="en-US"/>
            </a:p>
          </p:txBody>
        </p:sp>
      </p:grpSp>
      <p:grpSp>
        <p:nvGrpSpPr>
          <p:cNvPr id="15" name="Group 14">
            <a:extLst>
              <a:ext uri="{FF2B5EF4-FFF2-40B4-BE49-F238E27FC236}">
                <a16:creationId xmlns:a16="http://schemas.microsoft.com/office/drawing/2014/main" id="{55E45BC7-65B9-18BC-732A-A2919E84830A}"/>
              </a:ext>
            </a:extLst>
          </p:cNvPr>
          <p:cNvGrpSpPr/>
          <p:nvPr/>
        </p:nvGrpSpPr>
        <p:grpSpPr>
          <a:xfrm>
            <a:off x="6585659" y="2117940"/>
            <a:ext cx="5116681" cy="3569293"/>
            <a:chOff x="0" y="0"/>
            <a:chExt cx="6822242" cy="4759058"/>
          </a:xfrm>
        </p:grpSpPr>
        <p:grpSp>
          <p:nvGrpSpPr>
            <p:cNvPr id="16" name="Group 15">
              <a:extLst>
                <a:ext uri="{FF2B5EF4-FFF2-40B4-BE49-F238E27FC236}">
                  <a16:creationId xmlns:a16="http://schemas.microsoft.com/office/drawing/2014/main" id="{2B18FBA9-2460-A0A6-3079-AD0486DA7F4D}"/>
                </a:ext>
              </a:extLst>
            </p:cNvPr>
            <p:cNvGrpSpPr/>
            <p:nvPr/>
          </p:nvGrpSpPr>
          <p:grpSpPr>
            <a:xfrm>
              <a:off x="0" y="0"/>
              <a:ext cx="6668419" cy="4605235"/>
              <a:chOff x="0" y="0"/>
              <a:chExt cx="1740045" cy="1201682"/>
            </a:xfrm>
          </p:grpSpPr>
          <p:sp>
            <p:nvSpPr>
              <p:cNvPr id="24" name="Freeform 16">
                <a:extLst>
                  <a:ext uri="{FF2B5EF4-FFF2-40B4-BE49-F238E27FC236}">
                    <a16:creationId xmlns:a16="http://schemas.microsoft.com/office/drawing/2014/main" id="{EC223354-A62D-2344-D8EA-F8C0BB1695B0}"/>
                  </a:ext>
                </a:extLst>
              </p:cNvPr>
              <p:cNvSpPr/>
              <p:nvPr/>
            </p:nvSpPr>
            <p:spPr>
              <a:xfrm>
                <a:off x="0" y="0"/>
                <a:ext cx="1740045" cy="1201682"/>
              </a:xfrm>
              <a:custGeom>
                <a:avLst/>
                <a:gdLst/>
                <a:ahLst/>
                <a:cxnLst/>
                <a:rect l="l" t="t" r="r" b="b"/>
                <a:pathLst>
                  <a:path w="1740045" h="1201682">
                    <a:moveTo>
                      <a:pt x="46873" y="0"/>
                    </a:moveTo>
                    <a:lnTo>
                      <a:pt x="1693172" y="0"/>
                    </a:lnTo>
                    <a:cubicBezTo>
                      <a:pt x="1705604" y="0"/>
                      <a:pt x="1717526" y="4938"/>
                      <a:pt x="1726317" y="13729"/>
                    </a:cubicBezTo>
                    <a:cubicBezTo>
                      <a:pt x="1735107" y="22519"/>
                      <a:pt x="1740045" y="34441"/>
                      <a:pt x="1740045" y="46873"/>
                    </a:cubicBezTo>
                    <a:lnTo>
                      <a:pt x="1740045" y="1154809"/>
                    </a:lnTo>
                    <a:cubicBezTo>
                      <a:pt x="1740045" y="1167240"/>
                      <a:pt x="1735107" y="1179163"/>
                      <a:pt x="1726317" y="1187953"/>
                    </a:cubicBezTo>
                    <a:cubicBezTo>
                      <a:pt x="1717526" y="1196743"/>
                      <a:pt x="1705604" y="1201682"/>
                      <a:pt x="1693172" y="1201682"/>
                    </a:cubicBezTo>
                    <a:lnTo>
                      <a:pt x="46873" y="1201682"/>
                    </a:lnTo>
                    <a:cubicBezTo>
                      <a:pt x="34441" y="1201682"/>
                      <a:pt x="22519" y="1196743"/>
                      <a:pt x="13729" y="1187953"/>
                    </a:cubicBezTo>
                    <a:cubicBezTo>
                      <a:pt x="4938" y="1179163"/>
                      <a:pt x="0" y="1167240"/>
                      <a:pt x="0" y="1154809"/>
                    </a:cubicBezTo>
                    <a:lnTo>
                      <a:pt x="0" y="46873"/>
                    </a:lnTo>
                    <a:cubicBezTo>
                      <a:pt x="0" y="34441"/>
                      <a:pt x="4938" y="22519"/>
                      <a:pt x="13729" y="13729"/>
                    </a:cubicBezTo>
                    <a:cubicBezTo>
                      <a:pt x="22519" y="4938"/>
                      <a:pt x="34441" y="0"/>
                      <a:pt x="46873" y="0"/>
                    </a:cubicBezTo>
                    <a:close/>
                  </a:path>
                </a:pathLst>
              </a:custGeom>
              <a:gradFill rotWithShape="1">
                <a:gsLst>
                  <a:gs pos="0">
                    <a:srgbClr val="1F72FF">
                      <a:alpha val="100000"/>
                    </a:srgbClr>
                  </a:gs>
                  <a:gs pos="100000">
                    <a:srgbClr val="0050AD">
                      <a:alpha val="100000"/>
                    </a:srgbClr>
                  </a:gs>
                </a:gsLst>
                <a:path path="circle">
                  <a:fillToRect r="100000" b="100000"/>
                </a:path>
                <a:tileRect l="-100000" t="-100000"/>
              </a:gradFill>
            </p:spPr>
            <p:txBody>
              <a:bodyPr/>
              <a:lstStyle/>
              <a:p>
                <a:endParaRPr lang="en-US"/>
              </a:p>
            </p:txBody>
          </p:sp>
          <p:sp>
            <p:nvSpPr>
              <p:cNvPr id="25" name="TextBox 17">
                <a:extLst>
                  <a:ext uri="{FF2B5EF4-FFF2-40B4-BE49-F238E27FC236}">
                    <a16:creationId xmlns:a16="http://schemas.microsoft.com/office/drawing/2014/main" id="{45C84A0A-3D5A-27B4-BE20-82D99955BC08}"/>
                  </a:ext>
                </a:extLst>
              </p:cNvPr>
              <p:cNvSpPr txBox="1"/>
              <p:nvPr/>
            </p:nvSpPr>
            <p:spPr>
              <a:xfrm>
                <a:off x="0" y="19050"/>
                <a:ext cx="1740045" cy="1182632"/>
              </a:xfrm>
              <a:prstGeom prst="rect">
                <a:avLst/>
              </a:prstGeom>
            </p:spPr>
            <p:txBody>
              <a:bodyPr lIns="50800" tIns="50800" rIns="50800" bIns="50800" rtlCol="0" anchor="ctr"/>
              <a:lstStyle/>
              <a:p>
                <a:pPr algn="ctr">
                  <a:lnSpc>
                    <a:spcPts val="2760"/>
                  </a:lnSpc>
                </a:pPr>
                <a:endParaRPr/>
              </a:p>
            </p:txBody>
          </p:sp>
        </p:grpSp>
        <p:sp>
          <p:nvSpPr>
            <p:cNvPr id="17" name="TextBox 18">
              <a:extLst>
                <a:ext uri="{FF2B5EF4-FFF2-40B4-BE49-F238E27FC236}">
                  <a16:creationId xmlns:a16="http://schemas.microsoft.com/office/drawing/2014/main" id="{B2D1ADE8-4995-83E2-4DAA-25D427D2D05F}"/>
                </a:ext>
              </a:extLst>
            </p:cNvPr>
            <p:cNvSpPr txBox="1"/>
            <p:nvPr/>
          </p:nvSpPr>
          <p:spPr>
            <a:xfrm>
              <a:off x="414447" y="431696"/>
              <a:ext cx="4864942" cy="382083"/>
            </a:xfrm>
            <a:prstGeom prst="rect">
              <a:avLst/>
            </a:prstGeom>
          </p:spPr>
          <p:txBody>
            <a:bodyPr lIns="0" tIns="0" rIns="0" bIns="0" rtlCol="0" anchor="t">
              <a:spAutoFit/>
            </a:bodyPr>
            <a:lstStyle/>
            <a:p>
              <a:pPr algn="l">
                <a:lnSpc>
                  <a:spcPts val="2263"/>
                </a:lnSpc>
              </a:pPr>
              <a:r>
                <a:rPr lang="en-US" sz="1968" b="1">
                  <a:solidFill>
                    <a:srgbClr val="FFFFFF"/>
                  </a:solidFill>
                  <a:latin typeface="Canva Sans Bold"/>
                  <a:ea typeface="Canva Sans Bold"/>
                  <a:cs typeface="Canva Sans Bold"/>
                  <a:sym typeface="Canva Sans Bold"/>
                </a:rPr>
                <a:t>Budget Constraint</a:t>
              </a:r>
            </a:p>
          </p:txBody>
        </p:sp>
        <p:sp>
          <p:nvSpPr>
            <p:cNvPr id="18" name="TextBox 19">
              <a:extLst>
                <a:ext uri="{FF2B5EF4-FFF2-40B4-BE49-F238E27FC236}">
                  <a16:creationId xmlns:a16="http://schemas.microsoft.com/office/drawing/2014/main" id="{336A6DA6-4F52-F54E-7EE1-43A1510603FC}"/>
                </a:ext>
              </a:extLst>
            </p:cNvPr>
            <p:cNvSpPr txBox="1"/>
            <p:nvPr/>
          </p:nvSpPr>
          <p:spPr>
            <a:xfrm>
              <a:off x="414447" y="1019681"/>
              <a:ext cx="5839525" cy="1461318"/>
            </a:xfrm>
            <a:prstGeom prst="rect">
              <a:avLst/>
            </a:prstGeom>
          </p:spPr>
          <p:txBody>
            <a:bodyPr lIns="0" tIns="0" rIns="0" bIns="0" rtlCol="0" anchor="t">
              <a:spAutoFit/>
            </a:bodyPr>
            <a:lstStyle/>
            <a:p>
              <a:pPr algn="l">
                <a:lnSpc>
                  <a:spcPts val="2180"/>
                </a:lnSpc>
              </a:pPr>
              <a:r>
                <a:rPr lang="en-US" sz="1816">
                  <a:solidFill>
                    <a:srgbClr val="FFFFFF"/>
                  </a:solidFill>
                  <a:latin typeface="Proxima Nova Light"/>
                  <a:ea typeface="Proxima Nova Light"/>
                  <a:cs typeface="Proxima Nova Light"/>
                  <a:sym typeface="Proxima Nova Light"/>
                </a:rPr>
                <a:t>Lorem ipsum dolor sit amet, consectetur adipiscing elit. Quisque blandit finibus leo nec elementum. Phasellus hendrerit risus non lobortis posuere.</a:t>
              </a:r>
            </a:p>
          </p:txBody>
        </p:sp>
        <p:grpSp>
          <p:nvGrpSpPr>
            <p:cNvPr id="19" name="Group 20">
              <a:extLst>
                <a:ext uri="{FF2B5EF4-FFF2-40B4-BE49-F238E27FC236}">
                  <a16:creationId xmlns:a16="http://schemas.microsoft.com/office/drawing/2014/main" id="{5B0BD0B7-2F02-AF33-CE08-C305ED3A8C4B}"/>
                </a:ext>
              </a:extLst>
            </p:cNvPr>
            <p:cNvGrpSpPr/>
            <p:nvPr/>
          </p:nvGrpSpPr>
          <p:grpSpPr>
            <a:xfrm>
              <a:off x="153823" y="153823"/>
              <a:ext cx="6668419" cy="4605235"/>
              <a:chOff x="0" y="0"/>
              <a:chExt cx="1740045" cy="1201682"/>
            </a:xfrm>
          </p:grpSpPr>
          <p:sp>
            <p:nvSpPr>
              <p:cNvPr id="22" name="Freeform 21">
                <a:extLst>
                  <a:ext uri="{FF2B5EF4-FFF2-40B4-BE49-F238E27FC236}">
                    <a16:creationId xmlns:a16="http://schemas.microsoft.com/office/drawing/2014/main" id="{85DCACDF-C3E6-6B93-02D5-CC4C1A9D2E65}"/>
                  </a:ext>
                </a:extLst>
              </p:cNvPr>
              <p:cNvSpPr/>
              <p:nvPr/>
            </p:nvSpPr>
            <p:spPr>
              <a:xfrm>
                <a:off x="0" y="0"/>
                <a:ext cx="1740045" cy="1201682"/>
              </a:xfrm>
              <a:custGeom>
                <a:avLst/>
                <a:gdLst/>
                <a:ahLst/>
                <a:cxnLst/>
                <a:rect l="l" t="t" r="r" b="b"/>
                <a:pathLst>
                  <a:path w="1740045" h="1201682">
                    <a:moveTo>
                      <a:pt x="46873" y="0"/>
                    </a:moveTo>
                    <a:lnTo>
                      <a:pt x="1693172" y="0"/>
                    </a:lnTo>
                    <a:cubicBezTo>
                      <a:pt x="1705604" y="0"/>
                      <a:pt x="1717526" y="4938"/>
                      <a:pt x="1726317" y="13729"/>
                    </a:cubicBezTo>
                    <a:cubicBezTo>
                      <a:pt x="1735107" y="22519"/>
                      <a:pt x="1740045" y="34441"/>
                      <a:pt x="1740045" y="46873"/>
                    </a:cubicBezTo>
                    <a:lnTo>
                      <a:pt x="1740045" y="1154809"/>
                    </a:lnTo>
                    <a:cubicBezTo>
                      <a:pt x="1740045" y="1167240"/>
                      <a:pt x="1735107" y="1179163"/>
                      <a:pt x="1726317" y="1187953"/>
                    </a:cubicBezTo>
                    <a:cubicBezTo>
                      <a:pt x="1717526" y="1196743"/>
                      <a:pt x="1705604" y="1201682"/>
                      <a:pt x="1693172" y="1201682"/>
                    </a:cubicBezTo>
                    <a:lnTo>
                      <a:pt x="46873" y="1201682"/>
                    </a:lnTo>
                    <a:cubicBezTo>
                      <a:pt x="34441" y="1201682"/>
                      <a:pt x="22519" y="1196743"/>
                      <a:pt x="13729" y="1187953"/>
                    </a:cubicBezTo>
                    <a:cubicBezTo>
                      <a:pt x="4938" y="1179163"/>
                      <a:pt x="0" y="1167240"/>
                      <a:pt x="0" y="1154809"/>
                    </a:cubicBezTo>
                    <a:lnTo>
                      <a:pt x="0" y="46873"/>
                    </a:lnTo>
                    <a:cubicBezTo>
                      <a:pt x="0" y="34441"/>
                      <a:pt x="4938" y="22519"/>
                      <a:pt x="13729" y="13729"/>
                    </a:cubicBezTo>
                    <a:cubicBezTo>
                      <a:pt x="22519" y="4938"/>
                      <a:pt x="34441" y="0"/>
                      <a:pt x="46873" y="0"/>
                    </a:cubicBezTo>
                    <a:close/>
                  </a:path>
                </a:pathLst>
              </a:custGeom>
              <a:gradFill rotWithShape="1">
                <a:gsLst>
                  <a:gs pos="0">
                    <a:srgbClr val="1F72FF">
                      <a:alpha val="100000"/>
                    </a:srgbClr>
                  </a:gs>
                  <a:gs pos="100000">
                    <a:srgbClr val="0050AD">
                      <a:alpha val="100000"/>
                    </a:srgbClr>
                  </a:gs>
                </a:gsLst>
                <a:path path="circle">
                  <a:fillToRect r="100000" b="100000"/>
                </a:path>
                <a:tileRect l="-100000" t="-100000"/>
              </a:gradFill>
            </p:spPr>
            <p:txBody>
              <a:bodyPr/>
              <a:lstStyle/>
              <a:p>
                <a:endParaRPr lang="en-US"/>
              </a:p>
            </p:txBody>
          </p:sp>
          <p:sp>
            <p:nvSpPr>
              <p:cNvPr id="23" name="TextBox 22">
                <a:extLst>
                  <a:ext uri="{FF2B5EF4-FFF2-40B4-BE49-F238E27FC236}">
                    <a16:creationId xmlns:a16="http://schemas.microsoft.com/office/drawing/2014/main" id="{4F71A9DD-5390-C10B-D599-06D2DF08244C}"/>
                  </a:ext>
                </a:extLst>
              </p:cNvPr>
              <p:cNvSpPr txBox="1"/>
              <p:nvPr/>
            </p:nvSpPr>
            <p:spPr>
              <a:xfrm>
                <a:off x="0" y="19050"/>
                <a:ext cx="1740045" cy="1182632"/>
              </a:xfrm>
              <a:prstGeom prst="rect">
                <a:avLst/>
              </a:prstGeom>
            </p:spPr>
            <p:txBody>
              <a:bodyPr lIns="50800" tIns="50800" rIns="50800" bIns="50800" rtlCol="0" anchor="ctr"/>
              <a:lstStyle/>
              <a:p>
                <a:pPr algn="ctr">
                  <a:lnSpc>
                    <a:spcPts val="2760"/>
                  </a:lnSpc>
                </a:pPr>
                <a:endParaRPr/>
              </a:p>
            </p:txBody>
          </p:sp>
        </p:grpSp>
        <p:sp>
          <p:nvSpPr>
            <p:cNvPr id="20" name="TextBox 23">
              <a:extLst>
                <a:ext uri="{FF2B5EF4-FFF2-40B4-BE49-F238E27FC236}">
                  <a16:creationId xmlns:a16="http://schemas.microsoft.com/office/drawing/2014/main" id="{3E71D279-6C1A-A9A4-A8AF-D8D7C50B630F}"/>
                </a:ext>
              </a:extLst>
            </p:cNvPr>
            <p:cNvSpPr txBox="1"/>
            <p:nvPr/>
          </p:nvSpPr>
          <p:spPr>
            <a:xfrm>
              <a:off x="568270" y="585519"/>
              <a:ext cx="4864942" cy="382083"/>
            </a:xfrm>
            <a:prstGeom prst="rect">
              <a:avLst/>
            </a:prstGeom>
          </p:spPr>
          <p:txBody>
            <a:bodyPr lIns="0" tIns="0" rIns="0" bIns="0" rtlCol="0" anchor="t">
              <a:spAutoFit/>
            </a:bodyPr>
            <a:lstStyle/>
            <a:p>
              <a:pPr algn="l">
                <a:lnSpc>
                  <a:spcPts val="2263"/>
                </a:lnSpc>
              </a:pPr>
              <a:r>
                <a:rPr lang="en-US" sz="1968" b="1">
                  <a:solidFill>
                    <a:srgbClr val="FFFFFF"/>
                  </a:solidFill>
                  <a:latin typeface="Canva Sans Bold"/>
                  <a:ea typeface="Canva Sans Bold"/>
                  <a:cs typeface="Canva Sans Bold"/>
                  <a:sym typeface="Canva Sans Bold"/>
                </a:rPr>
                <a:t>LEE</a:t>
              </a:r>
            </a:p>
          </p:txBody>
        </p:sp>
        <p:sp>
          <p:nvSpPr>
            <p:cNvPr id="21" name="TextBox 24">
              <a:extLst>
                <a:ext uri="{FF2B5EF4-FFF2-40B4-BE49-F238E27FC236}">
                  <a16:creationId xmlns:a16="http://schemas.microsoft.com/office/drawing/2014/main" id="{D63FD27C-0500-DF66-B6C9-6D7211F6E5F9}"/>
                </a:ext>
              </a:extLst>
            </p:cNvPr>
            <p:cNvSpPr txBox="1"/>
            <p:nvPr/>
          </p:nvSpPr>
          <p:spPr>
            <a:xfrm>
              <a:off x="568270" y="1173504"/>
              <a:ext cx="5839525" cy="2922635"/>
            </a:xfrm>
            <a:prstGeom prst="rect">
              <a:avLst/>
            </a:prstGeom>
          </p:spPr>
          <p:txBody>
            <a:bodyPr lIns="0" tIns="0" rIns="0" bIns="0" rtlCol="0" anchor="t">
              <a:spAutoFit/>
            </a:bodyPr>
            <a:lstStyle/>
            <a:p>
              <a:pPr algn="l">
                <a:lnSpc>
                  <a:spcPts val="2180"/>
                </a:lnSpc>
              </a:pPr>
              <a:r>
                <a:rPr lang="en-US" sz="1816">
                  <a:solidFill>
                    <a:srgbClr val="FFFFFF"/>
                  </a:solidFill>
                  <a:latin typeface="Proxima Nova Light"/>
                  <a:ea typeface="Proxima Nova Light"/>
                  <a:cs typeface="Proxima Nova Light"/>
                  <a:sym typeface="Proxima Nova Light"/>
                </a:rPr>
                <a:t>Le laboratoire se spécialise dans l’analyse des performances thermiques et énergétiques des systèmes industriels, avec un accent sur la gestion énergétique durable et la valorisation des systèmes thermiques. Il travaille également sur l’optimisation des cycles frigorifiques et les transferts thermiques.</a:t>
              </a:r>
            </a:p>
          </p:txBody>
        </p:sp>
      </p:grpSp>
      <p:grpSp>
        <p:nvGrpSpPr>
          <p:cNvPr id="26" name="Group 25">
            <a:extLst>
              <a:ext uri="{FF2B5EF4-FFF2-40B4-BE49-F238E27FC236}">
                <a16:creationId xmlns:a16="http://schemas.microsoft.com/office/drawing/2014/main" id="{1D3943F7-D0A0-A308-FB19-B29FC988E38C}"/>
              </a:ext>
            </a:extLst>
          </p:cNvPr>
          <p:cNvGrpSpPr/>
          <p:nvPr/>
        </p:nvGrpSpPr>
        <p:grpSpPr>
          <a:xfrm>
            <a:off x="7558348" y="6324400"/>
            <a:ext cx="3505482" cy="2478255"/>
            <a:chOff x="0" y="0"/>
            <a:chExt cx="1018773" cy="720238"/>
          </a:xfrm>
        </p:grpSpPr>
        <p:sp>
          <p:nvSpPr>
            <p:cNvPr id="27" name="Freeform 26">
              <a:extLst>
                <a:ext uri="{FF2B5EF4-FFF2-40B4-BE49-F238E27FC236}">
                  <a16:creationId xmlns:a16="http://schemas.microsoft.com/office/drawing/2014/main" id="{435724AF-39B9-B137-53BE-1638F8928A4D}"/>
                </a:ext>
              </a:extLst>
            </p:cNvPr>
            <p:cNvSpPr/>
            <p:nvPr/>
          </p:nvSpPr>
          <p:spPr>
            <a:xfrm>
              <a:off x="0" y="0"/>
              <a:ext cx="1018773" cy="720238"/>
            </a:xfrm>
            <a:custGeom>
              <a:avLst/>
              <a:gdLst/>
              <a:ahLst/>
              <a:cxnLst/>
              <a:rect l="l" t="t" r="r" b="b"/>
              <a:pathLst>
                <a:path w="1018773" h="720238">
                  <a:moveTo>
                    <a:pt x="88341" y="0"/>
                  </a:moveTo>
                  <a:lnTo>
                    <a:pt x="930433" y="0"/>
                  </a:lnTo>
                  <a:cubicBezTo>
                    <a:pt x="979222" y="0"/>
                    <a:pt x="1018773" y="39551"/>
                    <a:pt x="1018773" y="88341"/>
                  </a:cubicBezTo>
                  <a:lnTo>
                    <a:pt x="1018773" y="631897"/>
                  </a:lnTo>
                  <a:cubicBezTo>
                    <a:pt x="1018773" y="680686"/>
                    <a:pt x="979222" y="720238"/>
                    <a:pt x="930433" y="720238"/>
                  </a:cubicBezTo>
                  <a:lnTo>
                    <a:pt x="88341" y="720238"/>
                  </a:lnTo>
                  <a:cubicBezTo>
                    <a:pt x="39551" y="720238"/>
                    <a:pt x="0" y="680686"/>
                    <a:pt x="0" y="631897"/>
                  </a:cubicBezTo>
                  <a:lnTo>
                    <a:pt x="0" y="88341"/>
                  </a:lnTo>
                  <a:cubicBezTo>
                    <a:pt x="0" y="39551"/>
                    <a:pt x="39551" y="0"/>
                    <a:pt x="88341" y="0"/>
                  </a:cubicBezTo>
                  <a:close/>
                </a:path>
              </a:pathLst>
            </a:custGeom>
            <a:blipFill>
              <a:blip r:embed="rId4"/>
              <a:stretch>
                <a:fillRect l="-1350" r="-1350"/>
              </a:stretch>
            </a:blipFill>
          </p:spPr>
          <p:txBody>
            <a:bodyPr/>
            <a:lstStyle/>
            <a:p>
              <a:endParaRPr lang="en-US"/>
            </a:p>
          </p:txBody>
        </p:sp>
      </p:grpSp>
      <p:grpSp>
        <p:nvGrpSpPr>
          <p:cNvPr id="28" name="Group 27">
            <a:extLst>
              <a:ext uri="{FF2B5EF4-FFF2-40B4-BE49-F238E27FC236}">
                <a16:creationId xmlns:a16="http://schemas.microsoft.com/office/drawing/2014/main" id="{E49516F2-D439-91A0-B7CA-34595369C2F0}"/>
              </a:ext>
            </a:extLst>
          </p:cNvPr>
          <p:cNvGrpSpPr/>
          <p:nvPr/>
        </p:nvGrpSpPr>
        <p:grpSpPr>
          <a:xfrm>
            <a:off x="12939525" y="6324400"/>
            <a:ext cx="4319775" cy="2409427"/>
            <a:chOff x="0" y="0"/>
            <a:chExt cx="1389365" cy="774942"/>
          </a:xfrm>
        </p:grpSpPr>
        <p:sp>
          <p:nvSpPr>
            <p:cNvPr id="29" name="Freeform 28">
              <a:extLst>
                <a:ext uri="{FF2B5EF4-FFF2-40B4-BE49-F238E27FC236}">
                  <a16:creationId xmlns:a16="http://schemas.microsoft.com/office/drawing/2014/main" id="{40C3B6A5-09A7-3670-4039-BE7688F876D2}"/>
                </a:ext>
              </a:extLst>
            </p:cNvPr>
            <p:cNvSpPr/>
            <p:nvPr/>
          </p:nvSpPr>
          <p:spPr>
            <a:xfrm>
              <a:off x="0" y="0"/>
              <a:ext cx="1389365" cy="774942"/>
            </a:xfrm>
            <a:custGeom>
              <a:avLst/>
              <a:gdLst/>
              <a:ahLst/>
              <a:cxnLst/>
              <a:rect l="l" t="t" r="r" b="b"/>
              <a:pathLst>
                <a:path w="1389365" h="774942">
                  <a:moveTo>
                    <a:pt x="71688" y="0"/>
                  </a:moveTo>
                  <a:lnTo>
                    <a:pt x="1317677" y="0"/>
                  </a:lnTo>
                  <a:cubicBezTo>
                    <a:pt x="1336690" y="0"/>
                    <a:pt x="1354924" y="7553"/>
                    <a:pt x="1368368" y="20997"/>
                  </a:cubicBezTo>
                  <a:cubicBezTo>
                    <a:pt x="1381812" y="34441"/>
                    <a:pt x="1389365" y="52675"/>
                    <a:pt x="1389365" y="71688"/>
                  </a:cubicBezTo>
                  <a:lnTo>
                    <a:pt x="1389365" y="703254"/>
                  </a:lnTo>
                  <a:cubicBezTo>
                    <a:pt x="1389365" y="742846"/>
                    <a:pt x="1357269" y="774942"/>
                    <a:pt x="1317677" y="774942"/>
                  </a:cubicBezTo>
                  <a:lnTo>
                    <a:pt x="71688" y="774942"/>
                  </a:lnTo>
                  <a:cubicBezTo>
                    <a:pt x="32096" y="774942"/>
                    <a:pt x="0" y="742846"/>
                    <a:pt x="0" y="703254"/>
                  </a:cubicBezTo>
                  <a:lnTo>
                    <a:pt x="0" y="71688"/>
                  </a:lnTo>
                  <a:cubicBezTo>
                    <a:pt x="0" y="32096"/>
                    <a:pt x="32096" y="0"/>
                    <a:pt x="71688" y="0"/>
                  </a:cubicBezTo>
                  <a:close/>
                </a:path>
              </a:pathLst>
            </a:custGeom>
            <a:blipFill>
              <a:blip r:embed="rId5"/>
              <a:stretch>
                <a:fillRect t="-2240" b="-2240"/>
              </a:stretch>
            </a:blipFill>
          </p:spPr>
          <p:txBody>
            <a:bodyPr/>
            <a:lstStyle/>
            <a:p>
              <a:endParaRPr lang="en-US"/>
            </a:p>
          </p:txBody>
        </p:sp>
      </p:grpSp>
      <p:grpSp>
        <p:nvGrpSpPr>
          <p:cNvPr id="30" name="Group 29">
            <a:extLst>
              <a:ext uri="{FF2B5EF4-FFF2-40B4-BE49-F238E27FC236}">
                <a16:creationId xmlns:a16="http://schemas.microsoft.com/office/drawing/2014/main" id="{F7269631-EE97-1D62-3531-B70B57A629E1}"/>
              </a:ext>
            </a:extLst>
          </p:cNvPr>
          <p:cNvGrpSpPr/>
          <p:nvPr/>
        </p:nvGrpSpPr>
        <p:grpSpPr>
          <a:xfrm>
            <a:off x="148390" y="0"/>
            <a:ext cx="1617781" cy="1679217"/>
            <a:chOff x="0" y="0"/>
            <a:chExt cx="252493" cy="262082"/>
          </a:xfrm>
        </p:grpSpPr>
        <p:sp>
          <p:nvSpPr>
            <p:cNvPr id="31" name="Freeform 30">
              <a:extLst>
                <a:ext uri="{FF2B5EF4-FFF2-40B4-BE49-F238E27FC236}">
                  <a16:creationId xmlns:a16="http://schemas.microsoft.com/office/drawing/2014/main" id="{339F0264-26A8-7FBF-9696-A2FEF35C110B}"/>
                </a:ext>
              </a:extLst>
            </p:cNvPr>
            <p:cNvSpPr/>
            <p:nvPr/>
          </p:nvSpPr>
          <p:spPr>
            <a:xfrm>
              <a:off x="0" y="0"/>
              <a:ext cx="252493" cy="262082"/>
            </a:xfrm>
            <a:custGeom>
              <a:avLst/>
              <a:gdLst/>
              <a:ahLst/>
              <a:cxnLst/>
              <a:rect l="l" t="t" r="r" b="b"/>
              <a:pathLst>
                <a:path w="252493" h="262082">
                  <a:moveTo>
                    <a:pt x="0" y="0"/>
                  </a:moveTo>
                  <a:lnTo>
                    <a:pt x="252493" y="0"/>
                  </a:lnTo>
                  <a:lnTo>
                    <a:pt x="252493" y="262082"/>
                  </a:lnTo>
                  <a:lnTo>
                    <a:pt x="0" y="262082"/>
                  </a:lnTo>
                  <a:close/>
                </a:path>
              </a:pathLst>
            </a:custGeom>
            <a:solidFill>
              <a:srgbClr val="F8F8F8"/>
            </a:solidFill>
          </p:spPr>
          <p:txBody>
            <a:bodyPr/>
            <a:lstStyle/>
            <a:p>
              <a:endParaRPr lang="en-US"/>
            </a:p>
          </p:txBody>
        </p:sp>
        <p:sp>
          <p:nvSpPr>
            <p:cNvPr id="32" name="TextBox 31">
              <a:extLst>
                <a:ext uri="{FF2B5EF4-FFF2-40B4-BE49-F238E27FC236}">
                  <a16:creationId xmlns:a16="http://schemas.microsoft.com/office/drawing/2014/main" id="{070554B5-6D0B-845B-A9AC-7964A4A938C8}"/>
                </a:ext>
              </a:extLst>
            </p:cNvPr>
            <p:cNvSpPr txBox="1"/>
            <p:nvPr/>
          </p:nvSpPr>
          <p:spPr>
            <a:xfrm>
              <a:off x="0" y="-47625"/>
              <a:ext cx="252493" cy="309707"/>
            </a:xfrm>
            <a:prstGeom prst="rect">
              <a:avLst/>
            </a:prstGeom>
          </p:spPr>
          <p:txBody>
            <a:bodyPr lIns="50800" tIns="50800" rIns="50800" bIns="50800" rtlCol="0" anchor="ctr"/>
            <a:lstStyle/>
            <a:p>
              <a:pPr algn="ctr">
                <a:lnSpc>
                  <a:spcPts val="3499"/>
                </a:lnSpc>
              </a:pPr>
              <a:endParaRPr/>
            </a:p>
          </p:txBody>
        </p:sp>
      </p:grpSp>
      <p:sp>
        <p:nvSpPr>
          <p:cNvPr id="33" name="Freeform 32">
            <a:extLst>
              <a:ext uri="{FF2B5EF4-FFF2-40B4-BE49-F238E27FC236}">
                <a16:creationId xmlns:a16="http://schemas.microsoft.com/office/drawing/2014/main" id="{38428AEE-39EF-8692-064D-EFFF9C25DDD4}"/>
              </a:ext>
            </a:extLst>
          </p:cNvPr>
          <p:cNvSpPr/>
          <p:nvPr/>
        </p:nvSpPr>
        <p:spPr>
          <a:xfrm>
            <a:off x="62682" y="0"/>
            <a:ext cx="1664905" cy="1664905"/>
          </a:xfrm>
          <a:custGeom>
            <a:avLst/>
            <a:gdLst/>
            <a:ahLst/>
            <a:cxnLst/>
            <a:rect l="l" t="t" r="r" b="b"/>
            <a:pathLst>
              <a:path w="1664905" h="1664905">
                <a:moveTo>
                  <a:pt x="0" y="0"/>
                </a:moveTo>
                <a:lnTo>
                  <a:pt x="1664905" y="0"/>
                </a:lnTo>
                <a:lnTo>
                  <a:pt x="1664905" y="1664905"/>
                </a:lnTo>
                <a:lnTo>
                  <a:pt x="0" y="1664905"/>
                </a:lnTo>
                <a:lnTo>
                  <a:pt x="0" y="0"/>
                </a:lnTo>
                <a:close/>
              </a:path>
            </a:pathLst>
          </a:custGeom>
          <a:blipFill>
            <a:blip r:embed="rId6"/>
            <a:stretch>
              <a:fillRect/>
            </a:stretch>
          </a:blipFill>
        </p:spPr>
        <p:txBody>
          <a:bodyPr/>
          <a:lstStyle/>
          <a:p>
            <a:endParaRPr lang="en-US"/>
          </a:p>
        </p:txBody>
      </p:sp>
      <p:grpSp>
        <p:nvGrpSpPr>
          <p:cNvPr id="34" name="Group 33">
            <a:extLst>
              <a:ext uri="{FF2B5EF4-FFF2-40B4-BE49-F238E27FC236}">
                <a16:creationId xmlns:a16="http://schemas.microsoft.com/office/drawing/2014/main" id="{C44D6370-8D65-E965-0A70-D9E89964D614}"/>
              </a:ext>
            </a:extLst>
          </p:cNvPr>
          <p:cNvGrpSpPr/>
          <p:nvPr/>
        </p:nvGrpSpPr>
        <p:grpSpPr>
          <a:xfrm>
            <a:off x="2517266" y="9525"/>
            <a:ext cx="1773163" cy="1679217"/>
            <a:chOff x="0" y="0"/>
            <a:chExt cx="276744" cy="262082"/>
          </a:xfrm>
        </p:grpSpPr>
        <p:sp>
          <p:nvSpPr>
            <p:cNvPr id="35" name="Freeform 34">
              <a:extLst>
                <a:ext uri="{FF2B5EF4-FFF2-40B4-BE49-F238E27FC236}">
                  <a16:creationId xmlns:a16="http://schemas.microsoft.com/office/drawing/2014/main" id="{23A5B20F-2DBD-8872-7EE8-FF2DC98E17E9}"/>
                </a:ext>
              </a:extLst>
            </p:cNvPr>
            <p:cNvSpPr/>
            <p:nvPr/>
          </p:nvSpPr>
          <p:spPr>
            <a:xfrm>
              <a:off x="0" y="0"/>
              <a:ext cx="276744" cy="262082"/>
            </a:xfrm>
            <a:custGeom>
              <a:avLst/>
              <a:gdLst/>
              <a:ahLst/>
              <a:cxnLst/>
              <a:rect l="l" t="t" r="r" b="b"/>
              <a:pathLst>
                <a:path w="276744" h="262082">
                  <a:moveTo>
                    <a:pt x="0" y="0"/>
                  </a:moveTo>
                  <a:lnTo>
                    <a:pt x="276744" y="0"/>
                  </a:lnTo>
                  <a:lnTo>
                    <a:pt x="276744" y="262082"/>
                  </a:lnTo>
                  <a:lnTo>
                    <a:pt x="0" y="262082"/>
                  </a:lnTo>
                  <a:close/>
                </a:path>
              </a:pathLst>
            </a:custGeom>
            <a:solidFill>
              <a:srgbClr val="F8F8F8"/>
            </a:solidFill>
          </p:spPr>
          <p:txBody>
            <a:bodyPr/>
            <a:lstStyle/>
            <a:p>
              <a:endParaRPr lang="en-US"/>
            </a:p>
          </p:txBody>
        </p:sp>
        <p:sp>
          <p:nvSpPr>
            <p:cNvPr id="36" name="TextBox 35">
              <a:extLst>
                <a:ext uri="{FF2B5EF4-FFF2-40B4-BE49-F238E27FC236}">
                  <a16:creationId xmlns:a16="http://schemas.microsoft.com/office/drawing/2014/main" id="{699BC0ED-FAD4-888C-68FF-7C3094E34749}"/>
                </a:ext>
              </a:extLst>
            </p:cNvPr>
            <p:cNvSpPr txBox="1"/>
            <p:nvPr/>
          </p:nvSpPr>
          <p:spPr>
            <a:xfrm>
              <a:off x="0" y="-47625"/>
              <a:ext cx="276744" cy="309707"/>
            </a:xfrm>
            <a:prstGeom prst="rect">
              <a:avLst/>
            </a:prstGeom>
          </p:spPr>
          <p:txBody>
            <a:bodyPr lIns="50800" tIns="50800" rIns="50800" bIns="50800" rtlCol="0" anchor="ctr"/>
            <a:lstStyle/>
            <a:p>
              <a:pPr algn="ctr">
                <a:lnSpc>
                  <a:spcPts val="3499"/>
                </a:lnSpc>
              </a:pPr>
              <a:endParaRPr/>
            </a:p>
          </p:txBody>
        </p:sp>
      </p:grpSp>
      <p:sp>
        <p:nvSpPr>
          <p:cNvPr id="37" name="Freeform 36">
            <a:extLst>
              <a:ext uri="{FF2B5EF4-FFF2-40B4-BE49-F238E27FC236}">
                <a16:creationId xmlns:a16="http://schemas.microsoft.com/office/drawing/2014/main" id="{A13523AE-D84C-DAC5-13E0-4F5F1C725CF5}"/>
              </a:ext>
            </a:extLst>
          </p:cNvPr>
          <p:cNvSpPr/>
          <p:nvPr/>
        </p:nvSpPr>
        <p:spPr>
          <a:xfrm>
            <a:off x="2590862" y="0"/>
            <a:ext cx="1699567" cy="1688742"/>
          </a:xfrm>
          <a:custGeom>
            <a:avLst/>
            <a:gdLst/>
            <a:ahLst/>
            <a:cxnLst/>
            <a:rect l="l" t="t" r="r" b="b"/>
            <a:pathLst>
              <a:path w="1699567" h="1688742">
                <a:moveTo>
                  <a:pt x="0" y="0"/>
                </a:moveTo>
                <a:lnTo>
                  <a:pt x="1699567" y="0"/>
                </a:lnTo>
                <a:lnTo>
                  <a:pt x="1699567" y="1688742"/>
                </a:lnTo>
                <a:lnTo>
                  <a:pt x="0" y="1688742"/>
                </a:lnTo>
                <a:lnTo>
                  <a:pt x="0" y="0"/>
                </a:lnTo>
                <a:close/>
              </a:path>
            </a:pathLst>
          </a:custGeom>
          <a:blipFill>
            <a:blip r:embed="rId7"/>
            <a:stretch>
              <a:fillRect/>
            </a:stretch>
          </a:blipFill>
        </p:spPr>
        <p:txBody>
          <a:bodyPr/>
          <a:lstStyle/>
          <a:p>
            <a:endParaRPr lang="en-US"/>
          </a:p>
        </p:txBody>
      </p:sp>
      <p:grpSp>
        <p:nvGrpSpPr>
          <p:cNvPr id="38" name="Group 37">
            <a:extLst>
              <a:ext uri="{FF2B5EF4-FFF2-40B4-BE49-F238E27FC236}">
                <a16:creationId xmlns:a16="http://schemas.microsoft.com/office/drawing/2014/main" id="{97D0A2EB-CAFD-60F2-7E87-35A9EBE13332}"/>
              </a:ext>
            </a:extLst>
          </p:cNvPr>
          <p:cNvGrpSpPr/>
          <p:nvPr/>
        </p:nvGrpSpPr>
        <p:grpSpPr>
          <a:xfrm>
            <a:off x="12426241" y="2117940"/>
            <a:ext cx="5116681" cy="3569293"/>
            <a:chOff x="0" y="0"/>
            <a:chExt cx="6822242" cy="4759058"/>
          </a:xfrm>
        </p:grpSpPr>
        <p:grpSp>
          <p:nvGrpSpPr>
            <p:cNvPr id="39" name="Group 38">
              <a:extLst>
                <a:ext uri="{FF2B5EF4-FFF2-40B4-BE49-F238E27FC236}">
                  <a16:creationId xmlns:a16="http://schemas.microsoft.com/office/drawing/2014/main" id="{17656500-B9FC-FC00-5A21-71B9E2F79537}"/>
                </a:ext>
              </a:extLst>
            </p:cNvPr>
            <p:cNvGrpSpPr/>
            <p:nvPr/>
          </p:nvGrpSpPr>
          <p:grpSpPr>
            <a:xfrm>
              <a:off x="0" y="0"/>
              <a:ext cx="6668419" cy="4605235"/>
              <a:chOff x="0" y="0"/>
              <a:chExt cx="1740045" cy="1201682"/>
            </a:xfrm>
          </p:grpSpPr>
          <p:sp>
            <p:nvSpPr>
              <p:cNvPr id="47" name="Freeform 39">
                <a:extLst>
                  <a:ext uri="{FF2B5EF4-FFF2-40B4-BE49-F238E27FC236}">
                    <a16:creationId xmlns:a16="http://schemas.microsoft.com/office/drawing/2014/main" id="{DF20EA1E-9E8D-EA0B-203D-0F46858BEBBA}"/>
                  </a:ext>
                </a:extLst>
              </p:cNvPr>
              <p:cNvSpPr/>
              <p:nvPr/>
            </p:nvSpPr>
            <p:spPr>
              <a:xfrm>
                <a:off x="0" y="0"/>
                <a:ext cx="1740045" cy="1201682"/>
              </a:xfrm>
              <a:custGeom>
                <a:avLst/>
                <a:gdLst/>
                <a:ahLst/>
                <a:cxnLst/>
                <a:rect l="l" t="t" r="r" b="b"/>
                <a:pathLst>
                  <a:path w="1740045" h="1201682">
                    <a:moveTo>
                      <a:pt x="46873" y="0"/>
                    </a:moveTo>
                    <a:lnTo>
                      <a:pt x="1693172" y="0"/>
                    </a:lnTo>
                    <a:cubicBezTo>
                      <a:pt x="1705604" y="0"/>
                      <a:pt x="1717526" y="4938"/>
                      <a:pt x="1726317" y="13729"/>
                    </a:cubicBezTo>
                    <a:cubicBezTo>
                      <a:pt x="1735107" y="22519"/>
                      <a:pt x="1740045" y="34441"/>
                      <a:pt x="1740045" y="46873"/>
                    </a:cubicBezTo>
                    <a:lnTo>
                      <a:pt x="1740045" y="1154809"/>
                    </a:lnTo>
                    <a:cubicBezTo>
                      <a:pt x="1740045" y="1167240"/>
                      <a:pt x="1735107" y="1179163"/>
                      <a:pt x="1726317" y="1187953"/>
                    </a:cubicBezTo>
                    <a:cubicBezTo>
                      <a:pt x="1717526" y="1196743"/>
                      <a:pt x="1705604" y="1201682"/>
                      <a:pt x="1693172" y="1201682"/>
                    </a:cubicBezTo>
                    <a:lnTo>
                      <a:pt x="46873" y="1201682"/>
                    </a:lnTo>
                    <a:cubicBezTo>
                      <a:pt x="34441" y="1201682"/>
                      <a:pt x="22519" y="1196743"/>
                      <a:pt x="13729" y="1187953"/>
                    </a:cubicBezTo>
                    <a:cubicBezTo>
                      <a:pt x="4938" y="1179163"/>
                      <a:pt x="0" y="1167240"/>
                      <a:pt x="0" y="1154809"/>
                    </a:cubicBezTo>
                    <a:lnTo>
                      <a:pt x="0" y="46873"/>
                    </a:lnTo>
                    <a:cubicBezTo>
                      <a:pt x="0" y="34441"/>
                      <a:pt x="4938" y="22519"/>
                      <a:pt x="13729" y="13729"/>
                    </a:cubicBezTo>
                    <a:cubicBezTo>
                      <a:pt x="22519" y="4938"/>
                      <a:pt x="34441" y="0"/>
                      <a:pt x="46873" y="0"/>
                    </a:cubicBezTo>
                    <a:close/>
                  </a:path>
                </a:pathLst>
              </a:custGeom>
              <a:gradFill rotWithShape="1">
                <a:gsLst>
                  <a:gs pos="0">
                    <a:srgbClr val="1F72FF">
                      <a:alpha val="100000"/>
                    </a:srgbClr>
                  </a:gs>
                  <a:gs pos="100000">
                    <a:srgbClr val="0050AD">
                      <a:alpha val="100000"/>
                    </a:srgbClr>
                  </a:gs>
                </a:gsLst>
                <a:path path="circle">
                  <a:fillToRect r="100000" b="100000"/>
                </a:path>
                <a:tileRect l="-100000" t="-100000"/>
              </a:gradFill>
            </p:spPr>
            <p:txBody>
              <a:bodyPr/>
              <a:lstStyle/>
              <a:p>
                <a:endParaRPr lang="en-US"/>
              </a:p>
            </p:txBody>
          </p:sp>
          <p:sp>
            <p:nvSpPr>
              <p:cNvPr id="48" name="TextBox 40">
                <a:extLst>
                  <a:ext uri="{FF2B5EF4-FFF2-40B4-BE49-F238E27FC236}">
                    <a16:creationId xmlns:a16="http://schemas.microsoft.com/office/drawing/2014/main" id="{9248C3DA-9C8D-4855-AAE2-50C55EE78395}"/>
                  </a:ext>
                </a:extLst>
              </p:cNvPr>
              <p:cNvSpPr txBox="1"/>
              <p:nvPr/>
            </p:nvSpPr>
            <p:spPr>
              <a:xfrm>
                <a:off x="0" y="19050"/>
                <a:ext cx="1740045" cy="1182632"/>
              </a:xfrm>
              <a:prstGeom prst="rect">
                <a:avLst/>
              </a:prstGeom>
            </p:spPr>
            <p:txBody>
              <a:bodyPr lIns="50800" tIns="50800" rIns="50800" bIns="50800" rtlCol="0" anchor="ctr"/>
              <a:lstStyle/>
              <a:p>
                <a:pPr algn="ctr">
                  <a:lnSpc>
                    <a:spcPts val="2760"/>
                  </a:lnSpc>
                </a:pPr>
                <a:endParaRPr/>
              </a:p>
            </p:txBody>
          </p:sp>
        </p:grpSp>
        <p:sp>
          <p:nvSpPr>
            <p:cNvPr id="40" name="TextBox 41">
              <a:extLst>
                <a:ext uri="{FF2B5EF4-FFF2-40B4-BE49-F238E27FC236}">
                  <a16:creationId xmlns:a16="http://schemas.microsoft.com/office/drawing/2014/main" id="{9AC628E2-B262-6333-B7B8-3CF185032F69}"/>
                </a:ext>
              </a:extLst>
            </p:cNvPr>
            <p:cNvSpPr txBox="1"/>
            <p:nvPr/>
          </p:nvSpPr>
          <p:spPr>
            <a:xfrm>
              <a:off x="414447" y="431696"/>
              <a:ext cx="4864942" cy="382083"/>
            </a:xfrm>
            <a:prstGeom prst="rect">
              <a:avLst/>
            </a:prstGeom>
          </p:spPr>
          <p:txBody>
            <a:bodyPr lIns="0" tIns="0" rIns="0" bIns="0" rtlCol="0" anchor="t">
              <a:spAutoFit/>
            </a:bodyPr>
            <a:lstStyle/>
            <a:p>
              <a:pPr algn="l">
                <a:lnSpc>
                  <a:spcPts val="2263"/>
                </a:lnSpc>
              </a:pPr>
              <a:r>
                <a:rPr lang="en-US" sz="1968" b="1">
                  <a:solidFill>
                    <a:srgbClr val="FFFFFF"/>
                  </a:solidFill>
                  <a:latin typeface="Canva Sans Bold"/>
                  <a:ea typeface="Canva Sans Bold"/>
                  <a:cs typeface="Canva Sans Bold"/>
                  <a:sym typeface="Canva Sans Bold"/>
                </a:rPr>
                <a:t>Budget Constraint</a:t>
              </a:r>
            </a:p>
          </p:txBody>
        </p:sp>
        <p:sp>
          <p:nvSpPr>
            <p:cNvPr id="41" name="TextBox 42">
              <a:extLst>
                <a:ext uri="{FF2B5EF4-FFF2-40B4-BE49-F238E27FC236}">
                  <a16:creationId xmlns:a16="http://schemas.microsoft.com/office/drawing/2014/main" id="{210E4230-68E2-8C83-5AB2-4F3F7BFE04A4}"/>
                </a:ext>
              </a:extLst>
            </p:cNvPr>
            <p:cNvSpPr txBox="1"/>
            <p:nvPr/>
          </p:nvSpPr>
          <p:spPr>
            <a:xfrm>
              <a:off x="414447" y="1019681"/>
              <a:ext cx="5839525" cy="1461318"/>
            </a:xfrm>
            <a:prstGeom prst="rect">
              <a:avLst/>
            </a:prstGeom>
          </p:spPr>
          <p:txBody>
            <a:bodyPr lIns="0" tIns="0" rIns="0" bIns="0" rtlCol="0" anchor="t">
              <a:spAutoFit/>
            </a:bodyPr>
            <a:lstStyle/>
            <a:p>
              <a:pPr algn="l">
                <a:lnSpc>
                  <a:spcPts val="2180"/>
                </a:lnSpc>
              </a:pPr>
              <a:r>
                <a:rPr lang="en-US" sz="1816">
                  <a:solidFill>
                    <a:srgbClr val="FFFFFF"/>
                  </a:solidFill>
                  <a:latin typeface="Proxima Nova Light"/>
                  <a:ea typeface="Proxima Nova Light"/>
                  <a:cs typeface="Proxima Nova Light"/>
                  <a:sym typeface="Proxima Nova Light"/>
                </a:rPr>
                <a:t>Lorem ipsum dolor sit amet, consectetur adipiscing elit. Quisque blandit finibus leo nec elementum. Phasellus hendrerit risus non lobortis posuere.</a:t>
              </a:r>
            </a:p>
          </p:txBody>
        </p:sp>
        <p:grpSp>
          <p:nvGrpSpPr>
            <p:cNvPr id="42" name="Group 43">
              <a:extLst>
                <a:ext uri="{FF2B5EF4-FFF2-40B4-BE49-F238E27FC236}">
                  <a16:creationId xmlns:a16="http://schemas.microsoft.com/office/drawing/2014/main" id="{AFCDFD43-8681-3FBA-7656-F2A6233B6716}"/>
                </a:ext>
              </a:extLst>
            </p:cNvPr>
            <p:cNvGrpSpPr/>
            <p:nvPr/>
          </p:nvGrpSpPr>
          <p:grpSpPr>
            <a:xfrm>
              <a:off x="153823" y="153823"/>
              <a:ext cx="6668419" cy="4605235"/>
              <a:chOff x="0" y="0"/>
              <a:chExt cx="1740045" cy="1201682"/>
            </a:xfrm>
          </p:grpSpPr>
          <p:sp>
            <p:nvSpPr>
              <p:cNvPr id="45" name="Freeform 44">
                <a:extLst>
                  <a:ext uri="{FF2B5EF4-FFF2-40B4-BE49-F238E27FC236}">
                    <a16:creationId xmlns:a16="http://schemas.microsoft.com/office/drawing/2014/main" id="{0F738CB3-66D2-A948-D396-0A2CBF938195}"/>
                  </a:ext>
                </a:extLst>
              </p:cNvPr>
              <p:cNvSpPr/>
              <p:nvPr/>
            </p:nvSpPr>
            <p:spPr>
              <a:xfrm>
                <a:off x="0" y="0"/>
                <a:ext cx="1740045" cy="1201682"/>
              </a:xfrm>
              <a:custGeom>
                <a:avLst/>
                <a:gdLst/>
                <a:ahLst/>
                <a:cxnLst/>
                <a:rect l="l" t="t" r="r" b="b"/>
                <a:pathLst>
                  <a:path w="1740045" h="1201682">
                    <a:moveTo>
                      <a:pt x="46873" y="0"/>
                    </a:moveTo>
                    <a:lnTo>
                      <a:pt x="1693172" y="0"/>
                    </a:lnTo>
                    <a:cubicBezTo>
                      <a:pt x="1705604" y="0"/>
                      <a:pt x="1717526" y="4938"/>
                      <a:pt x="1726317" y="13729"/>
                    </a:cubicBezTo>
                    <a:cubicBezTo>
                      <a:pt x="1735107" y="22519"/>
                      <a:pt x="1740045" y="34441"/>
                      <a:pt x="1740045" y="46873"/>
                    </a:cubicBezTo>
                    <a:lnTo>
                      <a:pt x="1740045" y="1154809"/>
                    </a:lnTo>
                    <a:cubicBezTo>
                      <a:pt x="1740045" y="1167240"/>
                      <a:pt x="1735107" y="1179163"/>
                      <a:pt x="1726317" y="1187953"/>
                    </a:cubicBezTo>
                    <a:cubicBezTo>
                      <a:pt x="1717526" y="1196743"/>
                      <a:pt x="1705604" y="1201682"/>
                      <a:pt x="1693172" y="1201682"/>
                    </a:cubicBezTo>
                    <a:lnTo>
                      <a:pt x="46873" y="1201682"/>
                    </a:lnTo>
                    <a:cubicBezTo>
                      <a:pt x="34441" y="1201682"/>
                      <a:pt x="22519" y="1196743"/>
                      <a:pt x="13729" y="1187953"/>
                    </a:cubicBezTo>
                    <a:cubicBezTo>
                      <a:pt x="4938" y="1179163"/>
                      <a:pt x="0" y="1167240"/>
                      <a:pt x="0" y="1154809"/>
                    </a:cubicBezTo>
                    <a:lnTo>
                      <a:pt x="0" y="46873"/>
                    </a:lnTo>
                    <a:cubicBezTo>
                      <a:pt x="0" y="34441"/>
                      <a:pt x="4938" y="22519"/>
                      <a:pt x="13729" y="13729"/>
                    </a:cubicBezTo>
                    <a:cubicBezTo>
                      <a:pt x="22519" y="4938"/>
                      <a:pt x="34441" y="0"/>
                      <a:pt x="46873" y="0"/>
                    </a:cubicBezTo>
                    <a:close/>
                  </a:path>
                </a:pathLst>
              </a:custGeom>
              <a:gradFill rotWithShape="1">
                <a:gsLst>
                  <a:gs pos="0">
                    <a:srgbClr val="1F72FF">
                      <a:alpha val="100000"/>
                    </a:srgbClr>
                  </a:gs>
                  <a:gs pos="100000">
                    <a:srgbClr val="0050AD">
                      <a:alpha val="100000"/>
                    </a:srgbClr>
                  </a:gs>
                </a:gsLst>
                <a:path path="circle">
                  <a:fillToRect r="100000" b="100000"/>
                </a:path>
                <a:tileRect l="-100000" t="-100000"/>
              </a:gradFill>
            </p:spPr>
            <p:txBody>
              <a:bodyPr/>
              <a:lstStyle/>
              <a:p>
                <a:endParaRPr lang="en-US"/>
              </a:p>
            </p:txBody>
          </p:sp>
          <p:sp>
            <p:nvSpPr>
              <p:cNvPr id="46" name="TextBox 45">
                <a:extLst>
                  <a:ext uri="{FF2B5EF4-FFF2-40B4-BE49-F238E27FC236}">
                    <a16:creationId xmlns:a16="http://schemas.microsoft.com/office/drawing/2014/main" id="{B8A97195-8EDD-6B8F-FC5C-C4D858BB8771}"/>
                  </a:ext>
                </a:extLst>
              </p:cNvPr>
              <p:cNvSpPr txBox="1"/>
              <p:nvPr/>
            </p:nvSpPr>
            <p:spPr>
              <a:xfrm>
                <a:off x="0" y="19050"/>
                <a:ext cx="1740045" cy="1182632"/>
              </a:xfrm>
              <a:prstGeom prst="rect">
                <a:avLst/>
              </a:prstGeom>
            </p:spPr>
            <p:txBody>
              <a:bodyPr lIns="50800" tIns="50800" rIns="50800" bIns="50800" rtlCol="0" anchor="ctr"/>
              <a:lstStyle/>
              <a:p>
                <a:pPr algn="ctr">
                  <a:lnSpc>
                    <a:spcPts val="2760"/>
                  </a:lnSpc>
                </a:pPr>
                <a:endParaRPr/>
              </a:p>
            </p:txBody>
          </p:sp>
        </p:grpSp>
        <p:sp>
          <p:nvSpPr>
            <p:cNvPr id="43" name="TextBox 46">
              <a:extLst>
                <a:ext uri="{FF2B5EF4-FFF2-40B4-BE49-F238E27FC236}">
                  <a16:creationId xmlns:a16="http://schemas.microsoft.com/office/drawing/2014/main" id="{DFFA26D3-1845-3B20-C4B6-35FA4AC825EA}"/>
                </a:ext>
              </a:extLst>
            </p:cNvPr>
            <p:cNvSpPr txBox="1"/>
            <p:nvPr/>
          </p:nvSpPr>
          <p:spPr>
            <a:xfrm>
              <a:off x="568270" y="585519"/>
              <a:ext cx="4864942" cy="382083"/>
            </a:xfrm>
            <a:prstGeom prst="rect">
              <a:avLst/>
            </a:prstGeom>
          </p:spPr>
          <p:txBody>
            <a:bodyPr lIns="0" tIns="0" rIns="0" bIns="0" rtlCol="0" anchor="t">
              <a:spAutoFit/>
            </a:bodyPr>
            <a:lstStyle/>
            <a:p>
              <a:pPr algn="l">
                <a:lnSpc>
                  <a:spcPts val="2263"/>
                </a:lnSpc>
              </a:pPr>
              <a:r>
                <a:rPr lang="en-US" sz="1968" b="1">
                  <a:solidFill>
                    <a:srgbClr val="FFFFFF"/>
                  </a:solidFill>
                  <a:latin typeface="Canva Sans Bold"/>
                  <a:ea typeface="Canva Sans Bold"/>
                  <a:cs typeface="Canva Sans Bold"/>
                  <a:sym typeface="Canva Sans Bold"/>
                </a:rPr>
                <a:t>SQLI</a:t>
              </a:r>
            </a:p>
          </p:txBody>
        </p:sp>
        <p:sp>
          <p:nvSpPr>
            <p:cNvPr id="44" name="TextBox 47">
              <a:extLst>
                <a:ext uri="{FF2B5EF4-FFF2-40B4-BE49-F238E27FC236}">
                  <a16:creationId xmlns:a16="http://schemas.microsoft.com/office/drawing/2014/main" id="{D34BE472-A77D-7785-2CFF-41CD35D739BA}"/>
                </a:ext>
              </a:extLst>
            </p:cNvPr>
            <p:cNvSpPr txBox="1"/>
            <p:nvPr/>
          </p:nvSpPr>
          <p:spPr>
            <a:xfrm>
              <a:off x="568270" y="1173504"/>
              <a:ext cx="5839525" cy="3287965"/>
            </a:xfrm>
            <a:prstGeom prst="rect">
              <a:avLst/>
            </a:prstGeom>
          </p:spPr>
          <p:txBody>
            <a:bodyPr lIns="0" tIns="0" rIns="0" bIns="0" rtlCol="0" anchor="t">
              <a:spAutoFit/>
            </a:bodyPr>
            <a:lstStyle/>
            <a:p>
              <a:pPr algn="l">
                <a:lnSpc>
                  <a:spcPts val="2180"/>
                </a:lnSpc>
              </a:pPr>
              <a:r>
                <a:rPr lang="en-US" sz="1816">
                  <a:solidFill>
                    <a:srgbClr val="FFFFFF"/>
                  </a:solidFill>
                  <a:latin typeface="Proxima Nova Light"/>
                  <a:ea typeface="Proxima Nova Light"/>
                  <a:cs typeface="Proxima Nova Light"/>
                  <a:sym typeface="Proxima Nova Light"/>
                </a:rPr>
                <a:t>Une entreprise tunisienne spécialisée dans les services numériques, offrant des solutions en développement de plateformes digitales, systèmes d’information intelligents, applications mobiles, e-commerce, marketing digital et conseil IT. Elle dispose d’une expertise reconnue dans la conception de solutions technologiques innovantes.</a:t>
              </a:r>
            </a:p>
          </p:txBody>
        </p:sp>
      </p:grpSp>
      <p:sp>
        <p:nvSpPr>
          <p:cNvPr id="49" name="TextBox 48">
            <a:extLst>
              <a:ext uri="{FF2B5EF4-FFF2-40B4-BE49-F238E27FC236}">
                <a16:creationId xmlns:a16="http://schemas.microsoft.com/office/drawing/2014/main" id="{98677F73-5DAD-9DAA-32A6-B0C314CFB0C1}"/>
              </a:ext>
            </a:extLst>
          </p:cNvPr>
          <p:cNvSpPr txBox="1"/>
          <p:nvPr/>
        </p:nvSpPr>
        <p:spPr>
          <a:xfrm>
            <a:off x="1014355" y="2564365"/>
            <a:ext cx="3770580" cy="303516"/>
          </a:xfrm>
          <a:prstGeom prst="rect">
            <a:avLst/>
          </a:prstGeom>
        </p:spPr>
        <p:txBody>
          <a:bodyPr lIns="0" tIns="0" rIns="0" bIns="0" rtlCol="0" anchor="t">
            <a:spAutoFit/>
          </a:bodyPr>
          <a:lstStyle/>
          <a:p>
            <a:pPr algn="l">
              <a:lnSpc>
                <a:spcPts val="2339"/>
              </a:lnSpc>
            </a:pPr>
            <a:r>
              <a:rPr lang="en-US" sz="2033" b="1">
                <a:solidFill>
                  <a:srgbClr val="FFFFFF"/>
                </a:solidFill>
                <a:latin typeface="Canva Sans Bold"/>
                <a:ea typeface="Canva Sans Bold"/>
                <a:cs typeface="Canva Sans Bold"/>
                <a:sym typeface="Canva Sans Bold"/>
              </a:rPr>
              <a:t>LSE</a:t>
            </a:r>
          </a:p>
        </p:txBody>
      </p:sp>
      <p:sp>
        <p:nvSpPr>
          <p:cNvPr id="50" name="TextBox 49">
            <a:extLst>
              <a:ext uri="{FF2B5EF4-FFF2-40B4-BE49-F238E27FC236}">
                <a16:creationId xmlns:a16="http://schemas.microsoft.com/office/drawing/2014/main" id="{CF49B9FF-311A-D329-022B-0CEE5584E867}"/>
              </a:ext>
            </a:extLst>
          </p:cNvPr>
          <p:cNvSpPr txBox="1"/>
          <p:nvPr/>
        </p:nvSpPr>
        <p:spPr>
          <a:xfrm>
            <a:off x="1014355" y="3027466"/>
            <a:ext cx="4525931" cy="1982043"/>
          </a:xfrm>
          <a:prstGeom prst="rect">
            <a:avLst/>
          </a:prstGeom>
        </p:spPr>
        <p:txBody>
          <a:bodyPr lIns="0" tIns="0" rIns="0" bIns="0" rtlCol="0" anchor="t">
            <a:spAutoFit/>
          </a:bodyPr>
          <a:lstStyle/>
          <a:p>
            <a:pPr algn="l">
              <a:lnSpc>
                <a:spcPts val="2253"/>
              </a:lnSpc>
            </a:pPr>
            <a:r>
              <a:rPr lang="en-US" sz="1877">
                <a:solidFill>
                  <a:srgbClr val="FFFFFF"/>
                </a:solidFill>
                <a:latin typeface="Proxima Nova Light"/>
                <a:ea typeface="Proxima Nova Light"/>
                <a:cs typeface="Proxima Nova Light"/>
                <a:sym typeface="Proxima Nova Light"/>
              </a:rPr>
              <a:t>Le laboratoire se spécialise dans les systèmes d’énergie électrique, couvrant la production, la conversion, la distribution, la gestion et la fiabilité des réseaux, ainsi que les communications associées.</a:t>
            </a:r>
          </a:p>
          <a:p>
            <a:pPr algn="l">
              <a:lnSpc>
                <a:spcPts val="2253"/>
              </a:lnSpc>
            </a:pPr>
            <a:endParaRPr lang="en-US" sz="1877">
              <a:solidFill>
                <a:srgbClr val="FFFFFF"/>
              </a:solidFill>
              <a:latin typeface="Proxima Nova Light"/>
              <a:ea typeface="Proxima Nova Light"/>
              <a:cs typeface="Proxima Nova Light"/>
              <a:sym typeface="Proxima Nova Light"/>
            </a:endParaRPr>
          </a:p>
          <a:p>
            <a:pPr algn="l">
              <a:lnSpc>
                <a:spcPts val="2253"/>
              </a:lnSpc>
            </a:pPr>
            <a:endParaRPr lang="en-US" sz="1877">
              <a:solidFill>
                <a:srgbClr val="FFFFFF"/>
              </a:solidFill>
              <a:latin typeface="Proxima Nova Light"/>
              <a:ea typeface="Proxima Nova Light"/>
              <a:cs typeface="Proxima Nova Light"/>
              <a:sym typeface="Proxima Nova Light"/>
            </a:endParaRPr>
          </a:p>
        </p:txBody>
      </p:sp>
      <p:sp>
        <p:nvSpPr>
          <p:cNvPr id="51" name="TextBox 3">
            <a:extLst>
              <a:ext uri="{FF2B5EF4-FFF2-40B4-BE49-F238E27FC236}">
                <a16:creationId xmlns:a16="http://schemas.microsoft.com/office/drawing/2014/main" id="{6832CB84-3FF2-16A6-B4AC-9CF8A8D03A28}"/>
              </a:ext>
            </a:extLst>
          </p:cNvPr>
          <p:cNvSpPr txBox="1"/>
          <p:nvPr/>
        </p:nvSpPr>
        <p:spPr>
          <a:xfrm>
            <a:off x="9991870" y="368688"/>
            <a:ext cx="6366361" cy="1212850"/>
          </a:xfrm>
          <a:prstGeom prst="rect">
            <a:avLst/>
          </a:prstGeom>
        </p:spPr>
        <p:txBody>
          <a:bodyPr wrap="square" lIns="0" tIns="0" rIns="0" bIns="0" rtlCol="0" anchor="t">
            <a:spAutoFit/>
          </a:bodyPr>
          <a:lstStyle/>
          <a:p>
            <a:pPr marL="0" lvl="0" indent="0" algn="l">
              <a:lnSpc>
                <a:spcPts val="9349"/>
              </a:lnSpc>
              <a:spcBef>
                <a:spcPct val="0"/>
              </a:spcBef>
            </a:pPr>
            <a:r>
              <a:rPr lang="en-US" sz="8499" dirty="0">
                <a:solidFill>
                  <a:schemeClr val="accent6">
                    <a:lumMod val="75000"/>
                  </a:schemeClr>
                </a:solidFill>
                <a:latin typeface="Hammersmith One"/>
                <a:ea typeface="Hammersmith One"/>
                <a:cs typeface="Hammersmith One"/>
                <a:sym typeface="Hammersmith One"/>
              </a:rPr>
              <a:t>Équipe</a:t>
            </a:r>
          </a:p>
        </p:txBody>
      </p:sp>
    </p:spTree>
    <p:extLst>
      <p:ext uri="{BB962C8B-B14F-4D97-AF65-F5344CB8AC3E}">
        <p14:creationId xmlns:p14="http://schemas.microsoft.com/office/powerpoint/2010/main" val="2076286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grpSp>
        <p:nvGrpSpPr>
          <p:cNvPr id="3" name="Group 3"/>
          <p:cNvGrpSpPr/>
          <p:nvPr/>
        </p:nvGrpSpPr>
        <p:grpSpPr>
          <a:xfrm rot="-10800000">
            <a:off x="0" y="-1350973"/>
            <a:ext cx="18288000" cy="5244293"/>
            <a:chOff x="0" y="0"/>
            <a:chExt cx="4816593" cy="1381213"/>
          </a:xfrm>
        </p:grpSpPr>
        <p:sp>
          <p:nvSpPr>
            <p:cNvPr id="4" name="Freeform 4"/>
            <p:cNvSpPr/>
            <p:nvPr/>
          </p:nvSpPr>
          <p:spPr>
            <a:xfrm>
              <a:off x="0" y="0"/>
              <a:ext cx="4816592" cy="1381213"/>
            </a:xfrm>
            <a:custGeom>
              <a:avLst/>
              <a:gdLst/>
              <a:ahLst/>
              <a:cxnLst/>
              <a:rect l="l" t="t" r="r" b="b"/>
              <a:pathLst>
                <a:path w="4816592" h="1381213">
                  <a:moveTo>
                    <a:pt x="0" y="0"/>
                  </a:moveTo>
                  <a:lnTo>
                    <a:pt x="4816592" y="0"/>
                  </a:lnTo>
                  <a:lnTo>
                    <a:pt x="4816592" y="1381213"/>
                  </a:lnTo>
                  <a:lnTo>
                    <a:pt x="0" y="1381213"/>
                  </a:lnTo>
                  <a:close/>
                </a:path>
              </a:pathLst>
            </a:custGeom>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p:spPr>
          <p:txBody>
            <a:bodyPr/>
            <a:lstStyle/>
            <a:p>
              <a:endParaRPr lang="en-US"/>
            </a:p>
          </p:txBody>
        </p:sp>
        <p:sp>
          <p:nvSpPr>
            <p:cNvPr id="5" name="TextBox 5"/>
            <p:cNvSpPr txBox="1"/>
            <p:nvPr/>
          </p:nvSpPr>
          <p:spPr>
            <a:xfrm>
              <a:off x="0" y="-38100"/>
              <a:ext cx="4816593" cy="1419313"/>
            </a:xfrm>
            <a:prstGeom prst="rect">
              <a:avLst/>
            </a:prstGeom>
          </p:spPr>
          <p:txBody>
            <a:bodyPr lIns="50800" tIns="50800" rIns="50800" bIns="50800" rtlCol="0" anchor="ctr"/>
            <a:lstStyle/>
            <a:p>
              <a:pPr algn="ctr">
                <a:lnSpc>
                  <a:spcPts val="3374"/>
                </a:lnSpc>
              </a:pPr>
              <a:endParaRPr/>
            </a:p>
          </p:txBody>
        </p:sp>
      </p:grpSp>
      <p:grpSp>
        <p:nvGrpSpPr>
          <p:cNvPr id="6" name="Group 6"/>
          <p:cNvGrpSpPr>
            <a:grpSpLocks noChangeAspect="1"/>
          </p:cNvGrpSpPr>
          <p:nvPr/>
        </p:nvGrpSpPr>
        <p:grpSpPr>
          <a:xfrm>
            <a:off x="3038670" y="4737215"/>
            <a:ext cx="2362240" cy="2362230"/>
            <a:chOff x="0" y="0"/>
            <a:chExt cx="6350000" cy="6349975"/>
          </a:xfrm>
        </p:grpSpPr>
        <p:sp>
          <p:nvSpPr>
            <p:cNvPr id="7" name="Freeform 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a:stretch>
            </a:blipFill>
          </p:spPr>
          <p:txBody>
            <a:bodyPr/>
            <a:lstStyle/>
            <a:p>
              <a:endParaRPr lang="en-US"/>
            </a:p>
          </p:txBody>
        </p:sp>
      </p:grpSp>
      <p:sp>
        <p:nvSpPr>
          <p:cNvPr id="8" name="Freeform 8"/>
          <p:cNvSpPr/>
          <p:nvPr/>
        </p:nvSpPr>
        <p:spPr>
          <a:xfrm>
            <a:off x="12460637" y="-1140308"/>
            <a:ext cx="8487624" cy="5033628"/>
          </a:xfrm>
          <a:custGeom>
            <a:avLst/>
            <a:gdLst/>
            <a:ahLst/>
            <a:cxnLst/>
            <a:rect l="l" t="t" r="r" b="b"/>
            <a:pathLst>
              <a:path w="8487624" h="5033628">
                <a:moveTo>
                  <a:pt x="0" y="0"/>
                </a:moveTo>
                <a:lnTo>
                  <a:pt x="8487623" y="0"/>
                </a:lnTo>
                <a:lnTo>
                  <a:pt x="8487623" y="5033628"/>
                </a:lnTo>
                <a:lnTo>
                  <a:pt x="0" y="5033628"/>
                </a:lnTo>
                <a:lnTo>
                  <a:pt x="0" y="0"/>
                </a:lnTo>
                <a:close/>
              </a:path>
            </a:pathLst>
          </a:custGeom>
          <a:blipFill>
            <a:blip>
              <a:extLst>
                <a:ext uri="{96DAC541-7B7A-43D3-8B79-37D633B846F1}">
                  <asvg:svgBlip xmlns:asvg="http://schemas.microsoft.com/office/drawing/2016/SVG/main" r:embed="rId3"/>
                </a:ext>
              </a:extLst>
            </a:blip>
            <a:stretch>
              <a:fillRect t="-382" r="-12851" b="-58421"/>
            </a:stretch>
          </a:blipFill>
        </p:spPr>
        <p:txBody>
          <a:bodyPr/>
          <a:lstStyle/>
          <a:p>
            <a:endParaRPr lang="en-US"/>
          </a:p>
        </p:txBody>
      </p:sp>
      <p:grpSp>
        <p:nvGrpSpPr>
          <p:cNvPr id="9" name="Group 9"/>
          <p:cNvGrpSpPr>
            <a:grpSpLocks noChangeAspect="1"/>
          </p:cNvGrpSpPr>
          <p:nvPr/>
        </p:nvGrpSpPr>
        <p:grpSpPr>
          <a:xfrm>
            <a:off x="9234221" y="4737215"/>
            <a:ext cx="2362240" cy="2362230"/>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a:stretch>
            </a:blipFill>
          </p:spPr>
          <p:txBody>
            <a:bodyPr/>
            <a:lstStyle/>
            <a:p>
              <a:endParaRPr lang="en-US"/>
            </a:p>
          </p:txBody>
        </p:sp>
      </p:grpSp>
      <p:grpSp>
        <p:nvGrpSpPr>
          <p:cNvPr id="11" name="Group 11"/>
          <p:cNvGrpSpPr>
            <a:grpSpLocks noChangeAspect="1"/>
          </p:cNvGrpSpPr>
          <p:nvPr/>
        </p:nvGrpSpPr>
        <p:grpSpPr>
          <a:xfrm>
            <a:off x="6138556" y="4695537"/>
            <a:ext cx="2362240" cy="2362230"/>
            <a:chOff x="0" y="0"/>
            <a:chExt cx="6350000" cy="6349975"/>
          </a:xfrm>
        </p:grpSpPr>
        <p:sp>
          <p:nvSpPr>
            <p:cNvPr id="12" name="Freeform 12"/>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b="-33333"/>
              </a:stretch>
            </a:blipFill>
          </p:spPr>
          <p:txBody>
            <a:bodyPr/>
            <a:lstStyle/>
            <a:p>
              <a:endParaRPr lang="en-US"/>
            </a:p>
          </p:txBody>
        </p:sp>
      </p:grpSp>
      <p:grpSp>
        <p:nvGrpSpPr>
          <p:cNvPr id="13" name="Group 13"/>
          <p:cNvGrpSpPr>
            <a:grpSpLocks noChangeAspect="1"/>
          </p:cNvGrpSpPr>
          <p:nvPr/>
        </p:nvGrpSpPr>
        <p:grpSpPr>
          <a:xfrm>
            <a:off x="12552985" y="4737215"/>
            <a:ext cx="2362240" cy="2362230"/>
            <a:chOff x="0" y="0"/>
            <a:chExt cx="6350000" cy="6349975"/>
          </a:xfrm>
        </p:grpSpPr>
        <p:sp>
          <p:nvSpPr>
            <p:cNvPr id="14" name="Freeform 14"/>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a:stretch>
            </a:blipFill>
          </p:spPr>
          <p:txBody>
            <a:bodyPr/>
            <a:lstStyle/>
            <a:p>
              <a:endParaRPr lang="en-US"/>
            </a:p>
          </p:txBody>
        </p:sp>
      </p:grpSp>
      <p:grpSp>
        <p:nvGrpSpPr>
          <p:cNvPr id="15" name="Group 15"/>
          <p:cNvGrpSpPr/>
          <p:nvPr/>
        </p:nvGrpSpPr>
        <p:grpSpPr>
          <a:xfrm>
            <a:off x="12382274" y="1028700"/>
            <a:ext cx="2362240" cy="2362230"/>
            <a:chOff x="0" y="0"/>
            <a:chExt cx="6350000" cy="6349975"/>
          </a:xfrm>
        </p:grpSpPr>
        <p:sp>
          <p:nvSpPr>
            <p:cNvPr id="16" name="Freeform 16"/>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7"/>
              <a:stretch>
                <a:fillRect l="-359285" t="-172723" r="-372840" b="-195349"/>
              </a:stretch>
            </a:blipFill>
          </p:spPr>
          <p:txBody>
            <a:bodyPr/>
            <a:lstStyle/>
            <a:p>
              <a:endParaRPr lang="en-US"/>
            </a:p>
          </p:txBody>
        </p:sp>
      </p:grpSp>
      <p:sp>
        <p:nvSpPr>
          <p:cNvPr id="17" name="Freeform 17"/>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8"/>
            <a:stretch>
              <a:fillRect/>
            </a:stretch>
          </a:blipFill>
        </p:spPr>
        <p:txBody>
          <a:bodyPr/>
          <a:lstStyle/>
          <a:p>
            <a:endParaRPr lang="en-US"/>
          </a:p>
        </p:txBody>
      </p:sp>
      <p:grpSp>
        <p:nvGrpSpPr>
          <p:cNvPr id="18" name="Group 18"/>
          <p:cNvGrpSpPr>
            <a:grpSpLocks noChangeAspect="1"/>
          </p:cNvGrpSpPr>
          <p:nvPr/>
        </p:nvGrpSpPr>
        <p:grpSpPr>
          <a:xfrm>
            <a:off x="433002" y="4737215"/>
            <a:ext cx="2362240" cy="2362230"/>
            <a:chOff x="0" y="0"/>
            <a:chExt cx="6350000" cy="6349975"/>
          </a:xfrm>
        </p:grpSpPr>
        <p:sp>
          <p:nvSpPr>
            <p:cNvPr id="19" name="Freeform 19"/>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9"/>
              <a:stretch>
                <a:fillRect/>
              </a:stretch>
            </a:blipFill>
          </p:spPr>
          <p:txBody>
            <a:bodyPr/>
            <a:lstStyle/>
            <a:p>
              <a:endParaRPr lang="en-US"/>
            </a:p>
          </p:txBody>
        </p:sp>
      </p:grpSp>
      <p:grpSp>
        <p:nvGrpSpPr>
          <p:cNvPr id="20" name="Group 20"/>
          <p:cNvGrpSpPr>
            <a:grpSpLocks noChangeAspect="1"/>
          </p:cNvGrpSpPr>
          <p:nvPr/>
        </p:nvGrpSpPr>
        <p:grpSpPr>
          <a:xfrm>
            <a:off x="15554817" y="4695537"/>
            <a:ext cx="2362240" cy="2362230"/>
            <a:chOff x="0" y="0"/>
            <a:chExt cx="6350000" cy="6349975"/>
          </a:xfrm>
        </p:grpSpPr>
        <p:sp>
          <p:nvSpPr>
            <p:cNvPr id="21" name="Freeform 21"/>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10"/>
              <a:stretch>
                <a:fillRect t="-2837" b="-37514"/>
              </a:stretch>
            </a:blipFill>
          </p:spPr>
          <p:txBody>
            <a:bodyPr/>
            <a:lstStyle/>
            <a:p>
              <a:endParaRPr lang="en-US"/>
            </a:p>
          </p:txBody>
        </p:sp>
      </p:grpSp>
      <p:grpSp>
        <p:nvGrpSpPr>
          <p:cNvPr id="25" name="Group 25"/>
          <p:cNvGrpSpPr/>
          <p:nvPr/>
        </p:nvGrpSpPr>
        <p:grpSpPr>
          <a:xfrm>
            <a:off x="25230" y="7382121"/>
            <a:ext cx="2794562" cy="1384628"/>
            <a:chOff x="0" y="0"/>
            <a:chExt cx="3726083" cy="1846171"/>
          </a:xfrm>
        </p:grpSpPr>
        <p:sp>
          <p:nvSpPr>
            <p:cNvPr id="26" name="TextBox 26"/>
            <p:cNvSpPr txBox="1"/>
            <p:nvPr/>
          </p:nvSpPr>
          <p:spPr>
            <a:xfrm>
              <a:off x="0" y="1449931"/>
              <a:ext cx="3726083" cy="396240"/>
            </a:xfrm>
            <a:prstGeom prst="rect">
              <a:avLst/>
            </a:prstGeom>
          </p:spPr>
          <p:txBody>
            <a:bodyPr lIns="0" tIns="0" rIns="0" bIns="0" rtlCol="0" anchor="t">
              <a:spAutoFit/>
            </a:bodyPr>
            <a:lstStyle/>
            <a:p>
              <a:pPr marL="0" lvl="0" indent="0" algn="ctr">
                <a:lnSpc>
                  <a:spcPts val="2520"/>
                </a:lnSpc>
              </a:pPr>
              <a:endParaRPr/>
            </a:p>
          </p:txBody>
        </p:sp>
        <p:sp>
          <p:nvSpPr>
            <p:cNvPr id="27" name="TextBox 27"/>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Najiba MRABET BELLAAJ</a:t>
              </a:r>
            </a:p>
          </p:txBody>
        </p:sp>
      </p:grpSp>
      <p:grpSp>
        <p:nvGrpSpPr>
          <p:cNvPr id="28" name="Group 28"/>
          <p:cNvGrpSpPr/>
          <p:nvPr/>
        </p:nvGrpSpPr>
        <p:grpSpPr>
          <a:xfrm>
            <a:off x="2973812" y="7392453"/>
            <a:ext cx="2794562" cy="1384628"/>
            <a:chOff x="0" y="0"/>
            <a:chExt cx="3726083" cy="1846171"/>
          </a:xfrm>
        </p:grpSpPr>
        <p:sp>
          <p:nvSpPr>
            <p:cNvPr id="29" name="TextBox 29"/>
            <p:cNvSpPr txBox="1"/>
            <p:nvPr/>
          </p:nvSpPr>
          <p:spPr>
            <a:xfrm>
              <a:off x="0" y="1449931"/>
              <a:ext cx="3726083" cy="396240"/>
            </a:xfrm>
            <a:prstGeom prst="rect">
              <a:avLst/>
            </a:prstGeom>
          </p:spPr>
          <p:txBody>
            <a:bodyPr lIns="0" tIns="0" rIns="0" bIns="0" rtlCol="0" anchor="t">
              <a:spAutoFit/>
            </a:bodyPr>
            <a:lstStyle/>
            <a:p>
              <a:pPr marL="0" lvl="0" indent="0" algn="ctr">
                <a:lnSpc>
                  <a:spcPts val="2520"/>
                </a:lnSpc>
              </a:pPr>
              <a:endParaRPr/>
            </a:p>
          </p:txBody>
        </p:sp>
        <p:sp>
          <p:nvSpPr>
            <p:cNvPr id="30" name="TextBox 30"/>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Manef BOUROGAOUI</a:t>
              </a:r>
            </a:p>
          </p:txBody>
        </p:sp>
      </p:grpSp>
      <p:grpSp>
        <p:nvGrpSpPr>
          <p:cNvPr id="31" name="Group 31"/>
          <p:cNvGrpSpPr/>
          <p:nvPr/>
        </p:nvGrpSpPr>
        <p:grpSpPr>
          <a:xfrm>
            <a:off x="5922395" y="7382121"/>
            <a:ext cx="2794562" cy="1841828"/>
            <a:chOff x="0" y="0"/>
            <a:chExt cx="3726083" cy="2455771"/>
          </a:xfrm>
        </p:grpSpPr>
        <p:sp>
          <p:nvSpPr>
            <p:cNvPr id="32" name="TextBox 32"/>
            <p:cNvSpPr txBox="1"/>
            <p:nvPr/>
          </p:nvSpPr>
          <p:spPr>
            <a:xfrm>
              <a:off x="0" y="2059531"/>
              <a:ext cx="3726083" cy="396240"/>
            </a:xfrm>
            <a:prstGeom prst="rect">
              <a:avLst/>
            </a:prstGeom>
          </p:spPr>
          <p:txBody>
            <a:bodyPr lIns="0" tIns="0" rIns="0" bIns="0" rtlCol="0" anchor="t">
              <a:spAutoFit/>
            </a:bodyPr>
            <a:lstStyle/>
            <a:p>
              <a:pPr marL="0" lvl="0" indent="0" algn="ctr">
                <a:lnSpc>
                  <a:spcPts val="2520"/>
                </a:lnSpc>
              </a:pPr>
              <a:endParaRPr/>
            </a:p>
          </p:txBody>
        </p:sp>
        <p:sp>
          <p:nvSpPr>
            <p:cNvPr id="33" name="TextBox 33"/>
            <p:cNvSpPr txBox="1"/>
            <p:nvPr/>
          </p:nvSpPr>
          <p:spPr>
            <a:xfrm>
              <a:off x="0" y="0"/>
              <a:ext cx="3726083" cy="18288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Marwa BEN </a:t>
              </a:r>
            </a:p>
            <a:p>
              <a:pPr algn="ctr">
                <a:lnSpc>
                  <a:spcPts val="3600"/>
                </a:lnSpc>
              </a:pPr>
              <a:r>
                <a:rPr lang="en-US" sz="3000" spc="-150">
                  <a:solidFill>
                    <a:srgbClr val="010101"/>
                  </a:solidFill>
                  <a:latin typeface="Garet"/>
                  <a:ea typeface="Garet"/>
                  <a:cs typeface="Garet"/>
                  <a:sym typeface="Garet"/>
                </a:rPr>
                <a:t>SAID ROMDHANE</a:t>
              </a:r>
            </a:p>
          </p:txBody>
        </p:sp>
      </p:grpSp>
      <p:grpSp>
        <p:nvGrpSpPr>
          <p:cNvPr id="34" name="Group 34"/>
          <p:cNvGrpSpPr/>
          <p:nvPr/>
        </p:nvGrpSpPr>
        <p:grpSpPr>
          <a:xfrm>
            <a:off x="9018060" y="7382121"/>
            <a:ext cx="2794562" cy="1841828"/>
            <a:chOff x="0" y="0"/>
            <a:chExt cx="3726083" cy="2455771"/>
          </a:xfrm>
        </p:grpSpPr>
        <p:sp>
          <p:nvSpPr>
            <p:cNvPr id="35" name="TextBox 35"/>
            <p:cNvSpPr txBox="1"/>
            <p:nvPr/>
          </p:nvSpPr>
          <p:spPr>
            <a:xfrm>
              <a:off x="0" y="2059531"/>
              <a:ext cx="3726083" cy="396240"/>
            </a:xfrm>
            <a:prstGeom prst="rect">
              <a:avLst/>
            </a:prstGeom>
          </p:spPr>
          <p:txBody>
            <a:bodyPr lIns="0" tIns="0" rIns="0" bIns="0" rtlCol="0" anchor="t">
              <a:spAutoFit/>
            </a:bodyPr>
            <a:lstStyle/>
            <a:p>
              <a:pPr marL="0" lvl="0" indent="0" algn="ctr">
                <a:lnSpc>
                  <a:spcPts val="2520"/>
                </a:lnSpc>
              </a:pPr>
              <a:endParaRPr/>
            </a:p>
          </p:txBody>
        </p:sp>
        <p:sp>
          <p:nvSpPr>
            <p:cNvPr id="36" name="TextBox 36"/>
            <p:cNvSpPr txBox="1"/>
            <p:nvPr/>
          </p:nvSpPr>
          <p:spPr>
            <a:xfrm>
              <a:off x="0" y="0"/>
              <a:ext cx="3726083" cy="18288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Manel JEBALI </a:t>
              </a:r>
            </a:p>
            <a:p>
              <a:pPr algn="ctr">
                <a:lnSpc>
                  <a:spcPts val="3600"/>
                </a:lnSpc>
              </a:pPr>
              <a:r>
                <a:rPr lang="en-US" sz="3000" spc="-150">
                  <a:solidFill>
                    <a:srgbClr val="010101"/>
                  </a:solidFill>
                  <a:latin typeface="Garet"/>
                  <a:ea typeface="Garet"/>
                  <a:cs typeface="Garet"/>
                  <a:sym typeface="Garet"/>
                </a:rPr>
                <a:t>BEN GHORBAL</a:t>
              </a:r>
            </a:p>
            <a:p>
              <a:pPr algn="ctr">
                <a:lnSpc>
                  <a:spcPts val="3600"/>
                </a:lnSpc>
              </a:pPr>
              <a:endParaRPr lang="en-US" sz="3000" spc="-150">
                <a:solidFill>
                  <a:srgbClr val="010101"/>
                </a:solidFill>
                <a:latin typeface="Garet"/>
                <a:ea typeface="Garet"/>
                <a:cs typeface="Garet"/>
                <a:sym typeface="Garet"/>
              </a:endParaRPr>
            </a:p>
          </p:txBody>
        </p:sp>
      </p:grpSp>
      <p:grpSp>
        <p:nvGrpSpPr>
          <p:cNvPr id="37" name="Group 37"/>
          <p:cNvGrpSpPr/>
          <p:nvPr/>
        </p:nvGrpSpPr>
        <p:grpSpPr>
          <a:xfrm>
            <a:off x="12336824" y="7333929"/>
            <a:ext cx="2794562" cy="927428"/>
            <a:chOff x="0" y="0"/>
            <a:chExt cx="3726083" cy="1236571"/>
          </a:xfrm>
        </p:grpSpPr>
        <p:sp>
          <p:nvSpPr>
            <p:cNvPr id="38" name="TextBox 38"/>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39" name="TextBox 39"/>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Nidhal MDINI</a:t>
              </a:r>
            </a:p>
          </p:txBody>
        </p:sp>
      </p:grpSp>
      <p:grpSp>
        <p:nvGrpSpPr>
          <p:cNvPr id="40" name="Group 40"/>
          <p:cNvGrpSpPr/>
          <p:nvPr/>
        </p:nvGrpSpPr>
        <p:grpSpPr>
          <a:xfrm>
            <a:off x="15307167" y="1271173"/>
            <a:ext cx="2794562" cy="2299028"/>
            <a:chOff x="0" y="0"/>
            <a:chExt cx="3726083" cy="3065371"/>
          </a:xfrm>
        </p:grpSpPr>
        <p:sp>
          <p:nvSpPr>
            <p:cNvPr id="41" name="TextBox 41"/>
            <p:cNvSpPr txBox="1"/>
            <p:nvPr/>
          </p:nvSpPr>
          <p:spPr>
            <a:xfrm>
              <a:off x="0" y="2669131"/>
              <a:ext cx="3726083" cy="396240"/>
            </a:xfrm>
            <a:prstGeom prst="rect">
              <a:avLst/>
            </a:prstGeom>
          </p:spPr>
          <p:txBody>
            <a:bodyPr lIns="0" tIns="0" rIns="0" bIns="0" rtlCol="0" anchor="t">
              <a:spAutoFit/>
            </a:bodyPr>
            <a:lstStyle/>
            <a:p>
              <a:pPr marL="0" lvl="0" indent="0" algn="ctr">
                <a:lnSpc>
                  <a:spcPts val="2520"/>
                </a:lnSpc>
              </a:pPr>
              <a:r>
                <a:rPr lang="en-US" sz="1800" spc="-18">
                  <a:solidFill>
                    <a:srgbClr val="FFFFFF"/>
                  </a:solidFill>
                  <a:latin typeface="Garet"/>
                  <a:ea typeface="Garet"/>
                  <a:cs typeface="Garet"/>
                  <a:sym typeface="Garet"/>
                </a:rPr>
                <a:t>Project</a:t>
              </a:r>
              <a:r>
                <a:rPr lang="en-US" sz="1800" u="none" spc="-18">
                  <a:solidFill>
                    <a:srgbClr val="FFFFFF"/>
                  </a:solidFill>
                  <a:latin typeface="Garet"/>
                  <a:ea typeface="Garet"/>
                  <a:cs typeface="Garet"/>
                  <a:sym typeface="Garet"/>
                </a:rPr>
                <a:t> coordinator</a:t>
              </a:r>
            </a:p>
          </p:txBody>
        </p:sp>
        <p:sp>
          <p:nvSpPr>
            <p:cNvPr id="42" name="TextBox 42"/>
            <p:cNvSpPr txBox="1"/>
            <p:nvPr/>
          </p:nvSpPr>
          <p:spPr>
            <a:xfrm>
              <a:off x="0" y="0"/>
              <a:ext cx="3726083" cy="2438400"/>
            </a:xfrm>
            <a:prstGeom prst="rect">
              <a:avLst/>
            </a:prstGeom>
          </p:spPr>
          <p:txBody>
            <a:bodyPr lIns="0" tIns="0" rIns="0" bIns="0" rtlCol="0" anchor="t">
              <a:spAutoFit/>
            </a:bodyPr>
            <a:lstStyle/>
            <a:p>
              <a:pPr algn="ctr">
                <a:lnSpc>
                  <a:spcPts val="3600"/>
                </a:lnSpc>
              </a:pPr>
              <a:r>
                <a:rPr lang="en-US" sz="3000" spc="-150">
                  <a:solidFill>
                    <a:srgbClr val="FFFFFF"/>
                  </a:solidFill>
                  <a:latin typeface="Garet"/>
                  <a:ea typeface="Garet"/>
                  <a:cs typeface="Garet"/>
                  <a:sym typeface="Garet"/>
                </a:rPr>
                <a:t>Sondes SKANDER</a:t>
              </a:r>
            </a:p>
            <a:p>
              <a:pPr algn="ctr">
                <a:lnSpc>
                  <a:spcPts val="3600"/>
                </a:lnSpc>
              </a:pPr>
              <a:r>
                <a:rPr lang="en-US" sz="3000" spc="-150">
                  <a:solidFill>
                    <a:srgbClr val="FFFFFF"/>
                  </a:solidFill>
                  <a:latin typeface="Garet"/>
                  <a:ea typeface="Garet"/>
                  <a:cs typeface="Garet"/>
                  <a:sym typeface="Garet"/>
                </a:rPr>
                <a:t> MUSTAPHA</a:t>
              </a:r>
            </a:p>
            <a:p>
              <a:pPr algn="ctr">
                <a:lnSpc>
                  <a:spcPts val="3600"/>
                </a:lnSpc>
              </a:pPr>
              <a:endParaRPr lang="en-US" sz="3000" spc="-150">
                <a:solidFill>
                  <a:srgbClr val="FFFFFF"/>
                </a:solidFill>
                <a:latin typeface="Garet"/>
                <a:ea typeface="Garet"/>
                <a:cs typeface="Garet"/>
                <a:sym typeface="Garet"/>
              </a:endParaRPr>
            </a:p>
          </p:txBody>
        </p:sp>
      </p:grpSp>
      <p:grpSp>
        <p:nvGrpSpPr>
          <p:cNvPr id="43" name="Group 43"/>
          <p:cNvGrpSpPr/>
          <p:nvPr/>
        </p:nvGrpSpPr>
        <p:grpSpPr>
          <a:xfrm>
            <a:off x="15436186" y="7333929"/>
            <a:ext cx="2794562" cy="927428"/>
            <a:chOff x="0" y="0"/>
            <a:chExt cx="3726083" cy="1236571"/>
          </a:xfrm>
        </p:grpSpPr>
        <p:sp>
          <p:nvSpPr>
            <p:cNvPr id="44" name="TextBox 44"/>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45" name="TextBox 45"/>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Safa SLOUMA</a:t>
              </a:r>
            </a:p>
          </p:txBody>
        </p:sp>
      </p:grpSp>
      <p:sp>
        <p:nvSpPr>
          <p:cNvPr id="46" name="TextBox 23">
            <a:extLst>
              <a:ext uri="{FF2B5EF4-FFF2-40B4-BE49-F238E27FC236}">
                <a16:creationId xmlns:a16="http://schemas.microsoft.com/office/drawing/2014/main" id="{CAE4FD23-7FD1-3AFC-743C-04DC71B78103}"/>
              </a:ext>
            </a:extLst>
          </p:cNvPr>
          <p:cNvSpPr txBox="1"/>
          <p:nvPr/>
        </p:nvSpPr>
        <p:spPr>
          <a:xfrm>
            <a:off x="587944" y="638905"/>
            <a:ext cx="12613056" cy="2582758"/>
          </a:xfrm>
          <a:prstGeom prst="rect">
            <a:avLst/>
          </a:prstGeom>
        </p:spPr>
        <p:txBody>
          <a:bodyPr wrap="square" lIns="0" tIns="0" rIns="0" bIns="0" rtlCol="0" anchor="t">
            <a:spAutoFit/>
          </a:bodyPr>
          <a:lstStyle/>
          <a:p>
            <a:pPr algn="l">
              <a:lnSpc>
                <a:spcPts val="9999"/>
              </a:lnSpc>
            </a:pPr>
            <a:r>
              <a:rPr lang="en-US" sz="8000" b="1" spc="-299" dirty="0" err="1">
                <a:solidFill>
                  <a:srgbClr val="FFFFFF"/>
                </a:solidFill>
                <a:latin typeface="Telegraf Medium"/>
                <a:ea typeface="Telegraf Medium"/>
                <a:cs typeface="Telegraf Medium"/>
                <a:sym typeface="Telegraf Medium"/>
              </a:rPr>
              <a:t>Membres</a:t>
            </a:r>
            <a:r>
              <a:rPr lang="en-US" sz="8000" b="1" spc="-299" dirty="0">
                <a:solidFill>
                  <a:srgbClr val="FFFFFF"/>
                </a:solidFill>
                <a:latin typeface="Telegraf Medium"/>
                <a:ea typeface="Telegraf Medium"/>
                <a:cs typeface="Telegraf Medium"/>
                <a:sym typeface="Telegraf Medium"/>
              </a:rPr>
              <a:t> de </a:t>
            </a:r>
          </a:p>
          <a:p>
            <a:pPr algn="l">
              <a:lnSpc>
                <a:spcPts val="9999"/>
              </a:lnSpc>
            </a:pPr>
            <a:r>
              <a:rPr lang="en-US" sz="8000" b="1" spc="-299" dirty="0" err="1">
                <a:solidFill>
                  <a:srgbClr val="FFFFFF"/>
                </a:solidFill>
                <a:latin typeface="Telegraf Medium"/>
                <a:ea typeface="Telegraf Medium"/>
                <a:cs typeface="Telegraf Medium"/>
                <a:sym typeface="Telegraf Medium"/>
              </a:rPr>
              <a:t>l'équipe</a:t>
            </a:r>
            <a:endParaRPr lang="en-US" sz="8000" b="1" spc="-299" dirty="0">
              <a:solidFill>
                <a:srgbClr val="FFFFFF"/>
              </a:solidFill>
              <a:latin typeface="Telegraf Medium"/>
              <a:ea typeface="Telegraf Medium"/>
              <a:cs typeface="Telegraf Medium"/>
              <a:sym typeface="Telegraf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grpSp>
        <p:nvGrpSpPr>
          <p:cNvPr id="3" name="Group 3"/>
          <p:cNvGrpSpPr/>
          <p:nvPr/>
        </p:nvGrpSpPr>
        <p:grpSpPr>
          <a:xfrm rot="-10800000">
            <a:off x="0" y="-1350973"/>
            <a:ext cx="18288000" cy="5244293"/>
            <a:chOff x="0" y="0"/>
            <a:chExt cx="4816593" cy="1381213"/>
          </a:xfrm>
        </p:grpSpPr>
        <p:sp>
          <p:nvSpPr>
            <p:cNvPr id="4" name="Freeform 4"/>
            <p:cNvSpPr/>
            <p:nvPr/>
          </p:nvSpPr>
          <p:spPr>
            <a:xfrm>
              <a:off x="0" y="0"/>
              <a:ext cx="4816592" cy="1381213"/>
            </a:xfrm>
            <a:custGeom>
              <a:avLst/>
              <a:gdLst/>
              <a:ahLst/>
              <a:cxnLst/>
              <a:rect l="l" t="t" r="r" b="b"/>
              <a:pathLst>
                <a:path w="4816592" h="1381213">
                  <a:moveTo>
                    <a:pt x="0" y="0"/>
                  </a:moveTo>
                  <a:lnTo>
                    <a:pt x="4816592" y="0"/>
                  </a:lnTo>
                  <a:lnTo>
                    <a:pt x="4816592" y="1381213"/>
                  </a:lnTo>
                  <a:lnTo>
                    <a:pt x="0" y="1381213"/>
                  </a:lnTo>
                  <a:close/>
                </a:path>
              </a:pathLst>
            </a:custGeom>
            <a:gradFill>
              <a:gsLst>
                <a:gs pos="42000">
                  <a:srgbClr val="243186"/>
                </a:gs>
                <a:gs pos="14222">
                  <a:srgbClr val="243186"/>
                </a:gs>
                <a:gs pos="89000">
                  <a:srgbClr val="FFCF45"/>
                </a:gs>
                <a:gs pos="100000">
                  <a:schemeClr val="accent5">
                    <a:lumMod val="60000"/>
                  </a:schemeClr>
                </a:gs>
              </a:gsLst>
              <a:path path="circle">
                <a:fillToRect l="50000" t="130000" r="50000" b="-30000"/>
              </a:path>
            </a:gradFill>
          </p:spPr>
          <p:txBody>
            <a:bodyPr/>
            <a:lstStyle/>
            <a:p>
              <a:endParaRPr lang="en-US"/>
            </a:p>
          </p:txBody>
        </p:sp>
        <p:sp>
          <p:nvSpPr>
            <p:cNvPr id="5" name="TextBox 5"/>
            <p:cNvSpPr txBox="1"/>
            <p:nvPr/>
          </p:nvSpPr>
          <p:spPr>
            <a:xfrm>
              <a:off x="0" y="-38100"/>
              <a:ext cx="4816593" cy="1419313"/>
            </a:xfrm>
            <a:prstGeom prst="rect">
              <a:avLst/>
            </a:prstGeom>
          </p:spPr>
          <p:txBody>
            <a:bodyPr lIns="50800" tIns="50800" rIns="50800" bIns="50800" rtlCol="0" anchor="ctr"/>
            <a:lstStyle/>
            <a:p>
              <a:pPr algn="ctr">
                <a:lnSpc>
                  <a:spcPts val="3374"/>
                </a:lnSpc>
              </a:pPr>
              <a:endParaRPr/>
            </a:p>
          </p:txBody>
        </p:sp>
      </p:grpSp>
      <p:grpSp>
        <p:nvGrpSpPr>
          <p:cNvPr id="6" name="Group 6"/>
          <p:cNvGrpSpPr>
            <a:grpSpLocks noChangeAspect="1"/>
          </p:cNvGrpSpPr>
          <p:nvPr/>
        </p:nvGrpSpPr>
        <p:grpSpPr>
          <a:xfrm>
            <a:off x="3166344" y="4660285"/>
            <a:ext cx="2362240" cy="2362230"/>
            <a:chOff x="0" y="0"/>
            <a:chExt cx="6350000" cy="6349975"/>
          </a:xfrm>
        </p:grpSpPr>
        <p:sp>
          <p:nvSpPr>
            <p:cNvPr id="7" name="Freeform 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t="-6410" b="-6410"/>
              </a:stretch>
            </a:blipFill>
          </p:spPr>
          <p:txBody>
            <a:bodyPr/>
            <a:lstStyle/>
            <a:p>
              <a:endParaRPr lang="en-US"/>
            </a:p>
          </p:txBody>
        </p:sp>
      </p:grpSp>
      <p:grpSp>
        <p:nvGrpSpPr>
          <p:cNvPr id="9" name="Group 9"/>
          <p:cNvGrpSpPr>
            <a:grpSpLocks noChangeAspect="1"/>
          </p:cNvGrpSpPr>
          <p:nvPr/>
        </p:nvGrpSpPr>
        <p:grpSpPr>
          <a:xfrm>
            <a:off x="10098397" y="4660285"/>
            <a:ext cx="2362240" cy="2362230"/>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1363" r="-1363"/>
              </a:stretch>
            </a:blipFill>
          </p:spPr>
          <p:txBody>
            <a:bodyPr/>
            <a:lstStyle/>
            <a:p>
              <a:endParaRPr lang="en-US"/>
            </a:p>
          </p:txBody>
        </p:sp>
      </p:grpSp>
      <p:grpSp>
        <p:nvGrpSpPr>
          <p:cNvPr id="11" name="Group 11"/>
          <p:cNvGrpSpPr>
            <a:grpSpLocks noChangeAspect="1"/>
          </p:cNvGrpSpPr>
          <p:nvPr/>
        </p:nvGrpSpPr>
        <p:grpSpPr>
          <a:xfrm>
            <a:off x="6698839" y="4660285"/>
            <a:ext cx="2362240" cy="2362230"/>
            <a:chOff x="0" y="0"/>
            <a:chExt cx="6350000" cy="6349975"/>
          </a:xfrm>
        </p:grpSpPr>
        <p:sp>
          <p:nvSpPr>
            <p:cNvPr id="12" name="Freeform 12"/>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b="-16190"/>
              </a:stretch>
            </a:blipFill>
          </p:spPr>
          <p:txBody>
            <a:bodyPr/>
            <a:lstStyle/>
            <a:p>
              <a:endParaRPr lang="en-US"/>
            </a:p>
          </p:txBody>
        </p:sp>
      </p:grpSp>
      <p:grpSp>
        <p:nvGrpSpPr>
          <p:cNvPr id="13" name="Group 13"/>
          <p:cNvGrpSpPr>
            <a:grpSpLocks noChangeAspect="1"/>
          </p:cNvGrpSpPr>
          <p:nvPr/>
        </p:nvGrpSpPr>
        <p:grpSpPr>
          <a:xfrm>
            <a:off x="12944928" y="4660285"/>
            <a:ext cx="2362240" cy="2362230"/>
            <a:chOff x="0" y="0"/>
            <a:chExt cx="6350000" cy="6349975"/>
          </a:xfrm>
        </p:grpSpPr>
        <p:sp>
          <p:nvSpPr>
            <p:cNvPr id="14" name="Freeform 14"/>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b="-26087"/>
              </a:stretch>
            </a:blipFill>
          </p:spPr>
          <p:txBody>
            <a:bodyPr/>
            <a:lstStyle/>
            <a:p>
              <a:endParaRPr lang="en-US"/>
            </a:p>
          </p:txBody>
        </p:sp>
      </p:grpSp>
      <p:grpSp>
        <p:nvGrpSpPr>
          <p:cNvPr id="15" name="Group 15"/>
          <p:cNvGrpSpPr/>
          <p:nvPr/>
        </p:nvGrpSpPr>
        <p:grpSpPr>
          <a:xfrm>
            <a:off x="12382274" y="1028700"/>
            <a:ext cx="2362240" cy="2362230"/>
            <a:chOff x="0" y="0"/>
            <a:chExt cx="6350000" cy="6349975"/>
          </a:xfrm>
        </p:grpSpPr>
        <p:sp>
          <p:nvSpPr>
            <p:cNvPr id="16" name="Freeform 16"/>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359285" t="-172723" r="-372840" b="-195349"/>
              </a:stretch>
            </a:blipFill>
          </p:spPr>
          <p:txBody>
            <a:bodyPr/>
            <a:lstStyle/>
            <a:p>
              <a:endParaRPr lang="en-US"/>
            </a:p>
          </p:txBody>
        </p:sp>
      </p:grpSp>
      <p:sp>
        <p:nvSpPr>
          <p:cNvPr id="17" name="Freeform 17"/>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7"/>
            <a:stretch>
              <a:fillRect/>
            </a:stretch>
          </a:blipFill>
        </p:spPr>
        <p:txBody>
          <a:bodyPr/>
          <a:lstStyle/>
          <a:p>
            <a:endParaRPr lang="en-US"/>
          </a:p>
        </p:txBody>
      </p:sp>
      <p:grpSp>
        <p:nvGrpSpPr>
          <p:cNvPr id="18" name="Group 18"/>
          <p:cNvGrpSpPr>
            <a:grpSpLocks noChangeAspect="1"/>
          </p:cNvGrpSpPr>
          <p:nvPr/>
        </p:nvGrpSpPr>
        <p:grpSpPr>
          <a:xfrm>
            <a:off x="279903" y="4660285"/>
            <a:ext cx="2362240" cy="2362230"/>
            <a:chOff x="0" y="0"/>
            <a:chExt cx="6350000" cy="6349975"/>
          </a:xfrm>
        </p:grpSpPr>
        <p:sp>
          <p:nvSpPr>
            <p:cNvPr id="19" name="Freeform 19"/>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8"/>
              <a:stretch>
                <a:fillRect/>
              </a:stretch>
            </a:blipFill>
          </p:spPr>
          <p:txBody>
            <a:bodyPr/>
            <a:lstStyle/>
            <a:p>
              <a:endParaRPr lang="en-US"/>
            </a:p>
          </p:txBody>
        </p:sp>
      </p:grpSp>
      <p:grpSp>
        <p:nvGrpSpPr>
          <p:cNvPr id="20" name="Group 20"/>
          <p:cNvGrpSpPr>
            <a:grpSpLocks noChangeAspect="1"/>
          </p:cNvGrpSpPr>
          <p:nvPr/>
        </p:nvGrpSpPr>
        <p:grpSpPr>
          <a:xfrm>
            <a:off x="15792942" y="4660285"/>
            <a:ext cx="2362240" cy="2362230"/>
            <a:chOff x="0" y="0"/>
            <a:chExt cx="6350000" cy="6349975"/>
          </a:xfrm>
        </p:grpSpPr>
        <p:sp>
          <p:nvSpPr>
            <p:cNvPr id="21" name="Freeform 21"/>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9"/>
              <a:stretch>
                <a:fillRect l="-78303" r="-78303"/>
              </a:stretch>
            </a:blipFill>
          </p:spPr>
          <p:txBody>
            <a:bodyPr/>
            <a:lstStyle/>
            <a:p>
              <a:endParaRPr lang="en-US"/>
            </a:p>
          </p:txBody>
        </p:sp>
      </p:grpSp>
      <p:grpSp>
        <p:nvGrpSpPr>
          <p:cNvPr id="22" name="Group 22"/>
          <p:cNvGrpSpPr/>
          <p:nvPr/>
        </p:nvGrpSpPr>
        <p:grpSpPr>
          <a:xfrm>
            <a:off x="587944" y="638905"/>
            <a:ext cx="12613056" cy="2582758"/>
            <a:chOff x="-615463" y="-519727"/>
            <a:chExt cx="15679596" cy="3443677"/>
          </a:xfrm>
        </p:grpSpPr>
        <p:sp>
          <p:nvSpPr>
            <p:cNvPr id="23" name="TextBox 23"/>
            <p:cNvSpPr txBox="1"/>
            <p:nvPr/>
          </p:nvSpPr>
          <p:spPr>
            <a:xfrm>
              <a:off x="-615463" y="-519727"/>
              <a:ext cx="15679596" cy="3443677"/>
            </a:xfrm>
            <a:prstGeom prst="rect">
              <a:avLst/>
            </a:prstGeom>
          </p:spPr>
          <p:txBody>
            <a:bodyPr wrap="square" lIns="0" tIns="0" rIns="0" bIns="0" rtlCol="0" anchor="t">
              <a:spAutoFit/>
            </a:bodyPr>
            <a:lstStyle/>
            <a:p>
              <a:pPr algn="l">
                <a:lnSpc>
                  <a:spcPts val="9999"/>
                </a:lnSpc>
              </a:pPr>
              <a:r>
                <a:rPr lang="en-US" sz="8000" b="1" spc="-299" dirty="0" err="1">
                  <a:solidFill>
                    <a:srgbClr val="FFFFFF"/>
                  </a:solidFill>
                  <a:latin typeface="Telegraf Medium"/>
                  <a:ea typeface="Telegraf Medium"/>
                  <a:cs typeface="Telegraf Medium"/>
                  <a:sym typeface="Telegraf Medium"/>
                </a:rPr>
                <a:t>Membres</a:t>
              </a:r>
              <a:r>
                <a:rPr lang="en-US" sz="8000" b="1" spc="-299" dirty="0">
                  <a:solidFill>
                    <a:srgbClr val="FFFFFF"/>
                  </a:solidFill>
                  <a:latin typeface="Telegraf Medium"/>
                  <a:ea typeface="Telegraf Medium"/>
                  <a:cs typeface="Telegraf Medium"/>
                  <a:sym typeface="Telegraf Medium"/>
                </a:rPr>
                <a:t> de </a:t>
              </a:r>
            </a:p>
            <a:p>
              <a:pPr algn="l">
                <a:lnSpc>
                  <a:spcPts val="9999"/>
                </a:lnSpc>
              </a:pPr>
              <a:r>
                <a:rPr lang="en-US" sz="8000" b="1" spc="-299" dirty="0" err="1">
                  <a:solidFill>
                    <a:srgbClr val="FFFFFF"/>
                  </a:solidFill>
                  <a:latin typeface="Telegraf Medium"/>
                  <a:ea typeface="Telegraf Medium"/>
                  <a:cs typeface="Telegraf Medium"/>
                  <a:sym typeface="Telegraf Medium"/>
                </a:rPr>
                <a:t>l'équipe</a:t>
              </a:r>
              <a:endParaRPr lang="en-US" sz="8000" b="1" spc="-299" dirty="0">
                <a:solidFill>
                  <a:srgbClr val="FFFFFF"/>
                </a:solidFill>
                <a:latin typeface="Telegraf Medium"/>
                <a:ea typeface="Telegraf Medium"/>
                <a:cs typeface="Telegraf Medium"/>
                <a:sym typeface="Telegraf Medium"/>
              </a:endParaRPr>
            </a:p>
          </p:txBody>
        </p:sp>
        <p:sp>
          <p:nvSpPr>
            <p:cNvPr id="24" name="TextBox 24"/>
            <p:cNvSpPr txBox="1"/>
            <p:nvPr/>
          </p:nvSpPr>
          <p:spPr>
            <a:xfrm>
              <a:off x="0" y="2053099"/>
              <a:ext cx="13275056" cy="846385"/>
            </a:xfrm>
            <a:prstGeom prst="rect">
              <a:avLst/>
            </a:prstGeom>
          </p:spPr>
          <p:txBody>
            <a:bodyPr lIns="0" tIns="0" rIns="0" bIns="0" rtlCol="0" anchor="t">
              <a:spAutoFit/>
            </a:bodyPr>
            <a:lstStyle/>
            <a:p>
              <a:pPr algn="l">
                <a:lnSpc>
                  <a:spcPts val="3374"/>
                </a:lnSpc>
              </a:pPr>
              <a:endParaRPr lang="en-US" sz="8000" spc="-87" dirty="0">
                <a:solidFill>
                  <a:srgbClr val="FFFFFF"/>
                </a:solidFill>
                <a:latin typeface="Garet"/>
                <a:ea typeface="Garet"/>
                <a:cs typeface="Garet"/>
                <a:sym typeface="Garet"/>
              </a:endParaRPr>
            </a:p>
          </p:txBody>
        </p:sp>
      </p:grpSp>
      <p:grpSp>
        <p:nvGrpSpPr>
          <p:cNvPr id="25" name="Group 25"/>
          <p:cNvGrpSpPr/>
          <p:nvPr/>
        </p:nvGrpSpPr>
        <p:grpSpPr>
          <a:xfrm>
            <a:off x="-152420" y="7292162"/>
            <a:ext cx="2794562" cy="927428"/>
            <a:chOff x="0" y="0"/>
            <a:chExt cx="3726083" cy="1236571"/>
          </a:xfrm>
        </p:grpSpPr>
        <p:sp>
          <p:nvSpPr>
            <p:cNvPr id="26" name="TextBox 26"/>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27" name="TextBox 27"/>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Iness Snasa</a:t>
              </a:r>
            </a:p>
          </p:txBody>
        </p:sp>
      </p:grpSp>
      <p:grpSp>
        <p:nvGrpSpPr>
          <p:cNvPr id="28" name="Group 28"/>
          <p:cNvGrpSpPr/>
          <p:nvPr/>
        </p:nvGrpSpPr>
        <p:grpSpPr>
          <a:xfrm>
            <a:off x="2950183" y="7292162"/>
            <a:ext cx="2794562" cy="927428"/>
            <a:chOff x="0" y="0"/>
            <a:chExt cx="3726083" cy="1236571"/>
          </a:xfrm>
        </p:grpSpPr>
        <p:sp>
          <p:nvSpPr>
            <p:cNvPr id="29" name="TextBox 29"/>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30" name="TextBox 30"/>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Mazen TAKRITI</a:t>
              </a:r>
            </a:p>
          </p:txBody>
        </p:sp>
      </p:grpSp>
      <p:grpSp>
        <p:nvGrpSpPr>
          <p:cNvPr id="31" name="Group 31"/>
          <p:cNvGrpSpPr/>
          <p:nvPr/>
        </p:nvGrpSpPr>
        <p:grpSpPr>
          <a:xfrm>
            <a:off x="6632371" y="7292162"/>
            <a:ext cx="2794562" cy="927428"/>
            <a:chOff x="0" y="0"/>
            <a:chExt cx="3726083" cy="1236571"/>
          </a:xfrm>
        </p:grpSpPr>
        <p:sp>
          <p:nvSpPr>
            <p:cNvPr id="32" name="TextBox 32"/>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33" name="TextBox 33"/>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Ali SAYEH</a:t>
              </a:r>
            </a:p>
          </p:txBody>
        </p:sp>
      </p:grpSp>
      <p:grpSp>
        <p:nvGrpSpPr>
          <p:cNvPr id="34" name="Group 34"/>
          <p:cNvGrpSpPr/>
          <p:nvPr/>
        </p:nvGrpSpPr>
        <p:grpSpPr>
          <a:xfrm>
            <a:off x="15307167" y="1271173"/>
            <a:ext cx="2794562" cy="2299028"/>
            <a:chOff x="0" y="0"/>
            <a:chExt cx="3726083" cy="3065371"/>
          </a:xfrm>
        </p:grpSpPr>
        <p:sp>
          <p:nvSpPr>
            <p:cNvPr id="35" name="TextBox 35"/>
            <p:cNvSpPr txBox="1"/>
            <p:nvPr/>
          </p:nvSpPr>
          <p:spPr>
            <a:xfrm>
              <a:off x="0" y="2669131"/>
              <a:ext cx="3726083" cy="396240"/>
            </a:xfrm>
            <a:prstGeom prst="rect">
              <a:avLst/>
            </a:prstGeom>
          </p:spPr>
          <p:txBody>
            <a:bodyPr lIns="0" tIns="0" rIns="0" bIns="0" rtlCol="0" anchor="t">
              <a:spAutoFit/>
            </a:bodyPr>
            <a:lstStyle/>
            <a:p>
              <a:pPr marL="0" lvl="0" indent="0" algn="ctr">
                <a:lnSpc>
                  <a:spcPts val="2520"/>
                </a:lnSpc>
              </a:pPr>
              <a:r>
                <a:rPr lang="en-US" sz="1800" spc="-18">
                  <a:solidFill>
                    <a:srgbClr val="FFFFFF"/>
                  </a:solidFill>
                  <a:latin typeface="Garet"/>
                  <a:ea typeface="Garet"/>
                  <a:cs typeface="Garet"/>
                  <a:sym typeface="Garet"/>
                </a:rPr>
                <a:t>Project</a:t>
              </a:r>
              <a:r>
                <a:rPr lang="en-US" sz="1800" u="none" spc="-18">
                  <a:solidFill>
                    <a:srgbClr val="FFFFFF"/>
                  </a:solidFill>
                  <a:latin typeface="Garet"/>
                  <a:ea typeface="Garet"/>
                  <a:cs typeface="Garet"/>
                  <a:sym typeface="Garet"/>
                </a:rPr>
                <a:t> coordinator</a:t>
              </a:r>
            </a:p>
          </p:txBody>
        </p:sp>
        <p:sp>
          <p:nvSpPr>
            <p:cNvPr id="36" name="TextBox 36"/>
            <p:cNvSpPr txBox="1"/>
            <p:nvPr/>
          </p:nvSpPr>
          <p:spPr>
            <a:xfrm>
              <a:off x="0" y="0"/>
              <a:ext cx="3726083" cy="2438400"/>
            </a:xfrm>
            <a:prstGeom prst="rect">
              <a:avLst/>
            </a:prstGeom>
          </p:spPr>
          <p:txBody>
            <a:bodyPr lIns="0" tIns="0" rIns="0" bIns="0" rtlCol="0" anchor="t">
              <a:spAutoFit/>
            </a:bodyPr>
            <a:lstStyle/>
            <a:p>
              <a:pPr algn="ctr">
                <a:lnSpc>
                  <a:spcPts val="3600"/>
                </a:lnSpc>
              </a:pPr>
              <a:r>
                <a:rPr lang="en-US" sz="3000" spc="-150">
                  <a:solidFill>
                    <a:srgbClr val="FFFFFF"/>
                  </a:solidFill>
                  <a:latin typeface="Garet"/>
                  <a:ea typeface="Garet"/>
                  <a:cs typeface="Garet"/>
                  <a:sym typeface="Garet"/>
                </a:rPr>
                <a:t>Sondes SKANDER</a:t>
              </a:r>
            </a:p>
            <a:p>
              <a:pPr algn="ctr">
                <a:lnSpc>
                  <a:spcPts val="3600"/>
                </a:lnSpc>
              </a:pPr>
              <a:r>
                <a:rPr lang="en-US" sz="3000" spc="-150">
                  <a:solidFill>
                    <a:srgbClr val="FFFFFF"/>
                  </a:solidFill>
                  <a:latin typeface="Garet"/>
                  <a:ea typeface="Garet"/>
                  <a:cs typeface="Garet"/>
                  <a:sym typeface="Garet"/>
                </a:rPr>
                <a:t> MUSTAPHA</a:t>
              </a:r>
            </a:p>
            <a:p>
              <a:pPr algn="ctr">
                <a:lnSpc>
                  <a:spcPts val="3600"/>
                </a:lnSpc>
              </a:pPr>
              <a:endParaRPr lang="en-US" sz="3000" spc="-150">
                <a:solidFill>
                  <a:srgbClr val="FFFFFF"/>
                </a:solidFill>
                <a:latin typeface="Garet"/>
                <a:ea typeface="Garet"/>
                <a:cs typeface="Garet"/>
                <a:sym typeface="Garet"/>
              </a:endParaRPr>
            </a:p>
          </p:txBody>
        </p:sp>
      </p:grpSp>
      <p:grpSp>
        <p:nvGrpSpPr>
          <p:cNvPr id="37" name="Group 37"/>
          <p:cNvGrpSpPr/>
          <p:nvPr/>
        </p:nvGrpSpPr>
        <p:grpSpPr>
          <a:xfrm>
            <a:off x="10098397" y="7305190"/>
            <a:ext cx="2794562" cy="1384628"/>
            <a:chOff x="0" y="0"/>
            <a:chExt cx="3726083" cy="1846171"/>
          </a:xfrm>
        </p:grpSpPr>
        <p:sp>
          <p:nvSpPr>
            <p:cNvPr id="38" name="TextBox 38"/>
            <p:cNvSpPr txBox="1"/>
            <p:nvPr/>
          </p:nvSpPr>
          <p:spPr>
            <a:xfrm>
              <a:off x="0" y="1449931"/>
              <a:ext cx="3726083" cy="396240"/>
            </a:xfrm>
            <a:prstGeom prst="rect">
              <a:avLst/>
            </a:prstGeom>
          </p:spPr>
          <p:txBody>
            <a:bodyPr lIns="0" tIns="0" rIns="0" bIns="0" rtlCol="0" anchor="t">
              <a:spAutoFit/>
            </a:bodyPr>
            <a:lstStyle/>
            <a:p>
              <a:pPr marL="0" lvl="0" indent="0" algn="ctr">
                <a:lnSpc>
                  <a:spcPts val="2520"/>
                </a:lnSpc>
              </a:pPr>
              <a:endParaRPr/>
            </a:p>
          </p:txBody>
        </p:sp>
        <p:sp>
          <p:nvSpPr>
            <p:cNvPr id="39" name="TextBox 39"/>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 Maty MOULAYE ELY</a:t>
              </a:r>
            </a:p>
          </p:txBody>
        </p:sp>
      </p:grpSp>
      <p:sp>
        <p:nvSpPr>
          <p:cNvPr id="40" name="TextBox 40"/>
          <p:cNvSpPr txBox="1"/>
          <p:nvPr/>
        </p:nvSpPr>
        <p:spPr>
          <a:xfrm>
            <a:off x="13201000" y="7305190"/>
            <a:ext cx="2106167" cy="914400"/>
          </a:xfrm>
          <a:prstGeom prst="rect">
            <a:avLst/>
          </a:prstGeom>
        </p:spPr>
        <p:txBody>
          <a:bodyPr wrap="square" lIns="0" tIns="0" rIns="0" bIns="0" rtlCol="0" anchor="t">
            <a:spAutoFit/>
          </a:bodyPr>
          <a:lstStyle/>
          <a:p>
            <a:pPr algn="ctr">
              <a:lnSpc>
                <a:spcPts val="3600"/>
              </a:lnSpc>
              <a:spcBef>
                <a:spcPct val="0"/>
              </a:spcBef>
            </a:pPr>
            <a:r>
              <a:rPr lang="en-US" sz="3000" spc="-150" dirty="0">
                <a:solidFill>
                  <a:srgbClr val="000000"/>
                </a:solidFill>
                <a:latin typeface="Garet"/>
                <a:ea typeface="Garet"/>
                <a:cs typeface="Garet"/>
                <a:sym typeface="Garet"/>
              </a:rPr>
              <a:t>Mariem </a:t>
            </a:r>
          </a:p>
          <a:p>
            <a:pPr algn="ctr">
              <a:lnSpc>
                <a:spcPts val="3600"/>
              </a:lnSpc>
              <a:spcBef>
                <a:spcPct val="0"/>
              </a:spcBef>
            </a:pPr>
            <a:r>
              <a:rPr lang="en-US" sz="3000" spc="-150" dirty="0">
                <a:solidFill>
                  <a:srgbClr val="000000"/>
                </a:solidFill>
                <a:latin typeface="Garet"/>
                <a:ea typeface="Garet"/>
                <a:cs typeface="Garet"/>
                <a:sym typeface="Garet"/>
              </a:rPr>
              <a:t>KAMMOUN</a:t>
            </a:r>
          </a:p>
        </p:txBody>
      </p:sp>
      <p:sp>
        <p:nvSpPr>
          <p:cNvPr id="41" name="TextBox 41"/>
          <p:cNvSpPr txBox="1"/>
          <p:nvPr/>
        </p:nvSpPr>
        <p:spPr>
          <a:xfrm>
            <a:off x="15544800" y="7305190"/>
            <a:ext cx="2779173" cy="914400"/>
          </a:xfrm>
          <a:prstGeom prst="rect">
            <a:avLst/>
          </a:prstGeom>
        </p:spPr>
        <p:txBody>
          <a:bodyPr wrap="square" lIns="0" tIns="0" rIns="0" bIns="0" rtlCol="0" anchor="t">
            <a:spAutoFit/>
          </a:bodyPr>
          <a:lstStyle/>
          <a:p>
            <a:pPr algn="ctr">
              <a:lnSpc>
                <a:spcPts val="3600"/>
              </a:lnSpc>
              <a:spcBef>
                <a:spcPct val="0"/>
              </a:spcBef>
            </a:pPr>
            <a:r>
              <a:rPr lang="en-US" sz="3000" spc="-150" dirty="0">
                <a:solidFill>
                  <a:srgbClr val="000000"/>
                </a:solidFill>
                <a:latin typeface="Garet"/>
                <a:ea typeface="Garet"/>
                <a:cs typeface="Garet"/>
                <a:sym typeface="Garet"/>
              </a:rPr>
              <a:t>Aymen </a:t>
            </a:r>
          </a:p>
          <a:p>
            <a:pPr algn="ctr">
              <a:lnSpc>
                <a:spcPts val="3600"/>
              </a:lnSpc>
              <a:spcBef>
                <a:spcPct val="0"/>
              </a:spcBef>
            </a:pPr>
            <a:r>
              <a:rPr lang="en-US" sz="3000" spc="-150" dirty="0" err="1">
                <a:solidFill>
                  <a:srgbClr val="000000"/>
                </a:solidFill>
                <a:latin typeface="Garet"/>
                <a:ea typeface="Garet"/>
                <a:cs typeface="Garet"/>
                <a:sym typeface="Garet"/>
              </a:rPr>
              <a:t>CHAMROUKHI</a:t>
            </a:r>
            <a:endParaRPr lang="en-US" sz="3000" spc="-150" dirty="0">
              <a:solidFill>
                <a:srgbClr val="000000"/>
              </a:solidFill>
              <a:latin typeface="Garet"/>
              <a:ea typeface="Garet"/>
              <a:cs typeface="Garet"/>
              <a:sym typeface="Gare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3">
            <a:extLst>
              <a:ext uri="{FF2B5EF4-FFF2-40B4-BE49-F238E27FC236}">
                <a16:creationId xmlns:a16="http://schemas.microsoft.com/office/drawing/2014/main" id="{56E59FBC-5617-242C-7EB1-B139EA6F0261}"/>
              </a:ext>
            </a:extLst>
          </p:cNvPr>
          <p:cNvGrpSpPr/>
          <p:nvPr/>
        </p:nvGrpSpPr>
        <p:grpSpPr>
          <a:xfrm rot="-10800000">
            <a:off x="0" y="-1350973"/>
            <a:ext cx="18288000" cy="5244293"/>
            <a:chOff x="0" y="0"/>
            <a:chExt cx="4816593" cy="1381213"/>
          </a:xfrm>
        </p:grpSpPr>
        <p:sp>
          <p:nvSpPr>
            <p:cNvPr id="51" name="Freeform 4">
              <a:extLst>
                <a:ext uri="{FF2B5EF4-FFF2-40B4-BE49-F238E27FC236}">
                  <a16:creationId xmlns:a16="http://schemas.microsoft.com/office/drawing/2014/main" id="{C0BDF80B-DD44-43AF-6EB5-BB9880380755}"/>
                </a:ext>
              </a:extLst>
            </p:cNvPr>
            <p:cNvSpPr/>
            <p:nvPr/>
          </p:nvSpPr>
          <p:spPr>
            <a:xfrm>
              <a:off x="0" y="0"/>
              <a:ext cx="4816592" cy="1381213"/>
            </a:xfrm>
            <a:custGeom>
              <a:avLst/>
              <a:gdLst/>
              <a:ahLst/>
              <a:cxnLst/>
              <a:rect l="l" t="t" r="r" b="b"/>
              <a:pathLst>
                <a:path w="4816592" h="1381213">
                  <a:moveTo>
                    <a:pt x="0" y="0"/>
                  </a:moveTo>
                  <a:lnTo>
                    <a:pt x="4816592" y="0"/>
                  </a:lnTo>
                  <a:lnTo>
                    <a:pt x="4816592" y="1381213"/>
                  </a:lnTo>
                  <a:lnTo>
                    <a:pt x="0" y="1381213"/>
                  </a:lnTo>
                  <a:close/>
                </a:path>
              </a:pathLst>
            </a:custGeom>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p:spPr>
          <p:txBody>
            <a:bodyPr/>
            <a:lstStyle/>
            <a:p>
              <a:endParaRPr lang="en-US"/>
            </a:p>
          </p:txBody>
        </p:sp>
        <p:sp>
          <p:nvSpPr>
            <p:cNvPr id="52" name="TextBox 5">
              <a:extLst>
                <a:ext uri="{FF2B5EF4-FFF2-40B4-BE49-F238E27FC236}">
                  <a16:creationId xmlns:a16="http://schemas.microsoft.com/office/drawing/2014/main" id="{BC2C9082-B80B-A5F0-AF28-A37A76C888B8}"/>
                </a:ext>
              </a:extLst>
            </p:cNvPr>
            <p:cNvSpPr txBox="1"/>
            <p:nvPr/>
          </p:nvSpPr>
          <p:spPr>
            <a:xfrm>
              <a:off x="0" y="-38100"/>
              <a:ext cx="4816593" cy="1419313"/>
            </a:xfrm>
            <a:prstGeom prst="rect">
              <a:avLst/>
            </a:prstGeom>
          </p:spPr>
          <p:txBody>
            <a:bodyPr lIns="50800" tIns="50800" rIns="50800" bIns="50800" rtlCol="0" anchor="ctr"/>
            <a:lstStyle/>
            <a:p>
              <a:pPr algn="ctr">
                <a:lnSpc>
                  <a:spcPts val="3374"/>
                </a:lnSpc>
              </a:pPr>
              <a:endParaRPr/>
            </a:p>
          </p:txBody>
        </p:sp>
      </p:grpSp>
      <p:sp>
        <p:nvSpPr>
          <p:cNvPr id="53" name="Freeform 8">
            <a:extLst>
              <a:ext uri="{FF2B5EF4-FFF2-40B4-BE49-F238E27FC236}">
                <a16:creationId xmlns:a16="http://schemas.microsoft.com/office/drawing/2014/main" id="{3FE6AE2D-1AC3-D2D1-A05A-D7D34627B967}"/>
              </a:ext>
            </a:extLst>
          </p:cNvPr>
          <p:cNvSpPr/>
          <p:nvPr/>
        </p:nvSpPr>
        <p:spPr>
          <a:xfrm>
            <a:off x="12460637" y="-1140308"/>
            <a:ext cx="8487624" cy="5033628"/>
          </a:xfrm>
          <a:custGeom>
            <a:avLst/>
            <a:gdLst/>
            <a:ahLst/>
            <a:cxnLst/>
            <a:rect l="l" t="t" r="r" b="b"/>
            <a:pathLst>
              <a:path w="8487624" h="5033628">
                <a:moveTo>
                  <a:pt x="0" y="0"/>
                </a:moveTo>
                <a:lnTo>
                  <a:pt x="8487623" y="0"/>
                </a:lnTo>
                <a:lnTo>
                  <a:pt x="8487623" y="5033628"/>
                </a:lnTo>
                <a:lnTo>
                  <a:pt x="0" y="5033628"/>
                </a:lnTo>
                <a:lnTo>
                  <a:pt x="0" y="0"/>
                </a:lnTo>
                <a:close/>
              </a:path>
            </a:pathLst>
          </a:custGeom>
          <a:blipFill>
            <a:blip>
              <a:extLst>
                <a:ext uri="{96DAC541-7B7A-43D3-8B79-37D633B846F1}">
                  <asvg:svgBlip xmlns:asvg="http://schemas.microsoft.com/office/drawing/2016/SVG/main" r:embed="rId2"/>
                </a:ext>
              </a:extLst>
            </a:blip>
            <a:stretch>
              <a:fillRect t="-382" r="-12851" b="-58421"/>
            </a:stretch>
          </a:blipFill>
        </p:spPr>
        <p:txBody>
          <a:bodyPr/>
          <a:lstStyle/>
          <a:p>
            <a:endParaRPr lang="en-US"/>
          </a:p>
        </p:txBody>
      </p:sp>
      <p:sp>
        <p:nvSpPr>
          <p:cNvPr id="2" name="AutoShape 2"/>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grpSp>
        <p:nvGrpSpPr>
          <p:cNvPr id="6" name="Group 6"/>
          <p:cNvGrpSpPr>
            <a:grpSpLocks noChangeAspect="1"/>
          </p:cNvGrpSpPr>
          <p:nvPr/>
        </p:nvGrpSpPr>
        <p:grpSpPr>
          <a:xfrm>
            <a:off x="2114570" y="4689081"/>
            <a:ext cx="2362240" cy="2362230"/>
            <a:chOff x="0" y="0"/>
            <a:chExt cx="6350000" cy="6349975"/>
          </a:xfrm>
        </p:grpSpPr>
        <p:sp>
          <p:nvSpPr>
            <p:cNvPr id="7" name="Freeform 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78303" r="-78303"/>
              </a:stretch>
            </a:blipFill>
          </p:spPr>
          <p:txBody>
            <a:bodyPr/>
            <a:lstStyle/>
            <a:p>
              <a:endParaRPr lang="en-US"/>
            </a:p>
          </p:txBody>
        </p:sp>
      </p:grpSp>
      <p:grpSp>
        <p:nvGrpSpPr>
          <p:cNvPr id="9" name="Group 9"/>
          <p:cNvGrpSpPr>
            <a:grpSpLocks noChangeAspect="1"/>
          </p:cNvGrpSpPr>
          <p:nvPr/>
        </p:nvGrpSpPr>
        <p:grpSpPr>
          <a:xfrm>
            <a:off x="6839049" y="4689081"/>
            <a:ext cx="2362240" cy="2362230"/>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78303" r="-78303"/>
              </a:stretch>
            </a:blipFill>
          </p:spPr>
          <p:txBody>
            <a:bodyPr/>
            <a:lstStyle/>
            <a:p>
              <a:endParaRPr lang="en-US"/>
            </a:p>
          </p:txBody>
        </p:sp>
      </p:grpSp>
      <p:grpSp>
        <p:nvGrpSpPr>
          <p:cNvPr id="11" name="Group 11"/>
          <p:cNvGrpSpPr>
            <a:grpSpLocks noChangeAspect="1"/>
          </p:cNvGrpSpPr>
          <p:nvPr/>
        </p:nvGrpSpPr>
        <p:grpSpPr>
          <a:xfrm>
            <a:off x="4476810" y="4689081"/>
            <a:ext cx="2362240" cy="2362230"/>
            <a:chOff x="0" y="0"/>
            <a:chExt cx="6350000" cy="6349975"/>
          </a:xfrm>
        </p:grpSpPr>
        <p:sp>
          <p:nvSpPr>
            <p:cNvPr id="12" name="Freeform 12"/>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78303" r="-78303"/>
              </a:stretch>
            </a:blipFill>
          </p:spPr>
          <p:txBody>
            <a:bodyPr/>
            <a:lstStyle/>
            <a:p>
              <a:endParaRPr lang="en-US"/>
            </a:p>
          </p:txBody>
        </p:sp>
      </p:grpSp>
      <p:grpSp>
        <p:nvGrpSpPr>
          <p:cNvPr id="16" name="Group 16"/>
          <p:cNvGrpSpPr/>
          <p:nvPr/>
        </p:nvGrpSpPr>
        <p:grpSpPr>
          <a:xfrm>
            <a:off x="-439209" y="7333987"/>
            <a:ext cx="2794562" cy="1384628"/>
            <a:chOff x="0" y="0"/>
            <a:chExt cx="3726083" cy="1846171"/>
          </a:xfrm>
        </p:grpSpPr>
        <p:sp>
          <p:nvSpPr>
            <p:cNvPr id="17" name="TextBox 17"/>
            <p:cNvSpPr txBox="1"/>
            <p:nvPr/>
          </p:nvSpPr>
          <p:spPr>
            <a:xfrm>
              <a:off x="0" y="1449931"/>
              <a:ext cx="3726083" cy="396240"/>
            </a:xfrm>
            <a:prstGeom prst="rect">
              <a:avLst/>
            </a:prstGeom>
          </p:spPr>
          <p:txBody>
            <a:bodyPr lIns="0" tIns="0" rIns="0" bIns="0" rtlCol="0" anchor="t">
              <a:spAutoFit/>
            </a:bodyPr>
            <a:lstStyle/>
            <a:p>
              <a:pPr marL="0" lvl="0" indent="0" algn="ctr">
                <a:lnSpc>
                  <a:spcPts val="2520"/>
                </a:lnSpc>
              </a:pPr>
              <a:endParaRPr/>
            </a:p>
          </p:txBody>
        </p:sp>
        <p:sp>
          <p:nvSpPr>
            <p:cNvPr id="18" name="TextBox 18"/>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Ezzedine </a:t>
              </a:r>
            </a:p>
            <a:p>
              <a:pPr algn="ctr">
                <a:lnSpc>
                  <a:spcPts val="3600"/>
                </a:lnSpc>
              </a:pPr>
              <a:r>
                <a:rPr lang="en-US" sz="3000" spc="-150">
                  <a:solidFill>
                    <a:srgbClr val="010101"/>
                  </a:solidFill>
                  <a:latin typeface="Garet"/>
                  <a:ea typeface="Garet"/>
                  <a:cs typeface="Garet"/>
                  <a:sym typeface="Garet"/>
                </a:rPr>
                <a:t>Nehdi</a:t>
              </a:r>
            </a:p>
          </p:txBody>
        </p:sp>
      </p:grpSp>
      <p:grpSp>
        <p:nvGrpSpPr>
          <p:cNvPr id="19" name="Group 19"/>
          <p:cNvGrpSpPr/>
          <p:nvPr/>
        </p:nvGrpSpPr>
        <p:grpSpPr>
          <a:xfrm>
            <a:off x="1898409" y="7333987"/>
            <a:ext cx="2794562" cy="1384628"/>
            <a:chOff x="0" y="0"/>
            <a:chExt cx="3726083" cy="1846171"/>
          </a:xfrm>
        </p:grpSpPr>
        <p:sp>
          <p:nvSpPr>
            <p:cNvPr id="20" name="TextBox 20"/>
            <p:cNvSpPr txBox="1"/>
            <p:nvPr/>
          </p:nvSpPr>
          <p:spPr>
            <a:xfrm>
              <a:off x="0" y="1449931"/>
              <a:ext cx="3726083" cy="396240"/>
            </a:xfrm>
            <a:prstGeom prst="rect">
              <a:avLst/>
            </a:prstGeom>
          </p:spPr>
          <p:txBody>
            <a:bodyPr lIns="0" tIns="0" rIns="0" bIns="0" rtlCol="0" anchor="t">
              <a:spAutoFit/>
            </a:bodyPr>
            <a:lstStyle/>
            <a:p>
              <a:pPr marL="0" lvl="0" indent="0" algn="ctr">
                <a:lnSpc>
                  <a:spcPts val="2520"/>
                </a:lnSpc>
              </a:pPr>
              <a:endParaRPr/>
            </a:p>
          </p:txBody>
        </p:sp>
        <p:sp>
          <p:nvSpPr>
            <p:cNvPr id="21" name="TextBox 21"/>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Nizar Ben Ezzine</a:t>
              </a:r>
            </a:p>
          </p:txBody>
        </p:sp>
      </p:grpSp>
      <p:grpSp>
        <p:nvGrpSpPr>
          <p:cNvPr id="22" name="Group 22"/>
          <p:cNvGrpSpPr/>
          <p:nvPr/>
        </p:nvGrpSpPr>
        <p:grpSpPr>
          <a:xfrm>
            <a:off x="4260648" y="7266360"/>
            <a:ext cx="2794562" cy="1384628"/>
            <a:chOff x="0" y="0"/>
            <a:chExt cx="3726083" cy="1846171"/>
          </a:xfrm>
        </p:grpSpPr>
        <p:sp>
          <p:nvSpPr>
            <p:cNvPr id="23" name="TextBox 23"/>
            <p:cNvSpPr txBox="1"/>
            <p:nvPr/>
          </p:nvSpPr>
          <p:spPr>
            <a:xfrm>
              <a:off x="0" y="1449931"/>
              <a:ext cx="3726083" cy="396240"/>
            </a:xfrm>
            <a:prstGeom prst="rect">
              <a:avLst/>
            </a:prstGeom>
          </p:spPr>
          <p:txBody>
            <a:bodyPr lIns="0" tIns="0" rIns="0" bIns="0" rtlCol="0" anchor="t">
              <a:spAutoFit/>
            </a:bodyPr>
            <a:lstStyle/>
            <a:p>
              <a:pPr marL="0" lvl="0" indent="0" algn="ctr">
                <a:lnSpc>
                  <a:spcPts val="2520"/>
                </a:lnSpc>
              </a:pPr>
              <a:endParaRPr/>
            </a:p>
          </p:txBody>
        </p:sp>
        <p:sp>
          <p:nvSpPr>
            <p:cNvPr id="24" name="TextBox 24"/>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Amel Soukaina Cherif</a:t>
              </a:r>
            </a:p>
          </p:txBody>
        </p:sp>
      </p:grpSp>
      <p:grpSp>
        <p:nvGrpSpPr>
          <p:cNvPr id="25" name="Group 25"/>
          <p:cNvGrpSpPr/>
          <p:nvPr/>
        </p:nvGrpSpPr>
        <p:grpSpPr>
          <a:xfrm>
            <a:off x="6622888" y="7266360"/>
            <a:ext cx="2794562" cy="1384628"/>
            <a:chOff x="0" y="0"/>
            <a:chExt cx="3726083" cy="1846171"/>
          </a:xfrm>
        </p:grpSpPr>
        <p:sp>
          <p:nvSpPr>
            <p:cNvPr id="26" name="TextBox 26"/>
            <p:cNvSpPr txBox="1"/>
            <p:nvPr/>
          </p:nvSpPr>
          <p:spPr>
            <a:xfrm>
              <a:off x="0" y="1449931"/>
              <a:ext cx="3726083" cy="396240"/>
            </a:xfrm>
            <a:prstGeom prst="rect">
              <a:avLst/>
            </a:prstGeom>
          </p:spPr>
          <p:txBody>
            <a:bodyPr lIns="0" tIns="0" rIns="0" bIns="0" rtlCol="0" anchor="t">
              <a:spAutoFit/>
            </a:bodyPr>
            <a:lstStyle/>
            <a:p>
              <a:pPr marL="0" lvl="0" indent="0" algn="ctr">
                <a:lnSpc>
                  <a:spcPts val="2520"/>
                </a:lnSpc>
              </a:pPr>
              <a:endParaRPr/>
            </a:p>
          </p:txBody>
        </p:sp>
        <p:sp>
          <p:nvSpPr>
            <p:cNvPr id="27" name="TextBox 27"/>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Moez</a:t>
              </a:r>
            </a:p>
            <a:p>
              <a:pPr algn="ctr">
                <a:lnSpc>
                  <a:spcPts val="3600"/>
                </a:lnSpc>
              </a:pPr>
              <a:r>
                <a:rPr lang="en-US" sz="3000" spc="-150">
                  <a:solidFill>
                    <a:srgbClr val="010101"/>
                  </a:solidFill>
                  <a:latin typeface="Garet"/>
                  <a:ea typeface="Garet"/>
                  <a:cs typeface="Garet"/>
                  <a:sym typeface="Garet"/>
                </a:rPr>
                <a:t> Youssef</a:t>
              </a:r>
            </a:p>
          </p:txBody>
        </p:sp>
      </p:grpSp>
      <p:grpSp>
        <p:nvGrpSpPr>
          <p:cNvPr id="28" name="Group 28"/>
          <p:cNvGrpSpPr/>
          <p:nvPr/>
        </p:nvGrpSpPr>
        <p:grpSpPr>
          <a:xfrm>
            <a:off x="9020599" y="7266360"/>
            <a:ext cx="2794562" cy="1384628"/>
            <a:chOff x="0" y="0"/>
            <a:chExt cx="3726083" cy="1846171"/>
          </a:xfrm>
        </p:grpSpPr>
        <p:sp>
          <p:nvSpPr>
            <p:cNvPr id="29" name="TextBox 29"/>
            <p:cNvSpPr txBox="1"/>
            <p:nvPr/>
          </p:nvSpPr>
          <p:spPr>
            <a:xfrm>
              <a:off x="0" y="1449931"/>
              <a:ext cx="3726083" cy="396240"/>
            </a:xfrm>
            <a:prstGeom prst="rect">
              <a:avLst/>
            </a:prstGeom>
          </p:spPr>
          <p:txBody>
            <a:bodyPr lIns="0" tIns="0" rIns="0" bIns="0" rtlCol="0" anchor="t">
              <a:spAutoFit/>
            </a:bodyPr>
            <a:lstStyle/>
            <a:p>
              <a:pPr marL="0" lvl="0" indent="0" algn="ctr">
                <a:lnSpc>
                  <a:spcPts val="2520"/>
                </a:lnSpc>
              </a:pPr>
              <a:endParaRPr/>
            </a:p>
          </p:txBody>
        </p:sp>
        <p:sp>
          <p:nvSpPr>
            <p:cNvPr id="30" name="TextBox 30"/>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Khalil </a:t>
              </a:r>
            </a:p>
            <a:p>
              <a:pPr algn="ctr">
                <a:lnSpc>
                  <a:spcPts val="3600"/>
                </a:lnSpc>
              </a:pPr>
              <a:r>
                <a:rPr lang="en-US" sz="3000" spc="-150">
                  <a:solidFill>
                    <a:srgbClr val="010101"/>
                  </a:solidFill>
                  <a:latin typeface="Garet"/>
                  <a:ea typeface="Garet"/>
                  <a:cs typeface="Garet"/>
                  <a:sym typeface="Garet"/>
                </a:rPr>
                <a:t>Mansouri</a:t>
              </a:r>
            </a:p>
          </p:txBody>
        </p:sp>
      </p:grpSp>
      <p:grpSp>
        <p:nvGrpSpPr>
          <p:cNvPr id="31" name="Group 31"/>
          <p:cNvGrpSpPr>
            <a:grpSpLocks noChangeAspect="1"/>
          </p:cNvGrpSpPr>
          <p:nvPr/>
        </p:nvGrpSpPr>
        <p:grpSpPr>
          <a:xfrm>
            <a:off x="9236760" y="4689081"/>
            <a:ext cx="2362240" cy="2362230"/>
            <a:chOff x="0" y="0"/>
            <a:chExt cx="6350000" cy="6349975"/>
          </a:xfrm>
        </p:grpSpPr>
        <p:sp>
          <p:nvSpPr>
            <p:cNvPr id="32" name="Freeform 32"/>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78303" r="-78303"/>
              </a:stretch>
            </a:blipFill>
          </p:spPr>
          <p:txBody>
            <a:bodyPr/>
            <a:lstStyle/>
            <a:p>
              <a:endParaRPr lang="en-US"/>
            </a:p>
          </p:txBody>
        </p:sp>
      </p:grpSp>
      <p:grpSp>
        <p:nvGrpSpPr>
          <p:cNvPr id="33" name="Group 33"/>
          <p:cNvGrpSpPr/>
          <p:nvPr/>
        </p:nvGrpSpPr>
        <p:grpSpPr>
          <a:xfrm>
            <a:off x="12382274" y="1028700"/>
            <a:ext cx="2362240" cy="2362230"/>
            <a:chOff x="0" y="0"/>
            <a:chExt cx="6350000" cy="6349975"/>
          </a:xfrm>
        </p:grpSpPr>
        <p:sp>
          <p:nvSpPr>
            <p:cNvPr id="34" name="Freeform 34"/>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txBody>
            <a:bodyPr/>
            <a:lstStyle/>
            <a:p>
              <a:endParaRPr lang="en-US"/>
            </a:p>
          </p:txBody>
        </p:sp>
      </p:grpSp>
      <p:sp>
        <p:nvSpPr>
          <p:cNvPr id="35" name="Freeform 35"/>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5"/>
            <a:stretch>
              <a:fillRect/>
            </a:stretch>
          </a:blipFill>
        </p:spPr>
        <p:txBody>
          <a:bodyPr/>
          <a:lstStyle/>
          <a:p>
            <a:endParaRPr lang="en-US"/>
          </a:p>
        </p:txBody>
      </p:sp>
      <p:grpSp>
        <p:nvGrpSpPr>
          <p:cNvPr id="36" name="Group 36"/>
          <p:cNvGrpSpPr>
            <a:grpSpLocks noChangeAspect="1"/>
          </p:cNvGrpSpPr>
          <p:nvPr/>
        </p:nvGrpSpPr>
        <p:grpSpPr>
          <a:xfrm>
            <a:off x="-152420" y="4689081"/>
            <a:ext cx="2362240" cy="2362230"/>
            <a:chOff x="0" y="0"/>
            <a:chExt cx="6350000" cy="6349975"/>
          </a:xfrm>
        </p:grpSpPr>
        <p:sp>
          <p:nvSpPr>
            <p:cNvPr id="37" name="Freeform 3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78303" r="-78303"/>
              </a:stretch>
            </a:blipFill>
          </p:spPr>
          <p:txBody>
            <a:bodyPr/>
            <a:lstStyle/>
            <a:p>
              <a:endParaRPr lang="en-US"/>
            </a:p>
          </p:txBody>
        </p:sp>
      </p:grpSp>
      <p:grpSp>
        <p:nvGrpSpPr>
          <p:cNvPr id="38" name="Group 38"/>
          <p:cNvGrpSpPr/>
          <p:nvPr/>
        </p:nvGrpSpPr>
        <p:grpSpPr>
          <a:xfrm>
            <a:off x="15307167" y="1271173"/>
            <a:ext cx="2794562" cy="2013278"/>
            <a:chOff x="0" y="0"/>
            <a:chExt cx="3726083" cy="2684371"/>
          </a:xfrm>
        </p:grpSpPr>
        <p:sp>
          <p:nvSpPr>
            <p:cNvPr id="39" name="TextBox 39"/>
            <p:cNvSpPr txBox="1"/>
            <p:nvPr/>
          </p:nvSpPr>
          <p:spPr>
            <a:xfrm>
              <a:off x="0" y="1449931"/>
              <a:ext cx="3726083" cy="1234440"/>
            </a:xfrm>
            <a:prstGeom prst="rect">
              <a:avLst/>
            </a:prstGeom>
          </p:spPr>
          <p:txBody>
            <a:bodyPr lIns="0" tIns="0" rIns="0" bIns="0" rtlCol="0" anchor="t">
              <a:spAutoFit/>
            </a:bodyPr>
            <a:lstStyle/>
            <a:p>
              <a:pPr marL="0" lvl="0" indent="0" algn="ctr">
                <a:lnSpc>
                  <a:spcPts val="2520"/>
                </a:lnSpc>
              </a:pPr>
              <a:r>
                <a:rPr lang="en-US" sz="1800" spc="-18">
                  <a:solidFill>
                    <a:srgbClr val="FFFFFF"/>
                  </a:solidFill>
                  <a:latin typeface="Garet"/>
                  <a:ea typeface="Garet"/>
                  <a:cs typeface="Garet"/>
                  <a:sym typeface="Garet"/>
                </a:rPr>
                <a:t>Scientifi</a:t>
              </a:r>
              <a:r>
                <a:rPr lang="en-US" sz="1800" u="none" spc="-18">
                  <a:solidFill>
                    <a:srgbClr val="FFFFFF"/>
                  </a:solidFill>
                  <a:latin typeface="Garet"/>
                  <a:ea typeface="Garet"/>
                  <a:cs typeface="Garet"/>
                  <a:sym typeface="Garet"/>
                </a:rPr>
                <a:t>c Coordinator for the academic partner</a:t>
              </a:r>
            </a:p>
          </p:txBody>
        </p:sp>
        <p:sp>
          <p:nvSpPr>
            <p:cNvPr id="40" name="TextBox 40"/>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FFFFFF"/>
                  </a:solidFill>
                  <a:latin typeface="Garet"/>
                  <a:ea typeface="Garet"/>
                  <a:cs typeface="Garet"/>
                  <a:sym typeface="Garet"/>
                </a:rPr>
                <a:t>Mouna Elakhdar </a:t>
              </a:r>
            </a:p>
          </p:txBody>
        </p:sp>
      </p:grpSp>
      <p:sp>
        <p:nvSpPr>
          <p:cNvPr id="41" name="TextBox 41"/>
          <p:cNvSpPr txBox="1"/>
          <p:nvPr/>
        </p:nvSpPr>
        <p:spPr>
          <a:xfrm>
            <a:off x="11974662" y="7333987"/>
            <a:ext cx="1687116" cy="914400"/>
          </a:xfrm>
          <a:prstGeom prst="rect">
            <a:avLst/>
          </a:prstGeom>
        </p:spPr>
        <p:txBody>
          <a:bodyPr lIns="0" tIns="0" rIns="0" bIns="0" rtlCol="0" anchor="t">
            <a:spAutoFit/>
          </a:bodyPr>
          <a:lstStyle/>
          <a:p>
            <a:pPr algn="ctr">
              <a:lnSpc>
                <a:spcPts val="3600"/>
              </a:lnSpc>
              <a:spcBef>
                <a:spcPct val="0"/>
              </a:spcBef>
            </a:pPr>
            <a:r>
              <a:rPr lang="en-US" sz="3000" spc="-150">
                <a:solidFill>
                  <a:srgbClr val="000000"/>
                </a:solidFill>
                <a:latin typeface="Garet"/>
                <a:ea typeface="Garet"/>
                <a:cs typeface="Garet"/>
                <a:sym typeface="Garet"/>
              </a:rPr>
              <a:t>Sana </a:t>
            </a:r>
          </a:p>
          <a:p>
            <a:pPr algn="ctr">
              <a:lnSpc>
                <a:spcPts val="3600"/>
              </a:lnSpc>
              <a:spcBef>
                <a:spcPct val="0"/>
              </a:spcBef>
            </a:pPr>
            <a:r>
              <a:rPr lang="en-US" sz="3000" spc="-150">
                <a:solidFill>
                  <a:srgbClr val="000000"/>
                </a:solidFill>
                <a:latin typeface="Garet"/>
                <a:ea typeface="Garet"/>
                <a:cs typeface="Garet"/>
                <a:sym typeface="Garet"/>
              </a:rPr>
              <a:t>Ben Yahia</a:t>
            </a:r>
          </a:p>
        </p:txBody>
      </p:sp>
      <p:sp>
        <p:nvSpPr>
          <p:cNvPr id="42" name="TextBox 42"/>
          <p:cNvSpPr txBox="1"/>
          <p:nvPr/>
        </p:nvSpPr>
        <p:spPr>
          <a:xfrm>
            <a:off x="14477620" y="7333987"/>
            <a:ext cx="1267659" cy="914400"/>
          </a:xfrm>
          <a:prstGeom prst="rect">
            <a:avLst/>
          </a:prstGeom>
        </p:spPr>
        <p:txBody>
          <a:bodyPr lIns="0" tIns="0" rIns="0" bIns="0" rtlCol="0" anchor="t">
            <a:spAutoFit/>
          </a:bodyPr>
          <a:lstStyle/>
          <a:p>
            <a:pPr algn="ctr">
              <a:lnSpc>
                <a:spcPts val="3600"/>
              </a:lnSpc>
              <a:spcBef>
                <a:spcPct val="0"/>
              </a:spcBef>
            </a:pPr>
            <a:r>
              <a:rPr lang="en-US" sz="3000" spc="-150">
                <a:solidFill>
                  <a:srgbClr val="000000"/>
                </a:solidFill>
                <a:latin typeface="Garet"/>
                <a:ea typeface="Garet"/>
                <a:cs typeface="Garet"/>
                <a:sym typeface="Garet"/>
              </a:rPr>
              <a:t>Zaineb </a:t>
            </a:r>
          </a:p>
          <a:p>
            <a:pPr algn="ctr">
              <a:lnSpc>
                <a:spcPts val="3600"/>
              </a:lnSpc>
              <a:spcBef>
                <a:spcPct val="0"/>
              </a:spcBef>
            </a:pPr>
            <a:r>
              <a:rPr lang="en-US" sz="3000" spc="-150">
                <a:solidFill>
                  <a:srgbClr val="000000"/>
                </a:solidFill>
                <a:latin typeface="Garet"/>
                <a:ea typeface="Garet"/>
                <a:cs typeface="Garet"/>
                <a:sym typeface="Garet"/>
              </a:rPr>
              <a:t>Omri</a:t>
            </a:r>
          </a:p>
        </p:txBody>
      </p:sp>
      <p:sp>
        <p:nvSpPr>
          <p:cNvPr id="43" name="TextBox 43"/>
          <p:cNvSpPr txBox="1"/>
          <p:nvPr/>
        </p:nvSpPr>
        <p:spPr>
          <a:xfrm>
            <a:off x="16440736" y="7333987"/>
            <a:ext cx="1937147" cy="914400"/>
          </a:xfrm>
          <a:prstGeom prst="rect">
            <a:avLst/>
          </a:prstGeom>
        </p:spPr>
        <p:txBody>
          <a:bodyPr lIns="0" tIns="0" rIns="0" bIns="0" rtlCol="0" anchor="t">
            <a:spAutoFit/>
          </a:bodyPr>
          <a:lstStyle/>
          <a:p>
            <a:pPr algn="ctr">
              <a:lnSpc>
                <a:spcPts val="3600"/>
              </a:lnSpc>
              <a:spcBef>
                <a:spcPct val="0"/>
              </a:spcBef>
            </a:pPr>
            <a:r>
              <a:rPr lang="en-US" sz="3000" spc="-150">
                <a:solidFill>
                  <a:srgbClr val="000000"/>
                </a:solidFill>
                <a:latin typeface="Garet"/>
                <a:ea typeface="Garet"/>
                <a:cs typeface="Garet"/>
                <a:sym typeface="Garet"/>
              </a:rPr>
              <a:t>Nourheine </a:t>
            </a:r>
          </a:p>
          <a:p>
            <a:pPr algn="ctr">
              <a:lnSpc>
                <a:spcPts val="3600"/>
              </a:lnSpc>
              <a:spcBef>
                <a:spcPct val="0"/>
              </a:spcBef>
            </a:pPr>
            <a:r>
              <a:rPr lang="en-US" sz="3000" spc="-150">
                <a:solidFill>
                  <a:srgbClr val="000000"/>
                </a:solidFill>
                <a:latin typeface="Garet"/>
                <a:ea typeface="Garet"/>
                <a:cs typeface="Garet"/>
                <a:sym typeface="Garet"/>
              </a:rPr>
              <a:t>Jemni</a:t>
            </a:r>
          </a:p>
        </p:txBody>
      </p:sp>
      <p:grpSp>
        <p:nvGrpSpPr>
          <p:cNvPr id="44" name="Group 44"/>
          <p:cNvGrpSpPr>
            <a:grpSpLocks noChangeAspect="1"/>
          </p:cNvGrpSpPr>
          <p:nvPr/>
        </p:nvGrpSpPr>
        <p:grpSpPr>
          <a:xfrm>
            <a:off x="13930329" y="4689081"/>
            <a:ext cx="2362240" cy="2362230"/>
            <a:chOff x="0" y="0"/>
            <a:chExt cx="6350000" cy="6349975"/>
          </a:xfrm>
        </p:grpSpPr>
        <p:sp>
          <p:nvSpPr>
            <p:cNvPr id="45" name="Freeform 45"/>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78303" r="-78303"/>
              </a:stretch>
            </a:blipFill>
          </p:spPr>
          <p:txBody>
            <a:bodyPr/>
            <a:lstStyle/>
            <a:p>
              <a:endParaRPr lang="en-US"/>
            </a:p>
          </p:txBody>
        </p:sp>
      </p:grpSp>
      <p:grpSp>
        <p:nvGrpSpPr>
          <p:cNvPr id="46" name="Group 46"/>
          <p:cNvGrpSpPr>
            <a:grpSpLocks noChangeAspect="1"/>
          </p:cNvGrpSpPr>
          <p:nvPr/>
        </p:nvGrpSpPr>
        <p:grpSpPr>
          <a:xfrm>
            <a:off x="11599000" y="4689081"/>
            <a:ext cx="2362240" cy="2362230"/>
            <a:chOff x="0" y="0"/>
            <a:chExt cx="6350000" cy="6349975"/>
          </a:xfrm>
        </p:grpSpPr>
        <p:sp>
          <p:nvSpPr>
            <p:cNvPr id="47" name="Freeform 4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78303" r="-78303"/>
              </a:stretch>
            </a:blipFill>
          </p:spPr>
          <p:txBody>
            <a:bodyPr/>
            <a:lstStyle/>
            <a:p>
              <a:endParaRPr lang="en-US"/>
            </a:p>
          </p:txBody>
        </p:sp>
      </p:grpSp>
      <p:grpSp>
        <p:nvGrpSpPr>
          <p:cNvPr id="48" name="Group 48"/>
          <p:cNvGrpSpPr>
            <a:grpSpLocks noChangeAspect="1"/>
          </p:cNvGrpSpPr>
          <p:nvPr/>
        </p:nvGrpSpPr>
        <p:grpSpPr>
          <a:xfrm>
            <a:off x="16228190" y="4689081"/>
            <a:ext cx="2362240" cy="2362230"/>
            <a:chOff x="0" y="0"/>
            <a:chExt cx="6350000" cy="6349975"/>
          </a:xfrm>
        </p:grpSpPr>
        <p:sp>
          <p:nvSpPr>
            <p:cNvPr id="49" name="Freeform 49"/>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78303" r="-78303"/>
              </a:stretch>
            </a:blipFill>
          </p:spPr>
          <p:txBody>
            <a:bodyPr/>
            <a:lstStyle/>
            <a:p>
              <a:endParaRPr lang="en-US"/>
            </a:p>
          </p:txBody>
        </p:sp>
      </p:grpSp>
      <p:sp>
        <p:nvSpPr>
          <p:cNvPr id="54" name="TextBox 23">
            <a:extLst>
              <a:ext uri="{FF2B5EF4-FFF2-40B4-BE49-F238E27FC236}">
                <a16:creationId xmlns:a16="http://schemas.microsoft.com/office/drawing/2014/main" id="{F308F601-218C-34D4-82DE-3E5DC1AF0ABB}"/>
              </a:ext>
            </a:extLst>
          </p:cNvPr>
          <p:cNvSpPr txBox="1"/>
          <p:nvPr/>
        </p:nvSpPr>
        <p:spPr>
          <a:xfrm>
            <a:off x="587944" y="638905"/>
            <a:ext cx="12613056" cy="2582758"/>
          </a:xfrm>
          <a:prstGeom prst="rect">
            <a:avLst/>
          </a:prstGeom>
        </p:spPr>
        <p:txBody>
          <a:bodyPr wrap="square" lIns="0" tIns="0" rIns="0" bIns="0" rtlCol="0" anchor="t">
            <a:spAutoFit/>
          </a:bodyPr>
          <a:lstStyle/>
          <a:p>
            <a:pPr algn="l">
              <a:lnSpc>
                <a:spcPts val="9999"/>
              </a:lnSpc>
            </a:pPr>
            <a:r>
              <a:rPr lang="en-US" sz="8000" b="1" spc="-299" dirty="0" err="1">
                <a:solidFill>
                  <a:srgbClr val="FFFFFF"/>
                </a:solidFill>
                <a:latin typeface="Telegraf Medium"/>
                <a:ea typeface="Telegraf Medium"/>
                <a:cs typeface="Telegraf Medium"/>
                <a:sym typeface="Telegraf Medium"/>
              </a:rPr>
              <a:t>Membres</a:t>
            </a:r>
            <a:r>
              <a:rPr lang="en-US" sz="8000" b="1" spc="-299" dirty="0">
                <a:solidFill>
                  <a:srgbClr val="FFFFFF"/>
                </a:solidFill>
                <a:latin typeface="Telegraf Medium"/>
                <a:ea typeface="Telegraf Medium"/>
                <a:cs typeface="Telegraf Medium"/>
                <a:sym typeface="Telegraf Medium"/>
              </a:rPr>
              <a:t> de </a:t>
            </a:r>
          </a:p>
          <a:p>
            <a:pPr algn="l">
              <a:lnSpc>
                <a:spcPts val="9999"/>
              </a:lnSpc>
            </a:pPr>
            <a:r>
              <a:rPr lang="en-US" sz="8000" b="1" spc="-299" dirty="0" err="1">
                <a:solidFill>
                  <a:srgbClr val="FFFFFF"/>
                </a:solidFill>
                <a:latin typeface="Telegraf Medium"/>
                <a:ea typeface="Telegraf Medium"/>
                <a:cs typeface="Telegraf Medium"/>
                <a:sym typeface="Telegraf Medium"/>
              </a:rPr>
              <a:t>l'équipe</a:t>
            </a:r>
            <a:endParaRPr lang="en-US" sz="8000" b="1" spc="-299" dirty="0">
              <a:solidFill>
                <a:srgbClr val="FFFFFF"/>
              </a:solidFill>
              <a:latin typeface="Telegraf Medium"/>
              <a:ea typeface="Telegraf Medium"/>
              <a:cs typeface="Telegraf Medium"/>
              <a:sym typeface="Telegraf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
            <a:extLst>
              <a:ext uri="{FF2B5EF4-FFF2-40B4-BE49-F238E27FC236}">
                <a16:creationId xmlns:a16="http://schemas.microsoft.com/office/drawing/2014/main" id="{888AF0A0-1F25-D530-F682-6599CE3A0F04}"/>
              </a:ext>
            </a:extLst>
          </p:cNvPr>
          <p:cNvGrpSpPr/>
          <p:nvPr/>
        </p:nvGrpSpPr>
        <p:grpSpPr>
          <a:xfrm rot="-10800000">
            <a:off x="0" y="-1350973"/>
            <a:ext cx="18288000" cy="5244293"/>
            <a:chOff x="0" y="0"/>
            <a:chExt cx="4816593" cy="1381213"/>
          </a:xfrm>
        </p:grpSpPr>
        <p:sp>
          <p:nvSpPr>
            <p:cNvPr id="32" name="Freeform 4">
              <a:extLst>
                <a:ext uri="{FF2B5EF4-FFF2-40B4-BE49-F238E27FC236}">
                  <a16:creationId xmlns:a16="http://schemas.microsoft.com/office/drawing/2014/main" id="{4164ED50-A910-C334-3B87-634E74DB0060}"/>
                </a:ext>
              </a:extLst>
            </p:cNvPr>
            <p:cNvSpPr/>
            <p:nvPr/>
          </p:nvSpPr>
          <p:spPr>
            <a:xfrm>
              <a:off x="0" y="0"/>
              <a:ext cx="4816592" cy="1381213"/>
            </a:xfrm>
            <a:custGeom>
              <a:avLst/>
              <a:gdLst/>
              <a:ahLst/>
              <a:cxnLst/>
              <a:rect l="l" t="t" r="r" b="b"/>
              <a:pathLst>
                <a:path w="4816592" h="1381213">
                  <a:moveTo>
                    <a:pt x="0" y="0"/>
                  </a:moveTo>
                  <a:lnTo>
                    <a:pt x="4816592" y="0"/>
                  </a:lnTo>
                  <a:lnTo>
                    <a:pt x="4816592" y="1381213"/>
                  </a:lnTo>
                  <a:lnTo>
                    <a:pt x="0" y="1381213"/>
                  </a:lnTo>
                  <a:close/>
                </a:path>
              </a:pathLst>
            </a:custGeom>
            <a:gradFill>
              <a:gsLst>
                <a:gs pos="42000">
                  <a:srgbClr val="243186"/>
                </a:gs>
                <a:gs pos="14222">
                  <a:srgbClr val="243186"/>
                </a:gs>
                <a:gs pos="89000">
                  <a:srgbClr val="FFCF45"/>
                </a:gs>
                <a:gs pos="100000">
                  <a:schemeClr val="accent5">
                    <a:lumMod val="60000"/>
                  </a:schemeClr>
                </a:gs>
              </a:gsLst>
              <a:path path="circle">
                <a:fillToRect l="50000" t="130000" r="50000" b="-30000"/>
              </a:path>
            </a:gradFill>
          </p:spPr>
          <p:txBody>
            <a:bodyPr/>
            <a:lstStyle/>
            <a:p>
              <a:endParaRPr lang="en-US"/>
            </a:p>
          </p:txBody>
        </p:sp>
        <p:sp>
          <p:nvSpPr>
            <p:cNvPr id="33" name="TextBox 5">
              <a:extLst>
                <a:ext uri="{FF2B5EF4-FFF2-40B4-BE49-F238E27FC236}">
                  <a16:creationId xmlns:a16="http://schemas.microsoft.com/office/drawing/2014/main" id="{44A4B150-7160-044F-8A4A-DB67A19E9D2C}"/>
                </a:ext>
              </a:extLst>
            </p:cNvPr>
            <p:cNvSpPr txBox="1"/>
            <p:nvPr/>
          </p:nvSpPr>
          <p:spPr>
            <a:xfrm>
              <a:off x="0" y="-38100"/>
              <a:ext cx="4816593" cy="1419313"/>
            </a:xfrm>
            <a:prstGeom prst="rect">
              <a:avLst/>
            </a:prstGeom>
          </p:spPr>
          <p:txBody>
            <a:bodyPr lIns="50800" tIns="50800" rIns="50800" bIns="50800" rtlCol="0" anchor="ctr"/>
            <a:lstStyle/>
            <a:p>
              <a:pPr algn="ctr">
                <a:lnSpc>
                  <a:spcPts val="3374"/>
                </a:lnSpc>
              </a:pPr>
              <a:endParaRPr/>
            </a:p>
          </p:txBody>
        </p:sp>
      </p:grpSp>
      <p:sp>
        <p:nvSpPr>
          <p:cNvPr id="2" name="AutoShape 2"/>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grpSp>
        <p:nvGrpSpPr>
          <p:cNvPr id="6" name="Group 6"/>
          <p:cNvGrpSpPr>
            <a:grpSpLocks noChangeAspect="1"/>
          </p:cNvGrpSpPr>
          <p:nvPr/>
        </p:nvGrpSpPr>
        <p:grpSpPr>
          <a:xfrm>
            <a:off x="7950569" y="4618622"/>
            <a:ext cx="2362240" cy="2362230"/>
            <a:chOff x="0" y="0"/>
            <a:chExt cx="6350000" cy="6349975"/>
          </a:xfrm>
        </p:grpSpPr>
        <p:sp>
          <p:nvSpPr>
            <p:cNvPr id="7" name="Freeform 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78303" r="-78303"/>
              </a:stretch>
            </a:blipFill>
          </p:spPr>
          <p:txBody>
            <a:bodyPr/>
            <a:lstStyle/>
            <a:p>
              <a:endParaRPr lang="en-US"/>
            </a:p>
          </p:txBody>
        </p:sp>
      </p:grpSp>
      <p:grpSp>
        <p:nvGrpSpPr>
          <p:cNvPr id="9" name="Group 9"/>
          <p:cNvGrpSpPr>
            <a:grpSpLocks noChangeAspect="1"/>
          </p:cNvGrpSpPr>
          <p:nvPr/>
        </p:nvGrpSpPr>
        <p:grpSpPr>
          <a:xfrm>
            <a:off x="12688570" y="4618622"/>
            <a:ext cx="2362240" cy="2362230"/>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78303" r="-78303"/>
              </a:stretch>
            </a:blipFill>
          </p:spPr>
          <p:txBody>
            <a:bodyPr/>
            <a:lstStyle/>
            <a:p>
              <a:endParaRPr lang="en-US"/>
            </a:p>
          </p:txBody>
        </p:sp>
      </p:grpSp>
      <p:sp>
        <p:nvSpPr>
          <p:cNvPr id="13" name="TextBox 13"/>
          <p:cNvSpPr txBox="1"/>
          <p:nvPr/>
        </p:nvSpPr>
        <p:spPr>
          <a:xfrm>
            <a:off x="1028700" y="2568525"/>
            <a:ext cx="9956292" cy="423193"/>
          </a:xfrm>
          <a:prstGeom prst="rect">
            <a:avLst/>
          </a:prstGeom>
        </p:spPr>
        <p:txBody>
          <a:bodyPr lIns="0" tIns="0" rIns="0" bIns="0" rtlCol="0" anchor="t">
            <a:spAutoFit/>
          </a:bodyPr>
          <a:lstStyle/>
          <a:p>
            <a:pPr algn="l">
              <a:lnSpc>
                <a:spcPts val="3374"/>
              </a:lnSpc>
            </a:pPr>
            <a:endParaRPr lang="en-US" sz="2499" spc="-87" dirty="0">
              <a:solidFill>
                <a:srgbClr val="FFFFFF"/>
              </a:solidFill>
              <a:latin typeface="Garet"/>
              <a:ea typeface="Garet"/>
              <a:cs typeface="Garet"/>
              <a:sym typeface="Garet"/>
            </a:endParaRPr>
          </a:p>
        </p:txBody>
      </p:sp>
      <p:grpSp>
        <p:nvGrpSpPr>
          <p:cNvPr id="14" name="Group 14"/>
          <p:cNvGrpSpPr/>
          <p:nvPr/>
        </p:nvGrpSpPr>
        <p:grpSpPr>
          <a:xfrm>
            <a:off x="2777670" y="7111843"/>
            <a:ext cx="2794562" cy="1384628"/>
            <a:chOff x="0" y="0"/>
            <a:chExt cx="3726083" cy="1846171"/>
          </a:xfrm>
        </p:grpSpPr>
        <p:sp>
          <p:nvSpPr>
            <p:cNvPr id="15" name="TextBox 15"/>
            <p:cNvSpPr txBox="1"/>
            <p:nvPr/>
          </p:nvSpPr>
          <p:spPr>
            <a:xfrm>
              <a:off x="0" y="1449931"/>
              <a:ext cx="3726083" cy="396240"/>
            </a:xfrm>
            <a:prstGeom prst="rect">
              <a:avLst/>
            </a:prstGeom>
          </p:spPr>
          <p:txBody>
            <a:bodyPr lIns="0" tIns="0" rIns="0" bIns="0" rtlCol="0" anchor="t">
              <a:spAutoFit/>
            </a:bodyPr>
            <a:lstStyle/>
            <a:p>
              <a:pPr marL="0" lvl="0" indent="0" algn="ctr">
                <a:lnSpc>
                  <a:spcPts val="2520"/>
                </a:lnSpc>
              </a:pPr>
              <a:endParaRPr/>
            </a:p>
          </p:txBody>
        </p:sp>
        <p:sp>
          <p:nvSpPr>
            <p:cNvPr id="16" name="TextBox 16"/>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Rania Hammemi</a:t>
              </a:r>
            </a:p>
          </p:txBody>
        </p:sp>
      </p:grpSp>
      <p:grpSp>
        <p:nvGrpSpPr>
          <p:cNvPr id="17" name="Group 17"/>
          <p:cNvGrpSpPr/>
          <p:nvPr/>
        </p:nvGrpSpPr>
        <p:grpSpPr>
          <a:xfrm>
            <a:off x="7734407" y="7263528"/>
            <a:ext cx="2794562" cy="927428"/>
            <a:chOff x="0" y="0"/>
            <a:chExt cx="3726083" cy="1236571"/>
          </a:xfrm>
        </p:grpSpPr>
        <p:sp>
          <p:nvSpPr>
            <p:cNvPr id="18" name="TextBox 18"/>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19" name="TextBox 19"/>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Maryem Fezai</a:t>
              </a:r>
            </a:p>
          </p:txBody>
        </p:sp>
      </p:grpSp>
      <p:grpSp>
        <p:nvGrpSpPr>
          <p:cNvPr id="20" name="Group 20"/>
          <p:cNvGrpSpPr/>
          <p:nvPr/>
        </p:nvGrpSpPr>
        <p:grpSpPr>
          <a:xfrm>
            <a:off x="12472408" y="7195901"/>
            <a:ext cx="2794562" cy="927428"/>
            <a:chOff x="0" y="0"/>
            <a:chExt cx="3726083" cy="1236571"/>
          </a:xfrm>
        </p:grpSpPr>
        <p:sp>
          <p:nvSpPr>
            <p:cNvPr id="21" name="TextBox 21"/>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22" name="TextBox 22"/>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Haythem Sahli</a:t>
              </a:r>
            </a:p>
          </p:txBody>
        </p:sp>
      </p:grpSp>
      <p:grpSp>
        <p:nvGrpSpPr>
          <p:cNvPr id="23" name="Group 23"/>
          <p:cNvGrpSpPr/>
          <p:nvPr/>
        </p:nvGrpSpPr>
        <p:grpSpPr>
          <a:xfrm>
            <a:off x="12382274" y="1028700"/>
            <a:ext cx="2362240" cy="2362230"/>
            <a:chOff x="0" y="0"/>
            <a:chExt cx="6350000" cy="6349975"/>
          </a:xfrm>
        </p:grpSpPr>
        <p:sp>
          <p:nvSpPr>
            <p:cNvPr id="24" name="Freeform 24"/>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a:stretch>
            </a:blipFill>
          </p:spPr>
          <p:txBody>
            <a:bodyPr/>
            <a:lstStyle/>
            <a:p>
              <a:endParaRPr lang="en-US"/>
            </a:p>
          </p:txBody>
        </p:sp>
      </p:grpSp>
      <p:sp>
        <p:nvSpPr>
          <p:cNvPr id="25" name="Freeform 25"/>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4"/>
            <a:stretch>
              <a:fillRect/>
            </a:stretch>
          </a:blipFill>
        </p:spPr>
        <p:txBody>
          <a:bodyPr/>
          <a:lstStyle/>
          <a:p>
            <a:endParaRPr lang="en-US"/>
          </a:p>
        </p:txBody>
      </p:sp>
      <p:grpSp>
        <p:nvGrpSpPr>
          <p:cNvPr id="26" name="Group 26"/>
          <p:cNvGrpSpPr>
            <a:grpSpLocks noChangeAspect="1"/>
          </p:cNvGrpSpPr>
          <p:nvPr/>
        </p:nvGrpSpPr>
        <p:grpSpPr>
          <a:xfrm>
            <a:off x="3064459" y="4466937"/>
            <a:ext cx="2362240" cy="2362230"/>
            <a:chOff x="0" y="0"/>
            <a:chExt cx="6350000" cy="6349975"/>
          </a:xfrm>
        </p:grpSpPr>
        <p:sp>
          <p:nvSpPr>
            <p:cNvPr id="27" name="Freeform 2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78303" r="-78303"/>
              </a:stretch>
            </a:blipFill>
          </p:spPr>
          <p:txBody>
            <a:bodyPr/>
            <a:lstStyle/>
            <a:p>
              <a:endParaRPr lang="en-US"/>
            </a:p>
          </p:txBody>
        </p:sp>
      </p:grpSp>
      <p:grpSp>
        <p:nvGrpSpPr>
          <p:cNvPr id="28" name="Group 28"/>
          <p:cNvGrpSpPr/>
          <p:nvPr/>
        </p:nvGrpSpPr>
        <p:grpSpPr>
          <a:xfrm>
            <a:off x="15307167" y="1271173"/>
            <a:ext cx="2794562" cy="2013278"/>
            <a:chOff x="0" y="0"/>
            <a:chExt cx="3726083" cy="2684371"/>
          </a:xfrm>
        </p:grpSpPr>
        <p:sp>
          <p:nvSpPr>
            <p:cNvPr id="29" name="TextBox 29"/>
            <p:cNvSpPr txBox="1"/>
            <p:nvPr/>
          </p:nvSpPr>
          <p:spPr>
            <a:xfrm>
              <a:off x="0" y="1449931"/>
              <a:ext cx="3726083" cy="1234440"/>
            </a:xfrm>
            <a:prstGeom prst="rect">
              <a:avLst/>
            </a:prstGeom>
          </p:spPr>
          <p:txBody>
            <a:bodyPr lIns="0" tIns="0" rIns="0" bIns="0" rtlCol="0" anchor="t">
              <a:spAutoFit/>
            </a:bodyPr>
            <a:lstStyle/>
            <a:p>
              <a:pPr marL="0" lvl="0" indent="0" algn="ctr">
                <a:lnSpc>
                  <a:spcPts val="2520"/>
                </a:lnSpc>
              </a:pPr>
              <a:r>
                <a:rPr lang="en-US" sz="1800" spc="-18">
                  <a:solidFill>
                    <a:srgbClr val="FFFFFF"/>
                  </a:solidFill>
                  <a:latin typeface="Garet"/>
                  <a:ea typeface="Garet"/>
                  <a:cs typeface="Garet"/>
                  <a:sym typeface="Garet"/>
                </a:rPr>
                <a:t>Scientifi</a:t>
              </a:r>
              <a:r>
                <a:rPr lang="en-US" sz="1800" u="none" spc="-18">
                  <a:solidFill>
                    <a:srgbClr val="FFFFFF"/>
                  </a:solidFill>
                  <a:latin typeface="Garet"/>
                  <a:ea typeface="Garet"/>
                  <a:cs typeface="Garet"/>
                  <a:sym typeface="Garet"/>
                </a:rPr>
                <a:t>c Coordinator for the academic partner</a:t>
              </a:r>
            </a:p>
          </p:txBody>
        </p:sp>
        <p:sp>
          <p:nvSpPr>
            <p:cNvPr id="30" name="TextBox 30"/>
            <p:cNvSpPr txBox="1"/>
            <p:nvPr/>
          </p:nvSpPr>
          <p:spPr>
            <a:xfrm>
              <a:off x="0" y="0"/>
              <a:ext cx="3726083" cy="1219200"/>
            </a:xfrm>
            <a:prstGeom prst="rect">
              <a:avLst/>
            </a:prstGeom>
          </p:spPr>
          <p:txBody>
            <a:bodyPr lIns="0" tIns="0" rIns="0" bIns="0" rtlCol="0" anchor="t">
              <a:spAutoFit/>
            </a:bodyPr>
            <a:lstStyle/>
            <a:p>
              <a:pPr algn="ctr">
                <a:lnSpc>
                  <a:spcPts val="3600"/>
                </a:lnSpc>
              </a:pPr>
              <a:r>
                <a:rPr lang="en-US" sz="3000" spc="-150">
                  <a:solidFill>
                    <a:srgbClr val="FFFFFF"/>
                  </a:solidFill>
                  <a:latin typeface="Garet"/>
                  <a:ea typeface="Garet"/>
                  <a:cs typeface="Garet"/>
                  <a:sym typeface="Garet"/>
                </a:rPr>
                <a:t>Mouna Elakhdar </a:t>
              </a:r>
            </a:p>
          </p:txBody>
        </p:sp>
      </p:grpSp>
      <p:sp>
        <p:nvSpPr>
          <p:cNvPr id="37" name="TextBox 23">
            <a:extLst>
              <a:ext uri="{FF2B5EF4-FFF2-40B4-BE49-F238E27FC236}">
                <a16:creationId xmlns:a16="http://schemas.microsoft.com/office/drawing/2014/main" id="{6B9F3EE3-ADB4-AFF0-B2DD-5CDE3FC48459}"/>
              </a:ext>
            </a:extLst>
          </p:cNvPr>
          <p:cNvSpPr txBox="1"/>
          <p:nvPr/>
        </p:nvSpPr>
        <p:spPr>
          <a:xfrm>
            <a:off x="587944" y="638905"/>
            <a:ext cx="12613056" cy="2582758"/>
          </a:xfrm>
          <a:prstGeom prst="rect">
            <a:avLst/>
          </a:prstGeom>
        </p:spPr>
        <p:txBody>
          <a:bodyPr wrap="square" lIns="0" tIns="0" rIns="0" bIns="0" rtlCol="0" anchor="t">
            <a:spAutoFit/>
          </a:bodyPr>
          <a:lstStyle/>
          <a:p>
            <a:pPr algn="l">
              <a:lnSpc>
                <a:spcPts val="9999"/>
              </a:lnSpc>
            </a:pPr>
            <a:r>
              <a:rPr lang="en-US" sz="8000" b="1" spc="-299" dirty="0" err="1">
                <a:solidFill>
                  <a:srgbClr val="FFFFFF"/>
                </a:solidFill>
                <a:latin typeface="Telegraf Medium"/>
                <a:ea typeface="Telegraf Medium"/>
                <a:cs typeface="Telegraf Medium"/>
                <a:sym typeface="Telegraf Medium"/>
              </a:rPr>
              <a:t>Membres</a:t>
            </a:r>
            <a:r>
              <a:rPr lang="en-US" sz="8000" b="1" spc="-299" dirty="0">
                <a:solidFill>
                  <a:srgbClr val="FFFFFF"/>
                </a:solidFill>
                <a:latin typeface="Telegraf Medium"/>
                <a:ea typeface="Telegraf Medium"/>
                <a:cs typeface="Telegraf Medium"/>
                <a:sym typeface="Telegraf Medium"/>
              </a:rPr>
              <a:t> de </a:t>
            </a:r>
          </a:p>
          <a:p>
            <a:pPr algn="l">
              <a:lnSpc>
                <a:spcPts val="9999"/>
              </a:lnSpc>
            </a:pPr>
            <a:r>
              <a:rPr lang="en-US" sz="8000" b="1" spc="-299" dirty="0" err="1">
                <a:solidFill>
                  <a:srgbClr val="FFFFFF"/>
                </a:solidFill>
                <a:latin typeface="Telegraf Medium"/>
                <a:ea typeface="Telegraf Medium"/>
                <a:cs typeface="Telegraf Medium"/>
                <a:sym typeface="Telegraf Medium"/>
              </a:rPr>
              <a:t>l'équipe</a:t>
            </a:r>
            <a:endParaRPr lang="en-US" sz="8000" b="1" spc="-299" dirty="0">
              <a:solidFill>
                <a:srgbClr val="FFFFFF"/>
              </a:solidFill>
              <a:latin typeface="Telegraf Medium"/>
              <a:ea typeface="Telegraf Medium"/>
              <a:cs typeface="Telegraf Medium"/>
              <a:sym typeface="Telegraf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3">
            <a:extLst>
              <a:ext uri="{FF2B5EF4-FFF2-40B4-BE49-F238E27FC236}">
                <a16:creationId xmlns:a16="http://schemas.microsoft.com/office/drawing/2014/main" id="{634D907F-9F5C-C267-8648-DCE29EC700C5}"/>
              </a:ext>
            </a:extLst>
          </p:cNvPr>
          <p:cNvGrpSpPr/>
          <p:nvPr/>
        </p:nvGrpSpPr>
        <p:grpSpPr>
          <a:xfrm rot="-10800000">
            <a:off x="0" y="-1350973"/>
            <a:ext cx="18288000" cy="5244293"/>
            <a:chOff x="0" y="0"/>
            <a:chExt cx="4816593" cy="1381213"/>
          </a:xfrm>
        </p:grpSpPr>
        <p:sp>
          <p:nvSpPr>
            <p:cNvPr id="42" name="Freeform 4">
              <a:extLst>
                <a:ext uri="{FF2B5EF4-FFF2-40B4-BE49-F238E27FC236}">
                  <a16:creationId xmlns:a16="http://schemas.microsoft.com/office/drawing/2014/main" id="{BF8DD01B-268C-FEDD-EF1D-64DFA2042DFE}"/>
                </a:ext>
              </a:extLst>
            </p:cNvPr>
            <p:cNvSpPr/>
            <p:nvPr/>
          </p:nvSpPr>
          <p:spPr>
            <a:xfrm>
              <a:off x="0" y="0"/>
              <a:ext cx="4816592" cy="1381213"/>
            </a:xfrm>
            <a:custGeom>
              <a:avLst/>
              <a:gdLst/>
              <a:ahLst/>
              <a:cxnLst/>
              <a:rect l="l" t="t" r="r" b="b"/>
              <a:pathLst>
                <a:path w="4816592" h="1381213">
                  <a:moveTo>
                    <a:pt x="0" y="0"/>
                  </a:moveTo>
                  <a:lnTo>
                    <a:pt x="4816592" y="0"/>
                  </a:lnTo>
                  <a:lnTo>
                    <a:pt x="4816592" y="1381213"/>
                  </a:lnTo>
                  <a:lnTo>
                    <a:pt x="0" y="1381213"/>
                  </a:lnTo>
                  <a:close/>
                </a:path>
              </a:pathLst>
            </a:custGeom>
            <a:gradFill flip="none" rotWithShape="1">
              <a:gsLst>
                <a:gs pos="0">
                  <a:srgbClr val="FFBF36"/>
                </a:gs>
                <a:gs pos="46000">
                  <a:schemeClr val="accent6">
                    <a:lumMod val="95000"/>
                    <a:lumOff val="5000"/>
                  </a:schemeClr>
                </a:gs>
                <a:gs pos="100000">
                  <a:schemeClr val="accent6">
                    <a:lumMod val="60000"/>
                  </a:schemeClr>
                </a:gs>
              </a:gsLst>
              <a:path path="circle">
                <a:fillToRect l="50000" t="130000" r="50000" b="-30000"/>
              </a:path>
              <a:tileRect/>
            </a:gradFill>
          </p:spPr>
          <p:txBody>
            <a:bodyPr/>
            <a:lstStyle/>
            <a:p>
              <a:endParaRPr lang="en-US"/>
            </a:p>
          </p:txBody>
        </p:sp>
        <p:sp>
          <p:nvSpPr>
            <p:cNvPr id="43" name="TextBox 5">
              <a:extLst>
                <a:ext uri="{FF2B5EF4-FFF2-40B4-BE49-F238E27FC236}">
                  <a16:creationId xmlns:a16="http://schemas.microsoft.com/office/drawing/2014/main" id="{57EEC729-A23E-4FF6-99C1-1C449793B8EF}"/>
                </a:ext>
              </a:extLst>
            </p:cNvPr>
            <p:cNvSpPr txBox="1"/>
            <p:nvPr/>
          </p:nvSpPr>
          <p:spPr>
            <a:xfrm>
              <a:off x="0" y="-38100"/>
              <a:ext cx="4816593" cy="1419313"/>
            </a:xfrm>
            <a:prstGeom prst="rect">
              <a:avLst/>
            </a:prstGeom>
          </p:spPr>
          <p:txBody>
            <a:bodyPr lIns="50800" tIns="50800" rIns="50800" bIns="50800" rtlCol="0" anchor="ctr"/>
            <a:lstStyle/>
            <a:p>
              <a:pPr algn="ctr">
                <a:lnSpc>
                  <a:spcPts val="3374"/>
                </a:lnSpc>
              </a:pPr>
              <a:endParaRPr/>
            </a:p>
          </p:txBody>
        </p:sp>
      </p:grpSp>
      <p:sp>
        <p:nvSpPr>
          <p:cNvPr id="2" name="AutoShape 2"/>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grpSp>
        <p:nvGrpSpPr>
          <p:cNvPr id="6" name="Group 6"/>
          <p:cNvGrpSpPr>
            <a:grpSpLocks noChangeAspect="1"/>
          </p:cNvGrpSpPr>
          <p:nvPr/>
        </p:nvGrpSpPr>
        <p:grpSpPr>
          <a:xfrm>
            <a:off x="4347464" y="4737215"/>
            <a:ext cx="2362240" cy="2362230"/>
            <a:chOff x="0" y="0"/>
            <a:chExt cx="6350000" cy="6349975"/>
          </a:xfrm>
        </p:grpSpPr>
        <p:sp>
          <p:nvSpPr>
            <p:cNvPr id="7" name="Freeform 7"/>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78303" r="-78303"/>
              </a:stretch>
            </a:blipFill>
          </p:spPr>
          <p:txBody>
            <a:bodyPr/>
            <a:lstStyle/>
            <a:p>
              <a:endParaRPr lang="en-US"/>
            </a:p>
          </p:txBody>
        </p:sp>
      </p:grpSp>
      <p:sp>
        <p:nvSpPr>
          <p:cNvPr id="8" name="Freeform 8"/>
          <p:cNvSpPr/>
          <p:nvPr/>
        </p:nvSpPr>
        <p:spPr>
          <a:xfrm>
            <a:off x="12460637" y="-1140308"/>
            <a:ext cx="8487624" cy="5033628"/>
          </a:xfrm>
          <a:custGeom>
            <a:avLst/>
            <a:gdLst/>
            <a:ahLst/>
            <a:cxnLst/>
            <a:rect l="l" t="t" r="r" b="b"/>
            <a:pathLst>
              <a:path w="8487624" h="5033628">
                <a:moveTo>
                  <a:pt x="0" y="0"/>
                </a:moveTo>
                <a:lnTo>
                  <a:pt x="8487623" y="0"/>
                </a:lnTo>
                <a:lnTo>
                  <a:pt x="8487623" y="5033628"/>
                </a:lnTo>
                <a:lnTo>
                  <a:pt x="0" y="5033628"/>
                </a:lnTo>
                <a:lnTo>
                  <a:pt x="0" y="0"/>
                </a:lnTo>
                <a:close/>
              </a:path>
            </a:pathLst>
          </a:custGeom>
          <a:blipFill>
            <a:blip>
              <a:extLst>
                <a:ext uri="{96DAC541-7B7A-43D3-8B79-37D633B846F1}">
                  <asvg:svgBlip xmlns:asvg="http://schemas.microsoft.com/office/drawing/2016/SVG/main" r:embed="rId3"/>
                </a:ext>
              </a:extLst>
            </a:blip>
            <a:stretch>
              <a:fillRect t="-382" r="-12851" b="-58421"/>
            </a:stretch>
          </a:blipFill>
        </p:spPr>
        <p:txBody>
          <a:bodyPr/>
          <a:lstStyle/>
          <a:p>
            <a:endParaRPr lang="en-US"/>
          </a:p>
        </p:txBody>
      </p:sp>
      <p:grpSp>
        <p:nvGrpSpPr>
          <p:cNvPr id="9" name="Group 9"/>
          <p:cNvGrpSpPr>
            <a:grpSpLocks noChangeAspect="1"/>
          </p:cNvGrpSpPr>
          <p:nvPr/>
        </p:nvGrpSpPr>
        <p:grpSpPr>
          <a:xfrm>
            <a:off x="11279517" y="4737215"/>
            <a:ext cx="2362240" cy="2362230"/>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78303" r="-78303"/>
              </a:stretch>
            </a:blipFill>
          </p:spPr>
          <p:txBody>
            <a:bodyPr/>
            <a:lstStyle/>
            <a:p>
              <a:endParaRPr lang="en-US"/>
            </a:p>
          </p:txBody>
        </p:sp>
      </p:grpSp>
      <p:grpSp>
        <p:nvGrpSpPr>
          <p:cNvPr id="11" name="Group 11"/>
          <p:cNvGrpSpPr>
            <a:grpSpLocks noChangeAspect="1"/>
          </p:cNvGrpSpPr>
          <p:nvPr/>
        </p:nvGrpSpPr>
        <p:grpSpPr>
          <a:xfrm>
            <a:off x="7879959" y="4737215"/>
            <a:ext cx="2362240" cy="2362230"/>
            <a:chOff x="0" y="0"/>
            <a:chExt cx="6350000" cy="6349975"/>
          </a:xfrm>
        </p:grpSpPr>
        <p:sp>
          <p:nvSpPr>
            <p:cNvPr id="12" name="Freeform 12"/>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78303" r="-78303"/>
              </a:stretch>
            </a:blipFill>
          </p:spPr>
          <p:txBody>
            <a:bodyPr/>
            <a:lstStyle/>
            <a:p>
              <a:endParaRPr lang="en-US"/>
            </a:p>
          </p:txBody>
        </p:sp>
      </p:grpSp>
      <p:grpSp>
        <p:nvGrpSpPr>
          <p:cNvPr id="13" name="Group 13"/>
          <p:cNvGrpSpPr>
            <a:grpSpLocks noChangeAspect="1"/>
          </p:cNvGrpSpPr>
          <p:nvPr/>
        </p:nvGrpSpPr>
        <p:grpSpPr>
          <a:xfrm>
            <a:off x="14564158" y="4737215"/>
            <a:ext cx="2362240" cy="2362230"/>
            <a:chOff x="0" y="0"/>
            <a:chExt cx="6350000" cy="6349975"/>
          </a:xfrm>
        </p:grpSpPr>
        <p:sp>
          <p:nvSpPr>
            <p:cNvPr id="14" name="Freeform 14"/>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78303" r="-78303"/>
              </a:stretch>
            </a:blipFill>
          </p:spPr>
          <p:txBody>
            <a:bodyPr/>
            <a:lstStyle/>
            <a:p>
              <a:endParaRPr lang="en-US"/>
            </a:p>
          </p:txBody>
        </p:sp>
      </p:grpSp>
      <p:grpSp>
        <p:nvGrpSpPr>
          <p:cNvPr id="15" name="Group 15"/>
          <p:cNvGrpSpPr/>
          <p:nvPr/>
        </p:nvGrpSpPr>
        <p:grpSpPr>
          <a:xfrm>
            <a:off x="12382274" y="1028700"/>
            <a:ext cx="2362240" cy="2362230"/>
            <a:chOff x="0" y="0"/>
            <a:chExt cx="6350000" cy="6349975"/>
          </a:xfrm>
        </p:grpSpPr>
        <p:sp>
          <p:nvSpPr>
            <p:cNvPr id="16" name="Freeform 16"/>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a:stretch>
            </a:blipFill>
          </p:spPr>
          <p:txBody>
            <a:bodyPr/>
            <a:lstStyle/>
            <a:p>
              <a:endParaRPr lang="en-US"/>
            </a:p>
          </p:txBody>
        </p:sp>
      </p:grpSp>
      <p:sp>
        <p:nvSpPr>
          <p:cNvPr id="17" name="Freeform 17"/>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5"/>
            <a:stretch>
              <a:fillRect/>
            </a:stretch>
          </a:blipFill>
        </p:spPr>
        <p:txBody>
          <a:bodyPr/>
          <a:lstStyle/>
          <a:p>
            <a:endParaRPr lang="en-US"/>
          </a:p>
        </p:txBody>
      </p:sp>
      <p:grpSp>
        <p:nvGrpSpPr>
          <p:cNvPr id="18" name="Group 18"/>
          <p:cNvGrpSpPr>
            <a:grpSpLocks noChangeAspect="1"/>
          </p:cNvGrpSpPr>
          <p:nvPr/>
        </p:nvGrpSpPr>
        <p:grpSpPr>
          <a:xfrm>
            <a:off x="1436472" y="4737215"/>
            <a:ext cx="2362240" cy="2362230"/>
            <a:chOff x="0" y="0"/>
            <a:chExt cx="6350000" cy="6349975"/>
          </a:xfrm>
        </p:grpSpPr>
        <p:sp>
          <p:nvSpPr>
            <p:cNvPr id="19" name="Freeform 19"/>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78303" r="-78303"/>
              </a:stretch>
            </a:blipFill>
          </p:spPr>
          <p:txBody>
            <a:bodyPr/>
            <a:lstStyle/>
            <a:p>
              <a:endParaRPr lang="en-US"/>
            </a:p>
          </p:txBody>
        </p:sp>
      </p:grpSp>
      <p:sp>
        <p:nvSpPr>
          <p:cNvPr id="22" name="TextBox 22"/>
          <p:cNvSpPr txBox="1"/>
          <p:nvPr/>
        </p:nvSpPr>
        <p:spPr>
          <a:xfrm>
            <a:off x="1028700" y="2568525"/>
            <a:ext cx="9956292" cy="423193"/>
          </a:xfrm>
          <a:prstGeom prst="rect">
            <a:avLst/>
          </a:prstGeom>
        </p:spPr>
        <p:txBody>
          <a:bodyPr lIns="0" tIns="0" rIns="0" bIns="0" rtlCol="0" anchor="t">
            <a:spAutoFit/>
          </a:bodyPr>
          <a:lstStyle/>
          <a:p>
            <a:pPr algn="l">
              <a:lnSpc>
                <a:spcPts val="3374"/>
              </a:lnSpc>
            </a:pPr>
            <a:endParaRPr lang="en-US" sz="2499" spc="-87" dirty="0">
              <a:solidFill>
                <a:srgbClr val="FFFFFF"/>
              </a:solidFill>
              <a:latin typeface="Garet"/>
              <a:ea typeface="Garet"/>
              <a:cs typeface="Garet"/>
              <a:sym typeface="Garet"/>
            </a:endParaRPr>
          </a:p>
        </p:txBody>
      </p:sp>
      <p:grpSp>
        <p:nvGrpSpPr>
          <p:cNvPr id="23" name="Group 23"/>
          <p:cNvGrpSpPr/>
          <p:nvPr/>
        </p:nvGrpSpPr>
        <p:grpSpPr>
          <a:xfrm>
            <a:off x="1028700" y="7382121"/>
            <a:ext cx="2794562" cy="927428"/>
            <a:chOff x="0" y="0"/>
            <a:chExt cx="3726083" cy="1236571"/>
          </a:xfrm>
        </p:grpSpPr>
        <p:sp>
          <p:nvSpPr>
            <p:cNvPr id="24" name="TextBox 24"/>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25" name="TextBox 25"/>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xx</a:t>
              </a:r>
            </a:p>
          </p:txBody>
        </p:sp>
      </p:grpSp>
      <p:grpSp>
        <p:nvGrpSpPr>
          <p:cNvPr id="26" name="Group 26"/>
          <p:cNvGrpSpPr/>
          <p:nvPr/>
        </p:nvGrpSpPr>
        <p:grpSpPr>
          <a:xfrm>
            <a:off x="4347464" y="7382121"/>
            <a:ext cx="2794562" cy="927428"/>
            <a:chOff x="0" y="0"/>
            <a:chExt cx="3726083" cy="1236571"/>
          </a:xfrm>
        </p:grpSpPr>
        <p:sp>
          <p:nvSpPr>
            <p:cNvPr id="27" name="TextBox 27"/>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28" name="TextBox 28"/>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xx</a:t>
              </a:r>
            </a:p>
          </p:txBody>
        </p:sp>
      </p:grpSp>
      <p:grpSp>
        <p:nvGrpSpPr>
          <p:cNvPr id="29" name="Group 29"/>
          <p:cNvGrpSpPr/>
          <p:nvPr/>
        </p:nvGrpSpPr>
        <p:grpSpPr>
          <a:xfrm>
            <a:off x="7666228" y="7382121"/>
            <a:ext cx="2794562" cy="927428"/>
            <a:chOff x="0" y="0"/>
            <a:chExt cx="3726083" cy="1236571"/>
          </a:xfrm>
        </p:grpSpPr>
        <p:sp>
          <p:nvSpPr>
            <p:cNvPr id="30" name="TextBox 30"/>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31" name="TextBox 31"/>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xx</a:t>
              </a:r>
            </a:p>
          </p:txBody>
        </p:sp>
      </p:grpSp>
      <p:grpSp>
        <p:nvGrpSpPr>
          <p:cNvPr id="32" name="Group 32"/>
          <p:cNvGrpSpPr/>
          <p:nvPr/>
        </p:nvGrpSpPr>
        <p:grpSpPr>
          <a:xfrm>
            <a:off x="10984992" y="7382121"/>
            <a:ext cx="2794562" cy="927428"/>
            <a:chOff x="0" y="0"/>
            <a:chExt cx="3726083" cy="1236571"/>
          </a:xfrm>
        </p:grpSpPr>
        <p:sp>
          <p:nvSpPr>
            <p:cNvPr id="33" name="TextBox 33"/>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34" name="TextBox 34"/>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xx</a:t>
              </a:r>
            </a:p>
          </p:txBody>
        </p:sp>
      </p:grpSp>
      <p:grpSp>
        <p:nvGrpSpPr>
          <p:cNvPr id="35" name="Group 35"/>
          <p:cNvGrpSpPr/>
          <p:nvPr/>
        </p:nvGrpSpPr>
        <p:grpSpPr>
          <a:xfrm>
            <a:off x="14303756" y="7382121"/>
            <a:ext cx="2794562" cy="927428"/>
            <a:chOff x="0" y="0"/>
            <a:chExt cx="3726083" cy="1236571"/>
          </a:xfrm>
        </p:grpSpPr>
        <p:sp>
          <p:nvSpPr>
            <p:cNvPr id="36" name="TextBox 36"/>
            <p:cNvSpPr txBox="1"/>
            <p:nvPr/>
          </p:nvSpPr>
          <p:spPr>
            <a:xfrm>
              <a:off x="0" y="840331"/>
              <a:ext cx="3726083" cy="396240"/>
            </a:xfrm>
            <a:prstGeom prst="rect">
              <a:avLst/>
            </a:prstGeom>
          </p:spPr>
          <p:txBody>
            <a:bodyPr lIns="0" tIns="0" rIns="0" bIns="0" rtlCol="0" anchor="t">
              <a:spAutoFit/>
            </a:bodyPr>
            <a:lstStyle/>
            <a:p>
              <a:pPr marL="0" lvl="0" indent="0" algn="ctr">
                <a:lnSpc>
                  <a:spcPts val="2520"/>
                </a:lnSpc>
              </a:pPr>
              <a:endParaRPr/>
            </a:p>
          </p:txBody>
        </p:sp>
        <p:sp>
          <p:nvSpPr>
            <p:cNvPr id="37" name="TextBox 37"/>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010101"/>
                  </a:solidFill>
                  <a:latin typeface="Garet"/>
                  <a:ea typeface="Garet"/>
                  <a:cs typeface="Garet"/>
                  <a:sym typeface="Garet"/>
                </a:rPr>
                <a:t>xx</a:t>
              </a:r>
            </a:p>
          </p:txBody>
        </p:sp>
      </p:grpSp>
      <p:grpSp>
        <p:nvGrpSpPr>
          <p:cNvPr id="38" name="Group 38"/>
          <p:cNvGrpSpPr/>
          <p:nvPr/>
        </p:nvGrpSpPr>
        <p:grpSpPr>
          <a:xfrm>
            <a:off x="15307167" y="1271173"/>
            <a:ext cx="2794562" cy="1870403"/>
            <a:chOff x="0" y="0"/>
            <a:chExt cx="3726083" cy="2493871"/>
          </a:xfrm>
        </p:grpSpPr>
        <p:sp>
          <p:nvSpPr>
            <p:cNvPr id="39" name="TextBox 39"/>
            <p:cNvSpPr txBox="1"/>
            <p:nvPr/>
          </p:nvSpPr>
          <p:spPr>
            <a:xfrm>
              <a:off x="0" y="840331"/>
              <a:ext cx="3726083" cy="1653540"/>
            </a:xfrm>
            <a:prstGeom prst="rect">
              <a:avLst/>
            </a:prstGeom>
          </p:spPr>
          <p:txBody>
            <a:bodyPr lIns="0" tIns="0" rIns="0" bIns="0" rtlCol="0" anchor="t">
              <a:spAutoFit/>
            </a:bodyPr>
            <a:lstStyle/>
            <a:p>
              <a:pPr marL="0" lvl="0" indent="0" algn="ctr">
                <a:lnSpc>
                  <a:spcPts val="2520"/>
                </a:lnSpc>
              </a:pPr>
              <a:r>
                <a:rPr lang="en-US" sz="1800" spc="-18">
                  <a:solidFill>
                    <a:srgbClr val="FFFFFF"/>
                  </a:solidFill>
                  <a:latin typeface="Garet"/>
                  <a:ea typeface="Garet"/>
                  <a:cs typeface="Garet"/>
                  <a:sym typeface="Garet"/>
                </a:rPr>
                <a:t>Scientifi</a:t>
              </a:r>
              <a:r>
                <a:rPr lang="en-US" sz="1800" u="none" spc="-18">
                  <a:solidFill>
                    <a:srgbClr val="FFFFFF"/>
                  </a:solidFill>
                  <a:latin typeface="Garet"/>
                  <a:ea typeface="Garet"/>
                  <a:cs typeface="Garet"/>
                  <a:sym typeface="Garet"/>
                </a:rPr>
                <a:t>c or Technical Coordinator for the socio-economic partner</a:t>
              </a:r>
            </a:p>
          </p:txBody>
        </p:sp>
        <p:sp>
          <p:nvSpPr>
            <p:cNvPr id="40" name="TextBox 40"/>
            <p:cNvSpPr txBox="1"/>
            <p:nvPr/>
          </p:nvSpPr>
          <p:spPr>
            <a:xfrm>
              <a:off x="0" y="0"/>
              <a:ext cx="3726083" cy="609600"/>
            </a:xfrm>
            <a:prstGeom prst="rect">
              <a:avLst/>
            </a:prstGeom>
          </p:spPr>
          <p:txBody>
            <a:bodyPr lIns="0" tIns="0" rIns="0" bIns="0" rtlCol="0" anchor="t">
              <a:spAutoFit/>
            </a:bodyPr>
            <a:lstStyle/>
            <a:p>
              <a:pPr algn="ctr">
                <a:lnSpc>
                  <a:spcPts val="3600"/>
                </a:lnSpc>
              </a:pPr>
              <a:r>
                <a:rPr lang="en-US" sz="3000" spc="-150">
                  <a:solidFill>
                    <a:srgbClr val="FFFFFF"/>
                  </a:solidFill>
                  <a:latin typeface="Garet"/>
                  <a:ea typeface="Garet"/>
                  <a:cs typeface="Garet"/>
                  <a:sym typeface="Garet"/>
                </a:rPr>
                <a:t>Arij Boudhina </a:t>
              </a:r>
            </a:p>
          </p:txBody>
        </p:sp>
      </p:grpSp>
      <p:sp>
        <p:nvSpPr>
          <p:cNvPr id="44" name="TextBox 23">
            <a:extLst>
              <a:ext uri="{FF2B5EF4-FFF2-40B4-BE49-F238E27FC236}">
                <a16:creationId xmlns:a16="http://schemas.microsoft.com/office/drawing/2014/main" id="{B9B1E17D-3D35-BB44-71E3-BAE3B29FE18E}"/>
              </a:ext>
            </a:extLst>
          </p:cNvPr>
          <p:cNvSpPr txBox="1"/>
          <p:nvPr/>
        </p:nvSpPr>
        <p:spPr>
          <a:xfrm>
            <a:off x="587944" y="638905"/>
            <a:ext cx="12613056" cy="2582758"/>
          </a:xfrm>
          <a:prstGeom prst="rect">
            <a:avLst/>
          </a:prstGeom>
        </p:spPr>
        <p:txBody>
          <a:bodyPr wrap="square" lIns="0" tIns="0" rIns="0" bIns="0" rtlCol="0" anchor="t">
            <a:spAutoFit/>
          </a:bodyPr>
          <a:lstStyle/>
          <a:p>
            <a:pPr algn="l">
              <a:lnSpc>
                <a:spcPts val="9999"/>
              </a:lnSpc>
            </a:pPr>
            <a:r>
              <a:rPr lang="en-US" sz="8000" b="1" spc="-299" dirty="0" err="1">
                <a:solidFill>
                  <a:srgbClr val="FFFFFF"/>
                </a:solidFill>
                <a:latin typeface="Telegraf Medium"/>
                <a:ea typeface="Telegraf Medium"/>
                <a:cs typeface="Telegraf Medium"/>
                <a:sym typeface="Telegraf Medium"/>
              </a:rPr>
              <a:t>Membres</a:t>
            </a:r>
            <a:r>
              <a:rPr lang="en-US" sz="8000" b="1" spc="-299" dirty="0">
                <a:solidFill>
                  <a:srgbClr val="FFFFFF"/>
                </a:solidFill>
                <a:latin typeface="Telegraf Medium"/>
                <a:ea typeface="Telegraf Medium"/>
                <a:cs typeface="Telegraf Medium"/>
                <a:sym typeface="Telegraf Medium"/>
              </a:rPr>
              <a:t> de </a:t>
            </a:r>
          </a:p>
          <a:p>
            <a:pPr algn="l">
              <a:lnSpc>
                <a:spcPts val="9999"/>
              </a:lnSpc>
            </a:pPr>
            <a:r>
              <a:rPr lang="en-US" sz="8000" b="1" spc="-299" dirty="0" err="1">
                <a:solidFill>
                  <a:srgbClr val="FFFFFF"/>
                </a:solidFill>
                <a:latin typeface="Telegraf Medium"/>
                <a:ea typeface="Telegraf Medium"/>
                <a:cs typeface="Telegraf Medium"/>
                <a:sym typeface="Telegraf Medium"/>
              </a:rPr>
              <a:t>l'équipe</a:t>
            </a:r>
            <a:endParaRPr lang="en-US" sz="8000" b="1" spc="-299" dirty="0">
              <a:solidFill>
                <a:srgbClr val="FFFFFF"/>
              </a:solidFill>
              <a:latin typeface="Telegraf Medium"/>
              <a:ea typeface="Telegraf Medium"/>
              <a:cs typeface="Telegraf Medium"/>
              <a:sym typeface="Telegraf Medium"/>
            </a:endParaRPr>
          </a:p>
        </p:txBody>
      </p:sp>
      <p:sp>
        <p:nvSpPr>
          <p:cNvPr id="45" name="Freeform 6">
            <a:extLst>
              <a:ext uri="{FF2B5EF4-FFF2-40B4-BE49-F238E27FC236}">
                <a16:creationId xmlns:a16="http://schemas.microsoft.com/office/drawing/2014/main" id="{953E8E84-77E3-772C-68E4-E1D3150FB922}"/>
              </a:ext>
            </a:extLst>
          </p:cNvPr>
          <p:cNvSpPr/>
          <p:nvPr/>
        </p:nvSpPr>
        <p:spPr>
          <a:xfrm>
            <a:off x="-279329" y="5139056"/>
            <a:ext cx="6361198" cy="63666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6"/>
                </a:ext>
              </a:extLst>
            </a:blip>
            <a:stretch>
              <a:fillRect l="-50" r="-34"/>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36CA03E2-E45F-B71C-E611-FD624F963D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15400" y="-4445"/>
            <a:ext cx="9448799" cy="10287000"/>
          </a:xfrm>
          <a:prstGeom prst="rect">
            <a:avLst/>
          </a:prstGeom>
        </p:spPr>
      </p:pic>
      <p:grpSp>
        <p:nvGrpSpPr>
          <p:cNvPr id="6" name="Group 5">
            <a:extLst>
              <a:ext uri="{FF2B5EF4-FFF2-40B4-BE49-F238E27FC236}">
                <a16:creationId xmlns:a16="http://schemas.microsoft.com/office/drawing/2014/main" id="{8B6009A2-92A3-311F-9410-7586A0B34D7D}"/>
              </a:ext>
            </a:extLst>
          </p:cNvPr>
          <p:cNvGrpSpPr/>
          <p:nvPr/>
        </p:nvGrpSpPr>
        <p:grpSpPr>
          <a:xfrm rot="5400000">
            <a:off x="-3181558" y="2229058"/>
            <a:ext cx="12724315" cy="6361198"/>
            <a:chOff x="0" y="0"/>
            <a:chExt cx="16965753" cy="8481598"/>
          </a:xfrm>
        </p:grpSpPr>
        <p:sp>
          <p:nvSpPr>
            <p:cNvPr id="7" name="Freeform 6">
              <a:extLst>
                <a:ext uri="{FF2B5EF4-FFF2-40B4-BE49-F238E27FC236}">
                  <a16:creationId xmlns:a16="http://schemas.microsoft.com/office/drawing/2014/main" id="{F37FF36D-33CD-7BF1-3411-219D771AE890}"/>
                </a:ext>
              </a:extLst>
            </p:cNvPr>
            <p:cNvSpPr/>
            <p:nvPr/>
          </p:nvSpPr>
          <p:spPr>
            <a:xfrm rot="-5400000">
              <a:off x="8480553"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8" name="Freeform 7">
              <a:extLst>
                <a:ext uri="{FF2B5EF4-FFF2-40B4-BE49-F238E27FC236}">
                  <a16:creationId xmlns:a16="http://schemas.microsoft.com/office/drawing/2014/main" id="{E00159FC-58EC-C1B4-FD6C-556CA82D3502}"/>
                </a:ext>
              </a:extLst>
            </p:cNvPr>
            <p:cNvSpPr/>
            <p:nvPr/>
          </p:nvSpPr>
          <p:spPr>
            <a:xfrm rot="-5400000">
              <a:off x="3602"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grpSp>
      <p:grpSp>
        <p:nvGrpSpPr>
          <p:cNvPr id="2" name="Group 5">
            <a:extLst>
              <a:ext uri="{FF2B5EF4-FFF2-40B4-BE49-F238E27FC236}">
                <a16:creationId xmlns:a16="http://schemas.microsoft.com/office/drawing/2014/main" id="{A92615E9-6E51-8A2F-0CA7-699A758D7299}"/>
              </a:ext>
            </a:extLst>
          </p:cNvPr>
          <p:cNvGrpSpPr/>
          <p:nvPr/>
        </p:nvGrpSpPr>
        <p:grpSpPr>
          <a:xfrm rot="5400000">
            <a:off x="-1424286" y="914399"/>
            <a:ext cx="12724315" cy="8458201"/>
            <a:chOff x="0" y="0"/>
            <a:chExt cx="16965753" cy="8481598"/>
          </a:xfrm>
        </p:grpSpPr>
        <p:sp>
          <p:nvSpPr>
            <p:cNvPr id="3" name="Freeform 6">
              <a:extLst>
                <a:ext uri="{FF2B5EF4-FFF2-40B4-BE49-F238E27FC236}">
                  <a16:creationId xmlns:a16="http://schemas.microsoft.com/office/drawing/2014/main" id="{690F5A94-C71D-4B79-525D-231900647876}"/>
                </a:ext>
              </a:extLst>
            </p:cNvPr>
            <p:cNvSpPr/>
            <p:nvPr/>
          </p:nvSpPr>
          <p:spPr>
            <a:xfrm rot="-5400000">
              <a:off x="8480553"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4" name="Freeform 7">
              <a:extLst>
                <a:ext uri="{FF2B5EF4-FFF2-40B4-BE49-F238E27FC236}">
                  <a16:creationId xmlns:a16="http://schemas.microsoft.com/office/drawing/2014/main" id="{920608B3-9012-9A81-1320-F5E30BAD84A5}"/>
                </a:ext>
              </a:extLst>
            </p:cNvPr>
            <p:cNvSpPr/>
            <p:nvPr/>
          </p:nvSpPr>
          <p:spPr>
            <a:xfrm rot="-5400000">
              <a:off x="3602"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grpSp>
      <p:sp>
        <p:nvSpPr>
          <p:cNvPr id="9" name="TextBox 14">
            <a:extLst>
              <a:ext uri="{FF2B5EF4-FFF2-40B4-BE49-F238E27FC236}">
                <a16:creationId xmlns:a16="http://schemas.microsoft.com/office/drawing/2014/main" id="{DA622E44-A527-2E7C-D822-BF3CFBE5DDCC}"/>
              </a:ext>
            </a:extLst>
          </p:cNvPr>
          <p:cNvSpPr txBox="1"/>
          <p:nvPr/>
        </p:nvSpPr>
        <p:spPr>
          <a:xfrm>
            <a:off x="1600200" y="3289041"/>
            <a:ext cx="4526082" cy="2107500"/>
          </a:xfrm>
          <a:prstGeom prst="rect">
            <a:avLst/>
          </a:prstGeom>
        </p:spPr>
        <p:txBody>
          <a:bodyPr lIns="0" tIns="0" rIns="0" bIns="0" rtlCol="0" anchor="t">
            <a:spAutoFit/>
          </a:bodyPr>
          <a:lstStyle/>
          <a:p>
            <a:pPr algn="l">
              <a:lnSpc>
                <a:spcPts val="5400"/>
              </a:lnSpc>
            </a:pPr>
            <a:r>
              <a:rPr lang="fr-FR" sz="6000" b="1" spc="-210" dirty="0">
                <a:solidFill>
                  <a:srgbClr val="FFFFFF"/>
                </a:solidFill>
                <a:latin typeface="Telegraf Medium"/>
                <a:ea typeface="Telegraf Medium"/>
                <a:cs typeface="Telegraf Medium"/>
                <a:sym typeface="Telegraf Medium"/>
              </a:rPr>
              <a:t>Périmètre du projet et livrables</a:t>
            </a:r>
            <a:endParaRPr lang="en-US" sz="6000" b="1" spc="-210" dirty="0">
              <a:solidFill>
                <a:srgbClr val="FFFFFF"/>
              </a:solidFill>
              <a:latin typeface="Telegraf Medium"/>
              <a:ea typeface="Telegraf Medium"/>
              <a:cs typeface="Telegraf Medium"/>
              <a:sym typeface="Telegraf Medium"/>
            </a:endParaRPr>
          </a:p>
        </p:txBody>
      </p:sp>
    </p:spTree>
    <p:extLst>
      <p:ext uri="{BB962C8B-B14F-4D97-AF65-F5344CB8AC3E}">
        <p14:creationId xmlns:p14="http://schemas.microsoft.com/office/powerpoint/2010/main" val="4095260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FFC000"/>
          </a:solidFill>
          <a:ln w="12700">
            <a:solidFill>
              <a:srgbClr val="102A3E"/>
            </a:solidFill>
            <a:prstDash val="solid"/>
          </a:ln>
        </p:spPr>
        <p:txBody>
          <a:bodyPr/>
          <a:lstStyle/>
          <a:p>
            <a:endParaRPr lang="en-US" sz="3600"/>
          </a:p>
        </p:txBody>
      </p:sp>
      <p:sp>
        <p:nvSpPr>
          <p:cNvPr id="3" name="Text 1"/>
          <p:cNvSpPr/>
          <p:nvPr/>
        </p:nvSpPr>
        <p:spPr>
          <a:xfrm>
            <a:off x="731520" y="0"/>
            <a:ext cx="16824960" cy="1463040"/>
          </a:xfrm>
          <a:prstGeom prst="rect">
            <a:avLst/>
          </a:prstGeom>
          <a:noFill/>
          <a:ln/>
        </p:spPr>
        <p:txBody>
          <a:bodyPr wrap="square" lIns="0" tIns="0" rIns="0" bIns="0" rtlCol="0" anchor="ctr"/>
          <a:lstStyle/>
          <a:p>
            <a:r>
              <a:rPr lang="en-US" sz="4000" b="1" dirty="0">
                <a:solidFill>
                  <a:srgbClr val="FFFFFF"/>
                </a:solidFill>
                <a:latin typeface="Trebuchet MS" pitchFamily="34" charset="0"/>
                <a:ea typeface="Trebuchet MS" pitchFamily="34" charset="-122"/>
                <a:cs typeface="Trebuchet MS" pitchFamily="34" charset="-120"/>
              </a:rPr>
              <a:t>OBJECTIFS SPÉCIFIQUES</a:t>
            </a:r>
            <a:endParaRPr lang="en-US" sz="4000" dirty="0"/>
          </a:p>
        </p:txBody>
      </p:sp>
      <p:sp>
        <p:nvSpPr>
          <p:cNvPr id="4" name="Shape 2"/>
          <p:cNvSpPr/>
          <p:nvPr/>
        </p:nvSpPr>
        <p:spPr>
          <a:xfrm>
            <a:off x="731520" y="2390560"/>
            <a:ext cx="8321040" cy="1737360"/>
          </a:xfrm>
          <a:prstGeom prst="rect">
            <a:avLst/>
          </a:prstGeom>
          <a:solidFill>
            <a:srgbClr val="E8F4F1"/>
          </a:solidFill>
          <a:ln w="12700">
            <a:solidFill>
              <a:srgbClr val="D0E8E2"/>
            </a:solidFill>
            <a:prstDash val="solid"/>
          </a:ln>
        </p:spPr>
        <p:txBody>
          <a:bodyPr/>
          <a:lstStyle/>
          <a:p>
            <a:endParaRPr lang="en-US" sz="3600"/>
          </a:p>
        </p:txBody>
      </p:sp>
      <p:sp>
        <p:nvSpPr>
          <p:cNvPr id="5" name="Shape 3"/>
          <p:cNvSpPr/>
          <p:nvPr/>
        </p:nvSpPr>
        <p:spPr>
          <a:xfrm>
            <a:off x="731520" y="2390560"/>
            <a:ext cx="1645920" cy="1737360"/>
          </a:xfrm>
          <a:prstGeom prst="rect">
            <a:avLst/>
          </a:prstGeom>
          <a:solidFill>
            <a:srgbClr val="F5A623"/>
          </a:solidFill>
          <a:ln w="12700">
            <a:solidFill>
              <a:srgbClr val="F5A623"/>
            </a:solidFill>
            <a:prstDash val="solid"/>
          </a:ln>
        </p:spPr>
        <p:txBody>
          <a:bodyPr/>
          <a:lstStyle/>
          <a:p>
            <a:endParaRPr lang="en-US" sz="3600"/>
          </a:p>
        </p:txBody>
      </p:sp>
      <p:sp>
        <p:nvSpPr>
          <p:cNvPr id="6" name="Text 4"/>
          <p:cNvSpPr/>
          <p:nvPr/>
        </p:nvSpPr>
        <p:spPr>
          <a:xfrm>
            <a:off x="731520" y="2390560"/>
            <a:ext cx="1645920" cy="17373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OS1</a:t>
            </a:r>
            <a:endParaRPr lang="en-US" sz="3000" dirty="0"/>
          </a:p>
        </p:txBody>
      </p:sp>
      <p:sp>
        <p:nvSpPr>
          <p:cNvPr id="7" name="Text 5"/>
          <p:cNvSpPr/>
          <p:nvPr/>
        </p:nvSpPr>
        <p:spPr>
          <a:xfrm>
            <a:off x="2560320" y="2756320"/>
            <a:ext cx="5120640" cy="668215"/>
          </a:xfrm>
          <a:prstGeom prst="rect">
            <a:avLst/>
          </a:prstGeom>
          <a:noFill/>
          <a:ln/>
        </p:spPr>
        <p:txBody>
          <a:bodyPr wrap="square" lIns="0" tIns="0" rIns="0" bIns="0" rtlCol="0" anchor="ctr"/>
          <a:lstStyle/>
          <a:p>
            <a:r>
              <a:rPr lang="en-US" sz="2800" b="1" dirty="0">
                <a:solidFill>
                  <a:srgbClr val="102A3E"/>
                </a:solidFill>
                <a:latin typeface="Trebuchet MS" pitchFamily="34" charset="0"/>
                <a:ea typeface="Trebuchet MS" pitchFamily="34" charset="-122"/>
                <a:cs typeface="Trebuchet MS" pitchFamily="34" charset="-120"/>
              </a:rPr>
              <a:t>Évaluation énergétique</a:t>
            </a:r>
            <a:endParaRPr lang="en-US" sz="2800" dirty="0"/>
          </a:p>
        </p:txBody>
      </p:sp>
      <p:sp>
        <p:nvSpPr>
          <p:cNvPr id="8" name="Shape 6"/>
          <p:cNvSpPr/>
          <p:nvPr/>
        </p:nvSpPr>
        <p:spPr>
          <a:xfrm>
            <a:off x="7589520" y="3085504"/>
            <a:ext cx="1188720" cy="601394"/>
          </a:xfrm>
          <a:prstGeom prst="roundRect">
            <a:avLst>
              <a:gd name="adj" fmla="val 13333"/>
            </a:avLst>
          </a:prstGeom>
          <a:solidFill>
            <a:srgbClr val="5761A2"/>
          </a:solidFill>
          <a:ln w="12700">
            <a:solidFill>
              <a:srgbClr val="102A3E"/>
            </a:solidFill>
            <a:prstDash val="solid"/>
          </a:ln>
        </p:spPr>
        <p:txBody>
          <a:bodyPr/>
          <a:lstStyle/>
          <a:p>
            <a:endParaRPr lang="en-US" sz="3600"/>
          </a:p>
        </p:txBody>
      </p:sp>
      <p:sp>
        <p:nvSpPr>
          <p:cNvPr id="9" name="Text 7"/>
          <p:cNvSpPr/>
          <p:nvPr/>
        </p:nvSpPr>
        <p:spPr>
          <a:xfrm>
            <a:off x="7589520" y="3085504"/>
            <a:ext cx="1188720" cy="601394"/>
          </a:xfrm>
          <a:prstGeom prst="rect">
            <a:avLst/>
          </a:prstGeom>
          <a:noFill/>
          <a:ln/>
        </p:spPr>
        <p:txBody>
          <a:bodyPr wrap="square" lIns="0" tIns="0" rIns="0" bIns="0" rtlCol="0" anchor="ctr"/>
          <a:lstStyle/>
          <a:p>
            <a:pPr algn="ctr"/>
            <a:r>
              <a:rPr lang="en-US" sz="2600" b="1" dirty="0">
                <a:solidFill>
                  <a:srgbClr val="FFFFFF"/>
                </a:solidFill>
                <a:latin typeface="Calibri" pitchFamily="34" charset="0"/>
                <a:ea typeface="Calibri" pitchFamily="34" charset="-122"/>
                <a:cs typeface="Calibri" pitchFamily="34" charset="-120"/>
              </a:rPr>
              <a:t>M2</a:t>
            </a:r>
            <a:endParaRPr lang="en-US" sz="2600" dirty="0"/>
          </a:p>
        </p:txBody>
      </p:sp>
      <p:sp>
        <p:nvSpPr>
          <p:cNvPr id="10" name="Shape 8"/>
          <p:cNvSpPr/>
          <p:nvPr/>
        </p:nvSpPr>
        <p:spPr>
          <a:xfrm>
            <a:off x="9601200" y="2390560"/>
            <a:ext cx="8321040" cy="1737360"/>
          </a:xfrm>
          <a:prstGeom prst="rect">
            <a:avLst/>
          </a:prstGeom>
          <a:solidFill>
            <a:srgbClr val="E8F4F1"/>
          </a:solidFill>
          <a:ln w="12700">
            <a:solidFill>
              <a:srgbClr val="D0E8E2"/>
            </a:solidFill>
            <a:prstDash val="solid"/>
          </a:ln>
        </p:spPr>
        <p:txBody>
          <a:bodyPr/>
          <a:lstStyle/>
          <a:p>
            <a:endParaRPr lang="en-US" sz="3600"/>
          </a:p>
        </p:txBody>
      </p:sp>
      <p:sp>
        <p:nvSpPr>
          <p:cNvPr id="11" name="Shape 9"/>
          <p:cNvSpPr/>
          <p:nvPr/>
        </p:nvSpPr>
        <p:spPr>
          <a:xfrm>
            <a:off x="9601200" y="2390560"/>
            <a:ext cx="1645920" cy="1737360"/>
          </a:xfrm>
          <a:prstGeom prst="rect">
            <a:avLst/>
          </a:prstGeom>
          <a:solidFill>
            <a:srgbClr val="00A884"/>
          </a:solidFill>
          <a:ln w="12700">
            <a:solidFill>
              <a:srgbClr val="00A884"/>
            </a:solidFill>
            <a:prstDash val="solid"/>
          </a:ln>
        </p:spPr>
        <p:txBody>
          <a:bodyPr/>
          <a:lstStyle/>
          <a:p>
            <a:endParaRPr lang="en-US" sz="3600"/>
          </a:p>
        </p:txBody>
      </p:sp>
      <p:sp>
        <p:nvSpPr>
          <p:cNvPr id="12" name="Text 10"/>
          <p:cNvSpPr/>
          <p:nvPr/>
        </p:nvSpPr>
        <p:spPr>
          <a:xfrm>
            <a:off x="9601200" y="2390560"/>
            <a:ext cx="1645920" cy="17373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OS2</a:t>
            </a:r>
            <a:endParaRPr lang="en-US" sz="3000" dirty="0"/>
          </a:p>
        </p:txBody>
      </p:sp>
      <p:sp>
        <p:nvSpPr>
          <p:cNvPr id="13" name="Text 11"/>
          <p:cNvSpPr/>
          <p:nvPr/>
        </p:nvSpPr>
        <p:spPr>
          <a:xfrm>
            <a:off x="11430000" y="2756320"/>
            <a:ext cx="5120640" cy="668215"/>
          </a:xfrm>
          <a:prstGeom prst="rect">
            <a:avLst/>
          </a:prstGeom>
          <a:noFill/>
          <a:ln/>
        </p:spPr>
        <p:txBody>
          <a:bodyPr wrap="square" lIns="0" tIns="0" rIns="0" bIns="0" rtlCol="0" anchor="ctr"/>
          <a:lstStyle/>
          <a:p>
            <a:r>
              <a:rPr lang="en-US" sz="2800" b="1" dirty="0">
                <a:solidFill>
                  <a:srgbClr val="102A3E"/>
                </a:solidFill>
                <a:latin typeface="Trebuchet MS" pitchFamily="34" charset="0"/>
                <a:ea typeface="Trebuchet MS" pitchFamily="34" charset="-122"/>
                <a:cs typeface="Trebuchet MS" pitchFamily="34" charset="-120"/>
              </a:rPr>
              <a:t>Analyse thermique</a:t>
            </a:r>
            <a:endParaRPr lang="en-US" sz="2800" dirty="0"/>
          </a:p>
        </p:txBody>
      </p:sp>
      <p:sp>
        <p:nvSpPr>
          <p:cNvPr id="14" name="Shape 12"/>
          <p:cNvSpPr/>
          <p:nvPr/>
        </p:nvSpPr>
        <p:spPr>
          <a:xfrm>
            <a:off x="16459200" y="3085504"/>
            <a:ext cx="1188720" cy="601394"/>
          </a:xfrm>
          <a:prstGeom prst="roundRect">
            <a:avLst>
              <a:gd name="adj" fmla="val 13333"/>
            </a:avLst>
          </a:prstGeom>
          <a:solidFill>
            <a:srgbClr val="243186"/>
          </a:solidFill>
          <a:ln w="12700">
            <a:solidFill>
              <a:srgbClr val="102A3E"/>
            </a:solidFill>
            <a:prstDash val="solid"/>
          </a:ln>
        </p:spPr>
        <p:txBody>
          <a:bodyPr/>
          <a:lstStyle/>
          <a:p>
            <a:endParaRPr lang="en-US" sz="3600"/>
          </a:p>
        </p:txBody>
      </p:sp>
      <p:sp>
        <p:nvSpPr>
          <p:cNvPr id="15" name="Text 13"/>
          <p:cNvSpPr/>
          <p:nvPr/>
        </p:nvSpPr>
        <p:spPr>
          <a:xfrm>
            <a:off x="16459200" y="3085504"/>
            <a:ext cx="1188720" cy="601394"/>
          </a:xfrm>
          <a:prstGeom prst="rect">
            <a:avLst/>
          </a:prstGeom>
          <a:noFill/>
          <a:ln/>
        </p:spPr>
        <p:txBody>
          <a:bodyPr wrap="square" lIns="0" tIns="0" rIns="0" bIns="0" rtlCol="0" anchor="ctr"/>
          <a:lstStyle/>
          <a:p>
            <a:pPr algn="ctr"/>
            <a:r>
              <a:rPr lang="en-US" sz="2600" b="1" dirty="0">
                <a:solidFill>
                  <a:srgbClr val="FFFFFF"/>
                </a:solidFill>
                <a:latin typeface="Calibri" pitchFamily="34" charset="0"/>
                <a:ea typeface="Calibri" pitchFamily="34" charset="-122"/>
                <a:cs typeface="Calibri" pitchFamily="34" charset="-120"/>
              </a:rPr>
              <a:t>M6</a:t>
            </a:r>
            <a:endParaRPr lang="en-US" sz="2600" dirty="0"/>
          </a:p>
        </p:txBody>
      </p:sp>
      <p:sp>
        <p:nvSpPr>
          <p:cNvPr id="16" name="Shape 14"/>
          <p:cNvSpPr/>
          <p:nvPr/>
        </p:nvSpPr>
        <p:spPr>
          <a:xfrm>
            <a:off x="731520" y="4581310"/>
            <a:ext cx="8321040" cy="1638300"/>
          </a:xfrm>
          <a:prstGeom prst="rect">
            <a:avLst/>
          </a:prstGeom>
          <a:solidFill>
            <a:srgbClr val="E8F4F1"/>
          </a:solidFill>
          <a:ln w="12700">
            <a:solidFill>
              <a:srgbClr val="D0E8E2"/>
            </a:solidFill>
            <a:prstDash val="solid"/>
          </a:ln>
        </p:spPr>
        <p:txBody>
          <a:bodyPr/>
          <a:lstStyle/>
          <a:p>
            <a:endParaRPr lang="en-US" sz="3600"/>
          </a:p>
        </p:txBody>
      </p:sp>
      <p:sp>
        <p:nvSpPr>
          <p:cNvPr id="17" name="Shape 15"/>
          <p:cNvSpPr/>
          <p:nvPr/>
        </p:nvSpPr>
        <p:spPr>
          <a:xfrm>
            <a:off x="731520" y="4581310"/>
            <a:ext cx="1645920" cy="1638300"/>
          </a:xfrm>
          <a:prstGeom prst="rect">
            <a:avLst/>
          </a:prstGeom>
          <a:solidFill>
            <a:srgbClr val="5DA8E0"/>
          </a:solidFill>
          <a:ln w="12700">
            <a:solidFill>
              <a:srgbClr val="5DA8E0"/>
            </a:solidFill>
            <a:prstDash val="solid"/>
          </a:ln>
        </p:spPr>
        <p:txBody>
          <a:bodyPr/>
          <a:lstStyle/>
          <a:p>
            <a:endParaRPr lang="en-US" sz="3600"/>
          </a:p>
        </p:txBody>
      </p:sp>
      <p:sp>
        <p:nvSpPr>
          <p:cNvPr id="18" name="Text 16"/>
          <p:cNvSpPr/>
          <p:nvPr/>
        </p:nvSpPr>
        <p:spPr>
          <a:xfrm>
            <a:off x="731520" y="4581310"/>
            <a:ext cx="1645920" cy="163830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OS3</a:t>
            </a:r>
            <a:endParaRPr lang="en-US" sz="3000" dirty="0"/>
          </a:p>
        </p:txBody>
      </p:sp>
      <p:sp>
        <p:nvSpPr>
          <p:cNvPr id="19" name="Text 17"/>
          <p:cNvSpPr/>
          <p:nvPr/>
        </p:nvSpPr>
        <p:spPr>
          <a:xfrm>
            <a:off x="2560320" y="4947070"/>
            <a:ext cx="5120640" cy="630115"/>
          </a:xfrm>
          <a:prstGeom prst="rect">
            <a:avLst/>
          </a:prstGeom>
          <a:noFill/>
          <a:ln/>
        </p:spPr>
        <p:txBody>
          <a:bodyPr wrap="square" lIns="0" tIns="0" rIns="0" bIns="0" rtlCol="0" anchor="ctr"/>
          <a:lstStyle/>
          <a:p>
            <a:r>
              <a:rPr lang="en-US" sz="2800" b="1" dirty="0">
                <a:solidFill>
                  <a:srgbClr val="102A3E"/>
                </a:solidFill>
                <a:latin typeface="Trebuchet MS" pitchFamily="34" charset="0"/>
                <a:ea typeface="Trebuchet MS" pitchFamily="34" charset="-122"/>
                <a:cs typeface="Trebuchet MS" pitchFamily="34" charset="-120"/>
              </a:rPr>
              <a:t>Système PV</a:t>
            </a:r>
            <a:endParaRPr lang="en-US" sz="2800" dirty="0"/>
          </a:p>
        </p:txBody>
      </p:sp>
      <p:sp>
        <p:nvSpPr>
          <p:cNvPr id="20" name="Shape 18"/>
          <p:cNvSpPr/>
          <p:nvPr/>
        </p:nvSpPr>
        <p:spPr>
          <a:xfrm>
            <a:off x="7589520" y="5276254"/>
            <a:ext cx="1188720" cy="567104"/>
          </a:xfrm>
          <a:prstGeom prst="roundRect">
            <a:avLst>
              <a:gd name="adj" fmla="val 13333"/>
            </a:avLst>
          </a:prstGeom>
          <a:solidFill>
            <a:srgbClr val="5761A2"/>
          </a:solidFill>
          <a:ln w="12700">
            <a:solidFill>
              <a:srgbClr val="102A3E"/>
            </a:solidFill>
            <a:prstDash val="solid"/>
          </a:ln>
        </p:spPr>
        <p:txBody>
          <a:bodyPr/>
          <a:lstStyle/>
          <a:p>
            <a:endParaRPr lang="en-US" sz="3600"/>
          </a:p>
        </p:txBody>
      </p:sp>
      <p:sp>
        <p:nvSpPr>
          <p:cNvPr id="21" name="Text 19"/>
          <p:cNvSpPr/>
          <p:nvPr/>
        </p:nvSpPr>
        <p:spPr>
          <a:xfrm>
            <a:off x="7589520" y="5276254"/>
            <a:ext cx="1188720" cy="567104"/>
          </a:xfrm>
          <a:prstGeom prst="rect">
            <a:avLst/>
          </a:prstGeom>
          <a:noFill/>
          <a:ln/>
        </p:spPr>
        <p:txBody>
          <a:bodyPr wrap="square" lIns="0" tIns="0" rIns="0" bIns="0" rtlCol="0" anchor="ctr"/>
          <a:lstStyle/>
          <a:p>
            <a:pPr algn="ctr"/>
            <a:r>
              <a:rPr lang="en-US" sz="2600" b="1" dirty="0">
                <a:solidFill>
                  <a:srgbClr val="FFFFFF"/>
                </a:solidFill>
                <a:latin typeface="Calibri" pitchFamily="34" charset="0"/>
                <a:ea typeface="Calibri" pitchFamily="34" charset="-122"/>
                <a:cs typeface="Calibri" pitchFamily="34" charset="-120"/>
              </a:rPr>
              <a:t>M9</a:t>
            </a:r>
            <a:endParaRPr lang="en-US" sz="2600" dirty="0"/>
          </a:p>
        </p:txBody>
      </p:sp>
      <p:sp>
        <p:nvSpPr>
          <p:cNvPr id="22" name="Shape 20"/>
          <p:cNvSpPr/>
          <p:nvPr/>
        </p:nvSpPr>
        <p:spPr>
          <a:xfrm>
            <a:off x="9601200" y="4581310"/>
            <a:ext cx="8321040" cy="1638300"/>
          </a:xfrm>
          <a:prstGeom prst="rect">
            <a:avLst/>
          </a:prstGeom>
          <a:solidFill>
            <a:srgbClr val="E8F4F1"/>
          </a:solidFill>
          <a:ln w="12700">
            <a:solidFill>
              <a:srgbClr val="D0E8E2"/>
            </a:solidFill>
            <a:prstDash val="solid"/>
          </a:ln>
        </p:spPr>
        <p:txBody>
          <a:bodyPr/>
          <a:lstStyle/>
          <a:p>
            <a:endParaRPr lang="en-US" sz="3600"/>
          </a:p>
        </p:txBody>
      </p:sp>
      <p:sp>
        <p:nvSpPr>
          <p:cNvPr id="23" name="Shape 21"/>
          <p:cNvSpPr/>
          <p:nvPr/>
        </p:nvSpPr>
        <p:spPr>
          <a:xfrm>
            <a:off x="9601200" y="4581310"/>
            <a:ext cx="1645920" cy="1638300"/>
          </a:xfrm>
          <a:prstGeom prst="rect">
            <a:avLst/>
          </a:prstGeom>
          <a:solidFill>
            <a:srgbClr val="F5A623"/>
          </a:solidFill>
          <a:ln w="12700">
            <a:solidFill>
              <a:srgbClr val="F5A623"/>
            </a:solidFill>
            <a:prstDash val="solid"/>
          </a:ln>
        </p:spPr>
        <p:txBody>
          <a:bodyPr/>
          <a:lstStyle/>
          <a:p>
            <a:endParaRPr lang="en-US" sz="3600"/>
          </a:p>
        </p:txBody>
      </p:sp>
      <p:sp>
        <p:nvSpPr>
          <p:cNvPr id="24" name="Text 22"/>
          <p:cNvSpPr/>
          <p:nvPr/>
        </p:nvSpPr>
        <p:spPr>
          <a:xfrm>
            <a:off x="9601200" y="4581310"/>
            <a:ext cx="1645920" cy="163830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OS4</a:t>
            </a:r>
            <a:endParaRPr lang="en-US" sz="3000" dirty="0"/>
          </a:p>
        </p:txBody>
      </p:sp>
      <p:sp>
        <p:nvSpPr>
          <p:cNvPr id="25" name="Text 23"/>
          <p:cNvSpPr/>
          <p:nvPr/>
        </p:nvSpPr>
        <p:spPr>
          <a:xfrm>
            <a:off x="11430000" y="4947070"/>
            <a:ext cx="5120640" cy="630115"/>
          </a:xfrm>
          <a:prstGeom prst="rect">
            <a:avLst/>
          </a:prstGeom>
          <a:noFill/>
          <a:ln/>
        </p:spPr>
        <p:txBody>
          <a:bodyPr wrap="square" lIns="0" tIns="0" rIns="0" bIns="0" rtlCol="0" anchor="ctr"/>
          <a:lstStyle/>
          <a:p>
            <a:r>
              <a:rPr lang="en-US" sz="2800" b="1" dirty="0">
                <a:solidFill>
                  <a:srgbClr val="102A3E"/>
                </a:solidFill>
                <a:latin typeface="Trebuchet MS" pitchFamily="34" charset="0"/>
                <a:ea typeface="Trebuchet MS" pitchFamily="34" charset="-122"/>
                <a:cs typeface="Trebuchet MS" pitchFamily="34" charset="-120"/>
              </a:rPr>
              <a:t>Installation &amp; Validation</a:t>
            </a:r>
            <a:endParaRPr lang="en-US" sz="2800" dirty="0"/>
          </a:p>
        </p:txBody>
      </p:sp>
      <p:sp>
        <p:nvSpPr>
          <p:cNvPr id="26" name="Shape 24"/>
          <p:cNvSpPr/>
          <p:nvPr/>
        </p:nvSpPr>
        <p:spPr>
          <a:xfrm>
            <a:off x="16459200" y="5276254"/>
            <a:ext cx="1188720" cy="567104"/>
          </a:xfrm>
          <a:prstGeom prst="roundRect">
            <a:avLst>
              <a:gd name="adj" fmla="val 13333"/>
            </a:avLst>
          </a:prstGeom>
          <a:solidFill>
            <a:srgbClr val="1D2B82"/>
          </a:solidFill>
          <a:ln w="12700">
            <a:solidFill>
              <a:srgbClr val="102A3E"/>
            </a:solidFill>
            <a:prstDash val="solid"/>
          </a:ln>
        </p:spPr>
        <p:txBody>
          <a:bodyPr/>
          <a:lstStyle/>
          <a:p>
            <a:endParaRPr lang="en-US" sz="3600"/>
          </a:p>
        </p:txBody>
      </p:sp>
      <p:sp>
        <p:nvSpPr>
          <p:cNvPr id="27" name="Text 25"/>
          <p:cNvSpPr/>
          <p:nvPr/>
        </p:nvSpPr>
        <p:spPr>
          <a:xfrm>
            <a:off x="16459200" y="5276254"/>
            <a:ext cx="1188720" cy="567104"/>
          </a:xfrm>
          <a:prstGeom prst="rect">
            <a:avLst/>
          </a:prstGeom>
          <a:noFill/>
          <a:ln/>
        </p:spPr>
        <p:txBody>
          <a:bodyPr wrap="square" lIns="0" tIns="0" rIns="0" bIns="0" rtlCol="0" anchor="ctr"/>
          <a:lstStyle/>
          <a:p>
            <a:pPr algn="ctr"/>
            <a:r>
              <a:rPr lang="en-US" sz="2600" b="1" dirty="0">
                <a:solidFill>
                  <a:srgbClr val="FFFFFF"/>
                </a:solidFill>
                <a:latin typeface="Calibri" pitchFamily="34" charset="0"/>
                <a:ea typeface="Calibri" pitchFamily="34" charset="-122"/>
                <a:cs typeface="Calibri" pitchFamily="34" charset="-120"/>
              </a:rPr>
              <a:t>M18</a:t>
            </a:r>
            <a:endParaRPr lang="en-US" sz="2600" dirty="0"/>
          </a:p>
        </p:txBody>
      </p:sp>
      <p:sp>
        <p:nvSpPr>
          <p:cNvPr id="28" name="Shape 26"/>
          <p:cNvSpPr/>
          <p:nvPr/>
        </p:nvSpPr>
        <p:spPr>
          <a:xfrm>
            <a:off x="731520" y="6730151"/>
            <a:ext cx="8321040" cy="1470660"/>
          </a:xfrm>
          <a:prstGeom prst="rect">
            <a:avLst/>
          </a:prstGeom>
          <a:solidFill>
            <a:srgbClr val="E8F4F1"/>
          </a:solidFill>
          <a:ln w="12700">
            <a:solidFill>
              <a:srgbClr val="D0E8E2"/>
            </a:solidFill>
            <a:prstDash val="solid"/>
          </a:ln>
        </p:spPr>
        <p:txBody>
          <a:bodyPr/>
          <a:lstStyle/>
          <a:p>
            <a:endParaRPr lang="en-US" sz="3600"/>
          </a:p>
        </p:txBody>
      </p:sp>
      <p:sp>
        <p:nvSpPr>
          <p:cNvPr id="29" name="Shape 27"/>
          <p:cNvSpPr/>
          <p:nvPr/>
        </p:nvSpPr>
        <p:spPr>
          <a:xfrm>
            <a:off x="731520" y="6730151"/>
            <a:ext cx="1645920" cy="1470660"/>
          </a:xfrm>
          <a:prstGeom prst="rect">
            <a:avLst/>
          </a:prstGeom>
          <a:solidFill>
            <a:srgbClr val="00A884"/>
          </a:solidFill>
          <a:ln w="12700">
            <a:solidFill>
              <a:srgbClr val="00A884"/>
            </a:solidFill>
            <a:prstDash val="solid"/>
          </a:ln>
        </p:spPr>
        <p:txBody>
          <a:bodyPr/>
          <a:lstStyle/>
          <a:p>
            <a:endParaRPr lang="en-US" sz="3600"/>
          </a:p>
        </p:txBody>
      </p:sp>
      <p:sp>
        <p:nvSpPr>
          <p:cNvPr id="30" name="Text 28"/>
          <p:cNvSpPr/>
          <p:nvPr/>
        </p:nvSpPr>
        <p:spPr>
          <a:xfrm>
            <a:off x="731520" y="6730151"/>
            <a:ext cx="1645920" cy="14706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OS5</a:t>
            </a:r>
            <a:endParaRPr lang="en-US" sz="3000" dirty="0"/>
          </a:p>
        </p:txBody>
      </p:sp>
      <p:sp>
        <p:nvSpPr>
          <p:cNvPr id="31" name="Text 29"/>
          <p:cNvSpPr/>
          <p:nvPr/>
        </p:nvSpPr>
        <p:spPr>
          <a:xfrm>
            <a:off x="2560320" y="7095911"/>
            <a:ext cx="5120640" cy="565638"/>
          </a:xfrm>
          <a:prstGeom prst="rect">
            <a:avLst/>
          </a:prstGeom>
          <a:noFill/>
          <a:ln/>
        </p:spPr>
        <p:txBody>
          <a:bodyPr wrap="square" lIns="0" tIns="0" rIns="0" bIns="0" rtlCol="0" anchor="ctr"/>
          <a:lstStyle/>
          <a:p>
            <a:r>
              <a:rPr lang="en-US" sz="2800" b="1" dirty="0">
                <a:solidFill>
                  <a:srgbClr val="102A3E"/>
                </a:solidFill>
                <a:latin typeface="Trebuchet MS" pitchFamily="34" charset="0"/>
                <a:ea typeface="Trebuchet MS" pitchFamily="34" charset="-122"/>
                <a:cs typeface="Trebuchet MS" pitchFamily="34" charset="-120"/>
              </a:rPr>
              <a:t>Algorithme EMS</a:t>
            </a:r>
            <a:endParaRPr lang="en-US" sz="2800" dirty="0"/>
          </a:p>
        </p:txBody>
      </p:sp>
      <p:sp>
        <p:nvSpPr>
          <p:cNvPr id="32" name="Shape 30"/>
          <p:cNvSpPr/>
          <p:nvPr/>
        </p:nvSpPr>
        <p:spPr>
          <a:xfrm>
            <a:off x="7589520" y="7425095"/>
            <a:ext cx="1188720" cy="509075"/>
          </a:xfrm>
          <a:prstGeom prst="roundRect">
            <a:avLst>
              <a:gd name="adj" fmla="val 13333"/>
            </a:avLst>
          </a:prstGeom>
          <a:solidFill>
            <a:srgbClr val="102A3E"/>
          </a:solidFill>
          <a:ln w="12700">
            <a:solidFill>
              <a:srgbClr val="102A3E"/>
            </a:solidFill>
            <a:prstDash val="solid"/>
          </a:ln>
        </p:spPr>
        <p:txBody>
          <a:bodyPr/>
          <a:lstStyle/>
          <a:p>
            <a:endParaRPr lang="en-US" sz="3600"/>
          </a:p>
        </p:txBody>
      </p:sp>
      <p:sp>
        <p:nvSpPr>
          <p:cNvPr id="33" name="Text 31"/>
          <p:cNvSpPr/>
          <p:nvPr/>
        </p:nvSpPr>
        <p:spPr>
          <a:xfrm>
            <a:off x="7589520" y="7425095"/>
            <a:ext cx="1188720" cy="509075"/>
          </a:xfrm>
          <a:prstGeom prst="rect">
            <a:avLst/>
          </a:prstGeom>
          <a:solidFill>
            <a:srgbClr val="243186"/>
          </a:solidFill>
          <a:ln/>
        </p:spPr>
        <p:txBody>
          <a:bodyPr wrap="square" lIns="0" tIns="0" rIns="0" bIns="0" rtlCol="0" anchor="ctr"/>
          <a:lstStyle/>
          <a:p>
            <a:pPr algn="ctr"/>
            <a:r>
              <a:rPr lang="en-US" sz="2600" b="1" dirty="0" err="1">
                <a:solidFill>
                  <a:srgbClr val="FFFFFF"/>
                </a:solidFill>
                <a:latin typeface="Calibri" pitchFamily="34" charset="0"/>
                <a:ea typeface="Calibri" pitchFamily="34" charset="-122"/>
                <a:cs typeface="Calibri" pitchFamily="34" charset="-120"/>
              </a:rPr>
              <a:t>M12</a:t>
            </a:r>
            <a:endParaRPr lang="en-US" sz="2600" dirty="0"/>
          </a:p>
        </p:txBody>
      </p:sp>
      <p:sp>
        <p:nvSpPr>
          <p:cNvPr id="34" name="Shape 32"/>
          <p:cNvSpPr/>
          <p:nvPr/>
        </p:nvSpPr>
        <p:spPr>
          <a:xfrm>
            <a:off x="9601200" y="6730151"/>
            <a:ext cx="8321040" cy="1470660"/>
          </a:xfrm>
          <a:prstGeom prst="rect">
            <a:avLst/>
          </a:prstGeom>
          <a:solidFill>
            <a:srgbClr val="E8F4F1"/>
          </a:solidFill>
          <a:ln w="12700">
            <a:solidFill>
              <a:srgbClr val="D0E8E2"/>
            </a:solidFill>
            <a:prstDash val="solid"/>
          </a:ln>
        </p:spPr>
        <p:txBody>
          <a:bodyPr/>
          <a:lstStyle/>
          <a:p>
            <a:endParaRPr lang="en-US" sz="3600"/>
          </a:p>
        </p:txBody>
      </p:sp>
      <p:sp>
        <p:nvSpPr>
          <p:cNvPr id="35" name="Shape 33"/>
          <p:cNvSpPr/>
          <p:nvPr/>
        </p:nvSpPr>
        <p:spPr>
          <a:xfrm>
            <a:off x="9601200" y="6730151"/>
            <a:ext cx="1645920" cy="1470660"/>
          </a:xfrm>
          <a:prstGeom prst="rect">
            <a:avLst/>
          </a:prstGeom>
          <a:solidFill>
            <a:srgbClr val="5DA8E0"/>
          </a:solidFill>
          <a:ln w="12700">
            <a:solidFill>
              <a:srgbClr val="5DA8E0"/>
            </a:solidFill>
            <a:prstDash val="solid"/>
          </a:ln>
        </p:spPr>
        <p:txBody>
          <a:bodyPr/>
          <a:lstStyle/>
          <a:p>
            <a:endParaRPr lang="en-US" sz="3600"/>
          </a:p>
        </p:txBody>
      </p:sp>
      <p:sp>
        <p:nvSpPr>
          <p:cNvPr id="36" name="Text 34"/>
          <p:cNvSpPr/>
          <p:nvPr/>
        </p:nvSpPr>
        <p:spPr>
          <a:xfrm>
            <a:off x="9601200" y="6730151"/>
            <a:ext cx="1645920" cy="14706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OS6</a:t>
            </a:r>
            <a:endParaRPr lang="en-US" sz="3000" dirty="0"/>
          </a:p>
        </p:txBody>
      </p:sp>
      <p:sp>
        <p:nvSpPr>
          <p:cNvPr id="37" name="Text 35"/>
          <p:cNvSpPr/>
          <p:nvPr/>
        </p:nvSpPr>
        <p:spPr>
          <a:xfrm>
            <a:off x="11430000" y="7095911"/>
            <a:ext cx="5120640" cy="565638"/>
          </a:xfrm>
          <a:prstGeom prst="rect">
            <a:avLst/>
          </a:prstGeom>
          <a:noFill/>
          <a:ln/>
        </p:spPr>
        <p:txBody>
          <a:bodyPr wrap="square" lIns="0" tIns="0" rIns="0" bIns="0" rtlCol="0" anchor="ctr"/>
          <a:lstStyle/>
          <a:p>
            <a:r>
              <a:rPr lang="en-US" sz="2800" b="1" dirty="0">
                <a:solidFill>
                  <a:srgbClr val="102A3E"/>
                </a:solidFill>
                <a:latin typeface="Trebuchet MS" pitchFamily="34" charset="0"/>
                <a:ea typeface="Trebuchet MS" pitchFamily="34" charset="-122"/>
                <a:cs typeface="Trebuchet MS" pitchFamily="34" charset="-120"/>
              </a:rPr>
              <a:t>Digital Twin</a:t>
            </a:r>
            <a:endParaRPr lang="en-US" sz="2800" dirty="0"/>
          </a:p>
        </p:txBody>
      </p:sp>
      <p:sp>
        <p:nvSpPr>
          <p:cNvPr id="38" name="Shape 36"/>
          <p:cNvSpPr/>
          <p:nvPr/>
        </p:nvSpPr>
        <p:spPr>
          <a:xfrm>
            <a:off x="16459200" y="7425095"/>
            <a:ext cx="1188720" cy="509075"/>
          </a:xfrm>
          <a:prstGeom prst="roundRect">
            <a:avLst>
              <a:gd name="adj" fmla="val 13333"/>
            </a:avLst>
          </a:prstGeom>
          <a:solidFill>
            <a:srgbClr val="243186"/>
          </a:solidFill>
          <a:ln w="12700">
            <a:solidFill>
              <a:srgbClr val="102A3E"/>
            </a:solidFill>
            <a:prstDash val="solid"/>
          </a:ln>
        </p:spPr>
        <p:txBody>
          <a:bodyPr/>
          <a:lstStyle/>
          <a:p>
            <a:endParaRPr lang="en-US" sz="3600"/>
          </a:p>
        </p:txBody>
      </p:sp>
      <p:sp>
        <p:nvSpPr>
          <p:cNvPr id="39" name="Text 37"/>
          <p:cNvSpPr/>
          <p:nvPr/>
        </p:nvSpPr>
        <p:spPr>
          <a:xfrm>
            <a:off x="16459200" y="7425095"/>
            <a:ext cx="1188720" cy="509075"/>
          </a:xfrm>
          <a:prstGeom prst="rect">
            <a:avLst/>
          </a:prstGeom>
          <a:noFill/>
          <a:ln/>
        </p:spPr>
        <p:txBody>
          <a:bodyPr wrap="square" lIns="0" tIns="0" rIns="0" bIns="0" rtlCol="0" anchor="ctr"/>
          <a:lstStyle/>
          <a:p>
            <a:pPr algn="ctr"/>
            <a:r>
              <a:rPr lang="en-US" sz="2600" b="1" dirty="0">
                <a:solidFill>
                  <a:srgbClr val="FFFFFF"/>
                </a:solidFill>
                <a:latin typeface="Calibri" pitchFamily="34" charset="0"/>
                <a:ea typeface="Calibri" pitchFamily="34" charset="-122"/>
                <a:cs typeface="Calibri" pitchFamily="34" charset="-120"/>
              </a:rPr>
              <a:t>M24</a:t>
            </a:r>
            <a:endParaRPr lang="en-US" sz="2600" dirty="0"/>
          </a:p>
        </p:txBody>
      </p:sp>
      <p:sp>
        <p:nvSpPr>
          <p:cNvPr id="40" name="AutoShape 2">
            <a:extLst>
              <a:ext uri="{FF2B5EF4-FFF2-40B4-BE49-F238E27FC236}">
                <a16:creationId xmlns:a16="http://schemas.microsoft.com/office/drawing/2014/main" id="{D8653F87-D786-307C-B6ED-88E970EB3AB5}"/>
              </a:ext>
            </a:extLst>
          </p:cNvPr>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sp>
        <p:nvSpPr>
          <p:cNvPr id="41" name="Freeform 17">
            <a:extLst>
              <a:ext uri="{FF2B5EF4-FFF2-40B4-BE49-F238E27FC236}">
                <a16:creationId xmlns:a16="http://schemas.microsoft.com/office/drawing/2014/main" id="{2B3C3456-C235-8FBC-ECD3-2A33926164FA}"/>
              </a:ext>
            </a:extLst>
          </p:cNvPr>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B923"/>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462812"/>
            <a:ext cx="6515100" cy="3361376"/>
            <a:chOff x="0" y="0"/>
            <a:chExt cx="7924340" cy="4481834"/>
          </a:xfrm>
        </p:grpSpPr>
        <p:sp>
          <p:nvSpPr>
            <p:cNvPr id="3" name="TextBox 3"/>
            <p:cNvSpPr txBox="1"/>
            <p:nvPr/>
          </p:nvSpPr>
          <p:spPr>
            <a:xfrm>
              <a:off x="0" y="76200"/>
              <a:ext cx="7924340" cy="3217333"/>
            </a:xfrm>
            <a:prstGeom prst="rect">
              <a:avLst/>
            </a:prstGeom>
          </p:spPr>
          <p:txBody>
            <a:bodyPr lIns="0" tIns="0" rIns="0" bIns="0" rtlCol="0" anchor="t">
              <a:spAutoFit/>
            </a:bodyPr>
            <a:lstStyle/>
            <a:p>
              <a:pPr marL="0" lvl="0" indent="0" algn="l">
                <a:lnSpc>
                  <a:spcPts val="9349"/>
                </a:lnSpc>
                <a:spcBef>
                  <a:spcPct val="0"/>
                </a:spcBef>
              </a:pPr>
              <a:r>
                <a:rPr lang="en-US" sz="8499" dirty="0">
                  <a:solidFill>
                    <a:srgbClr val="FFFFFF"/>
                  </a:solidFill>
                  <a:latin typeface="Hammersmith One"/>
                  <a:ea typeface="Hammersmith One"/>
                  <a:cs typeface="Hammersmith One"/>
                  <a:sym typeface="Hammersmith One"/>
                </a:rPr>
                <a:t>Planification du </a:t>
              </a:r>
              <a:r>
                <a:rPr lang="en-US" sz="8499" dirty="0" err="1">
                  <a:solidFill>
                    <a:srgbClr val="FFFFFF"/>
                  </a:solidFill>
                  <a:latin typeface="Hammersmith One"/>
                  <a:ea typeface="Hammersmith One"/>
                  <a:cs typeface="Hammersmith One"/>
                  <a:sym typeface="Hammersmith One"/>
                </a:rPr>
                <a:t>projet</a:t>
              </a:r>
              <a:endParaRPr lang="en-US" sz="8499" dirty="0">
                <a:solidFill>
                  <a:srgbClr val="FFFFFF"/>
                </a:solidFill>
                <a:latin typeface="Hammersmith One"/>
                <a:ea typeface="Hammersmith One"/>
                <a:cs typeface="Hammersmith One"/>
                <a:sym typeface="Hammersmith One"/>
              </a:endParaRPr>
            </a:p>
          </p:txBody>
        </p:sp>
        <p:sp>
          <p:nvSpPr>
            <p:cNvPr id="4" name="Freeform 4"/>
            <p:cNvSpPr/>
            <p:nvPr/>
          </p:nvSpPr>
          <p:spPr>
            <a:xfrm>
              <a:off x="0" y="4098662"/>
              <a:ext cx="5184770" cy="383173"/>
            </a:xfrm>
            <a:custGeom>
              <a:avLst/>
              <a:gdLst/>
              <a:ahLst/>
              <a:cxnLst/>
              <a:rect l="l" t="t" r="r" b="b"/>
              <a:pathLst>
                <a:path w="5184770" h="383173">
                  <a:moveTo>
                    <a:pt x="0" y="0"/>
                  </a:moveTo>
                  <a:lnTo>
                    <a:pt x="5184770" y="0"/>
                  </a:lnTo>
                  <a:lnTo>
                    <a:pt x="5184770" y="383172"/>
                  </a:lnTo>
                  <a:lnTo>
                    <a:pt x="0" y="383172"/>
                  </a:lnTo>
                  <a:lnTo>
                    <a:pt x="0" y="0"/>
                  </a:lnTo>
                  <a:close/>
                </a:path>
              </a:pathLst>
            </a:custGeom>
            <a:blipFill>
              <a:blip>
                <a:extLst>
                  <a:ext uri="{96DAC541-7B7A-43D3-8B79-37D633B846F1}">
                    <asvg:svgBlip xmlns:asvg="http://schemas.microsoft.com/office/drawing/2016/SVG/main" r:embed="rId2"/>
                  </a:ext>
                </a:extLst>
              </a:blip>
              <a:stretch>
                <a:fillRect l="-171" t="-308623" r="-7088" b="-1042730"/>
              </a:stretch>
            </a:blipFill>
          </p:spPr>
          <p:txBody>
            <a:bodyPr/>
            <a:lstStyle/>
            <a:p>
              <a:endParaRPr lang="en-US"/>
            </a:p>
          </p:txBody>
        </p:sp>
      </p:grpSp>
      <p:sp>
        <p:nvSpPr>
          <p:cNvPr id="6" name="AutoShape 2" descr="Modern workspace with project timeline">
            <a:extLst>
              <a:ext uri="{FF2B5EF4-FFF2-40B4-BE49-F238E27FC236}">
                <a16:creationId xmlns:a16="http://schemas.microsoft.com/office/drawing/2014/main" id="{21D6D95B-0961-2430-5D7C-9C4C05957DD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8" name="Image 7">
            <a:extLst>
              <a:ext uri="{FF2B5EF4-FFF2-40B4-BE49-F238E27FC236}">
                <a16:creationId xmlns:a16="http://schemas.microsoft.com/office/drawing/2014/main" id="{AE0A8816-C975-5F4B-8A48-A50A772AA277}"/>
              </a:ext>
            </a:extLst>
          </p:cNvPr>
          <p:cNvPicPr>
            <a:picLocks noChangeAspect="1"/>
          </p:cNvPicPr>
          <p:nvPr/>
        </p:nvPicPr>
        <p:blipFill>
          <a:blip r:embed="rId3">
            <a:extLst>
              <a:ext uri="{28A0092B-C50C-407E-A947-70E740481C1C}">
                <a14:useLocalDpi xmlns:a14="http://schemas.microsoft.com/office/drawing/2010/main" val="0"/>
              </a:ext>
            </a:extLst>
          </a:blip>
          <a:srcRect l="31852"/>
          <a:stretch>
            <a:fillRect/>
          </a:stretch>
        </p:blipFill>
        <p:spPr>
          <a:xfrm>
            <a:off x="7772400" y="0"/>
            <a:ext cx="10515600" cy="10287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F8764FD-764A-852E-462B-EDF8AA692FDA}"/>
              </a:ext>
            </a:extLst>
          </p:cNvPr>
          <p:cNvSpPr/>
          <p:nvPr/>
        </p:nvSpPr>
        <p:spPr>
          <a:xfrm>
            <a:off x="0" y="0"/>
            <a:ext cx="18288000" cy="1463040"/>
          </a:xfrm>
          <a:prstGeom prst="rect">
            <a:avLst/>
          </a:prstGeom>
          <a:solidFill>
            <a:srgbClr val="FFC000"/>
          </a:solidFill>
          <a:ln w="12700">
            <a:solidFill>
              <a:schemeClr val="accent6">
                <a:lumMod val="75000"/>
              </a:schemeClr>
            </a:solidFill>
            <a:prstDash val="solid"/>
          </a:ln>
        </p:spPr>
        <p:txBody>
          <a:bodyPr/>
          <a:lstStyle/>
          <a:p>
            <a:endParaRPr lang="en-US" sz="3600"/>
          </a:p>
        </p:txBody>
      </p:sp>
      <p:sp>
        <p:nvSpPr>
          <p:cNvPr id="10" name="AutoShape 10"/>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sp>
        <p:nvSpPr>
          <p:cNvPr id="11" name="TextBox 11"/>
          <p:cNvSpPr txBox="1"/>
          <p:nvPr/>
        </p:nvSpPr>
        <p:spPr>
          <a:xfrm>
            <a:off x="1143000" y="370267"/>
            <a:ext cx="7849635" cy="637097"/>
          </a:xfrm>
          <a:prstGeom prst="rect">
            <a:avLst/>
          </a:prstGeom>
        </p:spPr>
        <p:txBody>
          <a:bodyPr lIns="0" tIns="0" rIns="0" bIns="0" rtlCol="0" anchor="t">
            <a:spAutoFit/>
          </a:bodyPr>
          <a:lstStyle/>
          <a:p>
            <a:pPr>
              <a:lnSpc>
                <a:spcPts val="5400"/>
              </a:lnSpc>
            </a:pPr>
            <a:r>
              <a:rPr lang="en-US" sz="4000" b="1" dirty="0">
                <a:solidFill>
                  <a:srgbClr val="FFFFFF"/>
                </a:solidFill>
                <a:latin typeface="Trebuchet MS" pitchFamily="34" charset="0"/>
                <a:sym typeface="Telegraf Medium"/>
              </a:rPr>
              <a:t>Planification du </a:t>
            </a:r>
            <a:r>
              <a:rPr lang="en-US" sz="4000" b="1" dirty="0" err="1">
                <a:solidFill>
                  <a:srgbClr val="FFFFFF"/>
                </a:solidFill>
                <a:latin typeface="Trebuchet MS" pitchFamily="34" charset="0"/>
                <a:sym typeface="Telegraf Medium"/>
              </a:rPr>
              <a:t>projet</a:t>
            </a:r>
            <a:endParaRPr lang="en-US" sz="4000" b="1" dirty="0">
              <a:solidFill>
                <a:srgbClr val="FFFFFF"/>
              </a:solidFill>
              <a:latin typeface="Trebuchet MS" pitchFamily="34" charset="0"/>
              <a:sym typeface="Telegraf Medium"/>
            </a:endParaRPr>
          </a:p>
        </p:txBody>
      </p:sp>
      <p:sp>
        <p:nvSpPr>
          <p:cNvPr id="17" name="AutoShape 2">
            <a:extLst>
              <a:ext uri="{FF2B5EF4-FFF2-40B4-BE49-F238E27FC236}">
                <a16:creationId xmlns:a16="http://schemas.microsoft.com/office/drawing/2014/main" id="{13DDD6D7-C379-C84D-ED28-781ED5BFF649}"/>
              </a:ext>
            </a:extLst>
          </p:cNvPr>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sp>
        <p:nvSpPr>
          <p:cNvPr id="18" name="Freeform 17">
            <a:extLst>
              <a:ext uri="{FF2B5EF4-FFF2-40B4-BE49-F238E27FC236}">
                <a16:creationId xmlns:a16="http://schemas.microsoft.com/office/drawing/2014/main" id="{A7177AA1-9762-8DC7-9EE1-5AE46EEBC343}"/>
              </a:ext>
            </a:extLst>
          </p:cNvPr>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2"/>
            <a:stretch>
              <a:fillRect/>
            </a:stretch>
          </a:blipFill>
        </p:spPr>
        <p:txBody>
          <a:bodyPr/>
          <a:lstStyle/>
          <a:p>
            <a:endParaRPr lang="en-US"/>
          </a:p>
        </p:txBody>
      </p:sp>
      <p:pic>
        <p:nvPicPr>
          <p:cNvPr id="14" name="Image 13">
            <a:extLst>
              <a:ext uri="{FF2B5EF4-FFF2-40B4-BE49-F238E27FC236}">
                <a16:creationId xmlns:a16="http://schemas.microsoft.com/office/drawing/2014/main" id="{84E88B86-5BB1-6192-4424-CAE05DA72A42}"/>
              </a:ext>
            </a:extLst>
          </p:cNvPr>
          <p:cNvPicPr>
            <a:picLocks noChangeAspect="1"/>
          </p:cNvPicPr>
          <p:nvPr/>
        </p:nvPicPr>
        <p:blipFill>
          <a:blip r:embed="rId3"/>
          <a:stretch>
            <a:fillRect/>
          </a:stretch>
        </p:blipFill>
        <p:spPr>
          <a:xfrm>
            <a:off x="925532" y="2628900"/>
            <a:ext cx="16436935" cy="545782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D0718A6A-639A-28D0-8CB3-A2CD584DFF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2"/>
            <a:ext cx="18288000" cy="10291372"/>
          </a:xfrm>
          <a:prstGeom prst="rect">
            <a:avLst/>
          </a:prstGeom>
        </p:spPr>
      </p:pic>
      <p:sp>
        <p:nvSpPr>
          <p:cNvPr id="6" name="Freeform 6"/>
          <p:cNvSpPr/>
          <p:nvPr/>
        </p:nvSpPr>
        <p:spPr>
          <a:xfrm>
            <a:off x="1412803" y="7499496"/>
            <a:ext cx="7153374" cy="374157"/>
          </a:xfrm>
          <a:custGeom>
            <a:avLst/>
            <a:gdLst/>
            <a:ahLst/>
            <a:cxnLst/>
            <a:rect l="l" t="t" r="r" b="b"/>
            <a:pathLst>
              <a:path w="6750369" h="498876">
                <a:moveTo>
                  <a:pt x="0" y="0"/>
                </a:moveTo>
                <a:lnTo>
                  <a:pt x="6750369" y="0"/>
                </a:lnTo>
                <a:lnTo>
                  <a:pt x="6750369" y="498876"/>
                </a:lnTo>
                <a:lnTo>
                  <a:pt x="0" y="498876"/>
                </a:lnTo>
                <a:lnTo>
                  <a:pt x="0" y="0"/>
                </a:lnTo>
                <a:close/>
              </a:path>
            </a:pathLst>
          </a:custGeom>
          <a:blipFill>
            <a:blip>
              <a:extLst>
                <a:ext uri="{96DAC541-7B7A-43D3-8B79-37D633B846F1}">
                  <asvg:svgBlip xmlns:asvg="http://schemas.microsoft.com/office/drawing/2016/SVG/main" r:embed="rId3"/>
                </a:ext>
              </a:extLst>
            </a:blip>
            <a:stretch>
              <a:fillRect l="-171" t="-308623" r="-7088" b="-1042730"/>
            </a:stretch>
          </a:blipFill>
        </p:spPr>
        <p:txBody>
          <a:bodyPr/>
          <a:lstStyle/>
          <a:p>
            <a:endParaRPr lang="en-US"/>
          </a:p>
        </p:txBody>
      </p:sp>
      <p:sp>
        <p:nvSpPr>
          <p:cNvPr id="8" name="Rectangle 7">
            <a:extLst>
              <a:ext uri="{FF2B5EF4-FFF2-40B4-BE49-F238E27FC236}">
                <a16:creationId xmlns:a16="http://schemas.microsoft.com/office/drawing/2014/main" id="{97BF8446-7FC2-99E2-5946-76B1F8512F3F}"/>
              </a:ext>
            </a:extLst>
          </p:cNvPr>
          <p:cNvSpPr/>
          <p:nvPr/>
        </p:nvSpPr>
        <p:spPr>
          <a:xfrm>
            <a:off x="914400" y="6210300"/>
            <a:ext cx="2362200" cy="374157"/>
          </a:xfrm>
          <a:prstGeom prst="rect">
            <a:avLst/>
          </a:prstGeom>
          <a:solidFill>
            <a:srgbClr val="F9F9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reeform 17">
            <a:extLst>
              <a:ext uri="{FF2B5EF4-FFF2-40B4-BE49-F238E27FC236}">
                <a16:creationId xmlns:a16="http://schemas.microsoft.com/office/drawing/2014/main" id="{9C20F31F-6685-233F-CCAC-30A53899E926}"/>
              </a:ext>
            </a:extLst>
          </p:cNvPr>
          <p:cNvSpPr/>
          <p:nvPr/>
        </p:nvSpPr>
        <p:spPr>
          <a:xfrm>
            <a:off x="219911" y="342900"/>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FFC000"/>
          </a:solidFill>
          <a:ln w="12700">
            <a:solidFill>
              <a:schemeClr val="accent6">
                <a:lumMod val="75000"/>
              </a:schemeClr>
            </a:solidFill>
            <a:prstDash val="solid"/>
          </a:ln>
        </p:spPr>
        <p:txBody>
          <a:bodyPr/>
          <a:lstStyle/>
          <a:p>
            <a:endParaRPr lang="en-US" sz="3600"/>
          </a:p>
        </p:txBody>
      </p:sp>
      <p:sp>
        <p:nvSpPr>
          <p:cNvPr id="3" name="Text 1"/>
          <p:cNvSpPr/>
          <p:nvPr/>
        </p:nvSpPr>
        <p:spPr>
          <a:xfrm>
            <a:off x="731520" y="0"/>
            <a:ext cx="16824960" cy="1463040"/>
          </a:xfrm>
          <a:prstGeom prst="rect">
            <a:avLst/>
          </a:prstGeom>
          <a:noFill/>
          <a:ln/>
        </p:spPr>
        <p:txBody>
          <a:bodyPr wrap="square" lIns="0" tIns="0" rIns="0" bIns="0" rtlCol="0" anchor="ctr"/>
          <a:lstStyle/>
          <a:p>
            <a:r>
              <a:rPr lang="en-US" sz="4000" b="1" dirty="0">
                <a:solidFill>
                  <a:srgbClr val="FFFFFF"/>
                </a:solidFill>
                <a:latin typeface="Trebuchet MS" pitchFamily="34" charset="0"/>
                <a:ea typeface="Trebuchet MS" pitchFamily="34" charset="-122"/>
                <a:cs typeface="Trebuchet MS" pitchFamily="34" charset="-120"/>
              </a:rPr>
              <a:t>BUDGET DU PROJET</a:t>
            </a:r>
            <a:endParaRPr lang="en-US" sz="4000" dirty="0"/>
          </a:p>
        </p:txBody>
      </p:sp>
      <p:sp>
        <p:nvSpPr>
          <p:cNvPr id="4" name="Shape 2"/>
          <p:cNvSpPr/>
          <p:nvPr/>
        </p:nvSpPr>
        <p:spPr>
          <a:xfrm>
            <a:off x="731520" y="1737360"/>
            <a:ext cx="16824960" cy="1828800"/>
          </a:xfrm>
          <a:prstGeom prst="rect">
            <a:avLst/>
          </a:prstGeom>
          <a:solidFill>
            <a:srgbClr val="102A3E"/>
          </a:solidFill>
          <a:ln w="12700">
            <a:solidFill>
              <a:srgbClr val="102A3E"/>
            </a:solidFill>
            <a:prstDash val="solid"/>
          </a:ln>
        </p:spPr>
        <p:txBody>
          <a:bodyPr/>
          <a:lstStyle/>
          <a:p>
            <a:endParaRPr lang="en-US" sz="3600"/>
          </a:p>
        </p:txBody>
      </p:sp>
      <p:sp>
        <p:nvSpPr>
          <p:cNvPr id="5" name="Text 3"/>
          <p:cNvSpPr/>
          <p:nvPr/>
        </p:nvSpPr>
        <p:spPr>
          <a:xfrm>
            <a:off x="1097280" y="1737360"/>
            <a:ext cx="5486400" cy="1828800"/>
          </a:xfrm>
          <a:prstGeom prst="rect">
            <a:avLst/>
          </a:prstGeom>
          <a:noFill/>
          <a:ln/>
        </p:spPr>
        <p:txBody>
          <a:bodyPr wrap="square" lIns="0" tIns="0" rIns="0" bIns="0" rtlCol="0" anchor="ctr"/>
          <a:lstStyle/>
          <a:p>
            <a:r>
              <a:rPr lang="en-US" sz="3600" dirty="0">
                <a:solidFill>
                  <a:srgbClr val="FFFFFF"/>
                </a:solidFill>
                <a:latin typeface="Calibri" pitchFamily="34" charset="0"/>
                <a:ea typeface="Calibri" pitchFamily="34" charset="-122"/>
                <a:cs typeface="Calibri" pitchFamily="34" charset="-120"/>
              </a:rPr>
              <a:t>Budget Total :</a:t>
            </a:r>
            <a:endParaRPr lang="en-US" sz="3600" dirty="0"/>
          </a:p>
        </p:txBody>
      </p:sp>
      <p:sp>
        <p:nvSpPr>
          <p:cNvPr id="6" name="Text 4"/>
          <p:cNvSpPr/>
          <p:nvPr/>
        </p:nvSpPr>
        <p:spPr>
          <a:xfrm>
            <a:off x="6400800" y="1737360"/>
            <a:ext cx="6400800" cy="1828800"/>
          </a:xfrm>
          <a:prstGeom prst="rect">
            <a:avLst/>
          </a:prstGeom>
          <a:noFill/>
          <a:ln/>
        </p:spPr>
        <p:txBody>
          <a:bodyPr wrap="square" lIns="0" tIns="0" rIns="0" bIns="0" rtlCol="0" anchor="ctr"/>
          <a:lstStyle/>
          <a:p>
            <a:r>
              <a:rPr lang="en-US" sz="6400" b="1" dirty="0">
                <a:solidFill>
                  <a:srgbClr val="F5A623"/>
                </a:solidFill>
                <a:latin typeface="Trebuchet MS" pitchFamily="34" charset="0"/>
                <a:ea typeface="Trebuchet MS" pitchFamily="34" charset="-122"/>
                <a:cs typeface="Trebuchet MS" pitchFamily="34" charset="-120"/>
              </a:rPr>
              <a:t>639 160 DT</a:t>
            </a:r>
            <a:endParaRPr lang="en-US" sz="6400" dirty="0"/>
          </a:p>
        </p:txBody>
      </p:sp>
      <p:sp>
        <p:nvSpPr>
          <p:cNvPr id="7" name="Shape 5"/>
          <p:cNvSpPr/>
          <p:nvPr/>
        </p:nvSpPr>
        <p:spPr>
          <a:xfrm>
            <a:off x="12984480" y="1737360"/>
            <a:ext cx="2194560" cy="1828800"/>
          </a:xfrm>
          <a:prstGeom prst="rect">
            <a:avLst/>
          </a:prstGeom>
          <a:solidFill>
            <a:srgbClr val="00A884"/>
          </a:solidFill>
          <a:ln w="12700">
            <a:solidFill>
              <a:srgbClr val="00A884"/>
            </a:solidFill>
            <a:prstDash val="solid"/>
          </a:ln>
        </p:spPr>
        <p:txBody>
          <a:bodyPr/>
          <a:lstStyle/>
          <a:p>
            <a:endParaRPr lang="en-US" sz="3600"/>
          </a:p>
        </p:txBody>
      </p:sp>
      <p:sp>
        <p:nvSpPr>
          <p:cNvPr id="8" name="Text 6"/>
          <p:cNvSpPr/>
          <p:nvPr/>
        </p:nvSpPr>
        <p:spPr>
          <a:xfrm>
            <a:off x="12984480" y="1737360"/>
            <a:ext cx="2194560" cy="1828800"/>
          </a:xfrm>
          <a:prstGeom prst="rect">
            <a:avLst/>
          </a:prstGeom>
          <a:noFill/>
          <a:ln/>
        </p:spPr>
        <p:txBody>
          <a:bodyPr wrap="square" lIns="0" tIns="0" rIns="0" bIns="0" rtlCol="0" anchor="ctr"/>
          <a:lstStyle/>
          <a:p>
            <a:pPr algn="ctr"/>
            <a:r>
              <a:rPr lang="en-US" dirty="0">
                <a:solidFill>
                  <a:srgbClr val="FFFFFF"/>
                </a:solidFill>
                <a:latin typeface="Calibri" pitchFamily="34" charset="0"/>
                <a:ea typeface="Calibri" pitchFamily="34" charset="-122"/>
                <a:cs typeface="Calibri" pitchFamily="34" charset="-120"/>
              </a:rPr>
              <a:t>Année 1</a:t>
            </a:r>
            <a:endParaRPr lang="en-US" dirty="0"/>
          </a:p>
          <a:p>
            <a:pPr algn="ctr"/>
            <a:r>
              <a:rPr lang="en-US" dirty="0">
                <a:solidFill>
                  <a:srgbClr val="FFFFFF"/>
                </a:solidFill>
                <a:latin typeface="Calibri" pitchFamily="34" charset="0"/>
                <a:ea typeface="Calibri" pitchFamily="34" charset="-122"/>
                <a:cs typeface="Calibri" pitchFamily="34" charset="-120"/>
              </a:rPr>
              <a:t>479  580 DT</a:t>
            </a:r>
            <a:endParaRPr lang="en-US" dirty="0"/>
          </a:p>
        </p:txBody>
      </p:sp>
      <p:sp>
        <p:nvSpPr>
          <p:cNvPr id="9" name="Shape 7"/>
          <p:cNvSpPr/>
          <p:nvPr/>
        </p:nvSpPr>
        <p:spPr>
          <a:xfrm>
            <a:off x="15636240" y="1737360"/>
            <a:ext cx="2194560" cy="1828800"/>
          </a:xfrm>
          <a:prstGeom prst="rect">
            <a:avLst/>
          </a:prstGeom>
          <a:solidFill>
            <a:srgbClr val="5DA8E0"/>
          </a:solidFill>
          <a:ln w="12700">
            <a:solidFill>
              <a:srgbClr val="5DA8E0"/>
            </a:solidFill>
            <a:prstDash val="solid"/>
          </a:ln>
        </p:spPr>
        <p:txBody>
          <a:bodyPr/>
          <a:lstStyle/>
          <a:p>
            <a:endParaRPr lang="en-US" sz="3600"/>
          </a:p>
        </p:txBody>
      </p:sp>
      <p:sp>
        <p:nvSpPr>
          <p:cNvPr id="10" name="Text 8"/>
          <p:cNvSpPr/>
          <p:nvPr/>
        </p:nvSpPr>
        <p:spPr>
          <a:xfrm>
            <a:off x="15636240" y="1737360"/>
            <a:ext cx="2194560" cy="1828800"/>
          </a:xfrm>
          <a:prstGeom prst="rect">
            <a:avLst/>
          </a:prstGeom>
          <a:noFill/>
          <a:ln/>
        </p:spPr>
        <p:txBody>
          <a:bodyPr wrap="square" lIns="0" tIns="0" rIns="0" bIns="0" rtlCol="0" anchor="ctr"/>
          <a:lstStyle/>
          <a:p>
            <a:pPr algn="ctr"/>
            <a:r>
              <a:rPr lang="en-US" dirty="0">
                <a:solidFill>
                  <a:srgbClr val="FFFFFF"/>
                </a:solidFill>
                <a:latin typeface="Calibri" pitchFamily="34" charset="0"/>
                <a:ea typeface="Calibri" pitchFamily="34" charset="-122"/>
                <a:cs typeface="Calibri" pitchFamily="34" charset="-120"/>
              </a:rPr>
              <a:t>Année 2</a:t>
            </a:r>
            <a:endParaRPr lang="en-US" dirty="0"/>
          </a:p>
          <a:p>
            <a:pPr algn="ctr"/>
            <a:r>
              <a:rPr lang="en-US" dirty="0">
                <a:solidFill>
                  <a:srgbClr val="FFFFFF"/>
                </a:solidFill>
                <a:latin typeface="Calibri" pitchFamily="34" charset="0"/>
                <a:ea typeface="Calibri" pitchFamily="34" charset="-122"/>
                <a:cs typeface="Calibri" pitchFamily="34" charset="-120"/>
              </a:rPr>
              <a:t>159 580 DT</a:t>
            </a:r>
            <a:endParaRPr lang="en-US" dirty="0"/>
          </a:p>
        </p:txBody>
      </p:sp>
      <p:sp>
        <p:nvSpPr>
          <p:cNvPr id="11" name="Text 9"/>
          <p:cNvSpPr/>
          <p:nvPr/>
        </p:nvSpPr>
        <p:spPr>
          <a:xfrm>
            <a:off x="731520" y="3749040"/>
            <a:ext cx="16824960" cy="640080"/>
          </a:xfrm>
          <a:prstGeom prst="rect">
            <a:avLst/>
          </a:prstGeom>
          <a:noFill/>
          <a:ln/>
        </p:spPr>
        <p:txBody>
          <a:bodyPr wrap="square" lIns="0" tIns="0" rIns="0" bIns="0" rtlCol="0" anchor="ctr"/>
          <a:lstStyle/>
          <a:p>
            <a:r>
              <a:rPr lang="en-US" sz="2600" b="1" dirty="0">
                <a:solidFill>
                  <a:srgbClr val="102A3E"/>
                </a:solidFill>
                <a:latin typeface="Trebuchet MS" pitchFamily="34" charset="0"/>
                <a:ea typeface="Trebuchet MS" pitchFamily="34" charset="-122"/>
                <a:cs typeface="Trebuchet MS" pitchFamily="34" charset="-120"/>
              </a:rPr>
              <a:t>RÉPARTITION PRINCIPALE</a:t>
            </a:r>
            <a:endParaRPr lang="en-US" sz="2600" dirty="0"/>
          </a:p>
        </p:txBody>
      </p:sp>
      <p:sp>
        <p:nvSpPr>
          <p:cNvPr id="12" name="Text 10"/>
          <p:cNvSpPr/>
          <p:nvPr/>
        </p:nvSpPr>
        <p:spPr>
          <a:xfrm>
            <a:off x="731520" y="4572000"/>
            <a:ext cx="4023360" cy="822960"/>
          </a:xfrm>
          <a:prstGeom prst="rect">
            <a:avLst/>
          </a:prstGeom>
          <a:noFill/>
          <a:ln/>
        </p:spPr>
        <p:txBody>
          <a:bodyPr wrap="square" lIns="0" tIns="0" rIns="0" bIns="0" rtlCol="0" anchor="ctr"/>
          <a:lstStyle/>
          <a:p>
            <a:r>
              <a:rPr lang="en-US" sz="2600" dirty="0">
                <a:solidFill>
                  <a:srgbClr val="102A3E"/>
                </a:solidFill>
                <a:latin typeface="Calibri" pitchFamily="34" charset="0"/>
                <a:ea typeface="Calibri" pitchFamily="34" charset="-122"/>
                <a:cs typeface="Calibri" pitchFamily="34" charset="-120"/>
              </a:rPr>
              <a:t>Équipements</a:t>
            </a:r>
            <a:endParaRPr lang="en-US" sz="2600" dirty="0"/>
          </a:p>
        </p:txBody>
      </p:sp>
      <p:sp>
        <p:nvSpPr>
          <p:cNvPr id="13" name="Shape 11"/>
          <p:cNvSpPr/>
          <p:nvPr/>
        </p:nvSpPr>
        <p:spPr>
          <a:xfrm>
            <a:off x="4937760" y="4754880"/>
            <a:ext cx="10058400" cy="512064"/>
          </a:xfrm>
          <a:prstGeom prst="rect">
            <a:avLst/>
          </a:prstGeom>
          <a:solidFill>
            <a:srgbClr val="E8F4F1"/>
          </a:solidFill>
          <a:ln w="12700">
            <a:solidFill>
              <a:srgbClr val="D0E8E2"/>
            </a:solidFill>
            <a:prstDash val="solid"/>
          </a:ln>
        </p:spPr>
        <p:txBody>
          <a:bodyPr/>
          <a:lstStyle/>
          <a:p>
            <a:endParaRPr lang="en-US" sz="3600"/>
          </a:p>
        </p:txBody>
      </p:sp>
      <p:sp>
        <p:nvSpPr>
          <p:cNvPr id="14" name="Shape 12"/>
          <p:cNvSpPr/>
          <p:nvPr/>
        </p:nvSpPr>
        <p:spPr>
          <a:xfrm>
            <a:off x="4937760" y="4754880"/>
            <a:ext cx="7242048" cy="512064"/>
          </a:xfrm>
          <a:prstGeom prst="rect">
            <a:avLst/>
          </a:prstGeom>
          <a:solidFill>
            <a:srgbClr val="F5A623"/>
          </a:solidFill>
          <a:ln w="12700">
            <a:solidFill>
              <a:srgbClr val="F5A623"/>
            </a:solidFill>
            <a:prstDash val="solid"/>
          </a:ln>
        </p:spPr>
        <p:txBody>
          <a:bodyPr/>
          <a:lstStyle/>
          <a:p>
            <a:endParaRPr lang="en-US" sz="3600"/>
          </a:p>
        </p:txBody>
      </p:sp>
      <p:sp>
        <p:nvSpPr>
          <p:cNvPr id="15" name="Text 13"/>
          <p:cNvSpPr/>
          <p:nvPr/>
        </p:nvSpPr>
        <p:spPr>
          <a:xfrm>
            <a:off x="15270480" y="4572000"/>
            <a:ext cx="2377440" cy="822960"/>
          </a:xfrm>
          <a:prstGeom prst="rect">
            <a:avLst/>
          </a:prstGeom>
          <a:noFill/>
          <a:ln/>
        </p:spPr>
        <p:txBody>
          <a:bodyPr wrap="square" lIns="0" tIns="0" rIns="0" bIns="0" rtlCol="0" anchor="ctr"/>
          <a:lstStyle/>
          <a:p>
            <a:pPr algn="r"/>
            <a:r>
              <a:rPr lang="en-US" sz="2600" b="1" dirty="0">
                <a:solidFill>
                  <a:srgbClr val="F5A623"/>
                </a:solidFill>
                <a:latin typeface="Calibri" pitchFamily="34" charset="0"/>
                <a:ea typeface="Calibri" pitchFamily="34" charset="-122"/>
                <a:cs typeface="Calibri" pitchFamily="34" charset="-120"/>
              </a:rPr>
              <a:t>236 000 DT</a:t>
            </a:r>
            <a:endParaRPr lang="en-US" sz="2600" dirty="0"/>
          </a:p>
        </p:txBody>
      </p:sp>
      <p:sp>
        <p:nvSpPr>
          <p:cNvPr id="16" name="Text 14"/>
          <p:cNvSpPr/>
          <p:nvPr/>
        </p:nvSpPr>
        <p:spPr>
          <a:xfrm>
            <a:off x="694045" y="7132320"/>
            <a:ext cx="4023360" cy="822960"/>
          </a:xfrm>
          <a:prstGeom prst="rect">
            <a:avLst/>
          </a:prstGeom>
          <a:noFill/>
          <a:ln/>
        </p:spPr>
        <p:txBody>
          <a:bodyPr wrap="square" lIns="0" tIns="0" rIns="0" bIns="0" rtlCol="0" anchor="ctr"/>
          <a:lstStyle/>
          <a:p>
            <a:r>
              <a:rPr lang="en-US" sz="2600" dirty="0">
                <a:solidFill>
                  <a:srgbClr val="102A3E"/>
                </a:solidFill>
                <a:latin typeface="Calibri" pitchFamily="34" charset="0"/>
                <a:ea typeface="Calibri" pitchFamily="34" charset="-122"/>
                <a:cs typeface="Calibri" pitchFamily="34" charset="-120"/>
              </a:rPr>
              <a:t>Personnel</a:t>
            </a:r>
            <a:endParaRPr lang="en-US" sz="2600" dirty="0"/>
          </a:p>
        </p:txBody>
      </p:sp>
      <p:sp>
        <p:nvSpPr>
          <p:cNvPr id="17" name="Shape 15"/>
          <p:cNvSpPr/>
          <p:nvPr/>
        </p:nvSpPr>
        <p:spPr>
          <a:xfrm>
            <a:off x="4992724" y="7351776"/>
            <a:ext cx="10058400" cy="512064"/>
          </a:xfrm>
          <a:prstGeom prst="rect">
            <a:avLst/>
          </a:prstGeom>
          <a:solidFill>
            <a:srgbClr val="E8F4F1"/>
          </a:solidFill>
          <a:ln w="12700">
            <a:solidFill>
              <a:srgbClr val="D0E8E2"/>
            </a:solidFill>
            <a:prstDash val="solid"/>
          </a:ln>
        </p:spPr>
        <p:txBody>
          <a:bodyPr/>
          <a:lstStyle/>
          <a:p>
            <a:endParaRPr lang="en-US" sz="3600"/>
          </a:p>
        </p:txBody>
      </p:sp>
      <p:sp>
        <p:nvSpPr>
          <p:cNvPr id="18" name="Shape 16"/>
          <p:cNvSpPr/>
          <p:nvPr/>
        </p:nvSpPr>
        <p:spPr>
          <a:xfrm>
            <a:off x="4992724" y="7351776"/>
            <a:ext cx="4224528" cy="512064"/>
          </a:xfrm>
          <a:prstGeom prst="rect">
            <a:avLst/>
          </a:prstGeom>
          <a:solidFill>
            <a:srgbClr val="00A884"/>
          </a:solidFill>
          <a:ln w="12700">
            <a:solidFill>
              <a:srgbClr val="00A884"/>
            </a:solidFill>
            <a:prstDash val="solid"/>
          </a:ln>
        </p:spPr>
        <p:txBody>
          <a:bodyPr/>
          <a:lstStyle/>
          <a:p>
            <a:endParaRPr lang="en-US" sz="3600"/>
          </a:p>
        </p:txBody>
      </p:sp>
      <p:sp>
        <p:nvSpPr>
          <p:cNvPr id="19" name="Text 17"/>
          <p:cNvSpPr/>
          <p:nvPr/>
        </p:nvSpPr>
        <p:spPr>
          <a:xfrm>
            <a:off x="15270480" y="7142201"/>
            <a:ext cx="2377440" cy="822960"/>
          </a:xfrm>
          <a:prstGeom prst="rect">
            <a:avLst/>
          </a:prstGeom>
          <a:noFill/>
          <a:ln/>
        </p:spPr>
        <p:txBody>
          <a:bodyPr wrap="square" lIns="0" tIns="0" rIns="0" bIns="0" rtlCol="0" anchor="ctr"/>
          <a:lstStyle/>
          <a:p>
            <a:pPr algn="r"/>
            <a:r>
              <a:rPr lang="en-US" sz="2600" b="1" dirty="0">
                <a:solidFill>
                  <a:srgbClr val="00A884"/>
                </a:solidFill>
                <a:latin typeface="Calibri" pitchFamily="34" charset="0"/>
                <a:ea typeface="Calibri" pitchFamily="34" charset="-122"/>
                <a:cs typeface="Calibri" pitchFamily="34" charset="-120"/>
              </a:rPr>
              <a:t>147 360 DT</a:t>
            </a:r>
            <a:endParaRPr lang="en-US" sz="2600" dirty="0"/>
          </a:p>
        </p:txBody>
      </p:sp>
      <p:sp>
        <p:nvSpPr>
          <p:cNvPr id="20" name="Text 18"/>
          <p:cNvSpPr/>
          <p:nvPr/>
        </p:nvSpPr>
        <p:spPr>
          <a:xfrm>
            <a:off x="717779" y="5807177"/>
            <a:ext cx="4023360" cy="822960"/>
          </a:xfrm>
          <a:prstGeom prst="rect">
            <a:avLst/>
          </a:prstGeom>
          <a:noFill/>
          <a:ln/>
        </p:spPr>
        <p:txBody>
          <a:bodyPr wrap="square" lIns="0" tIns="0" rIns="0" bIns="0" rtlCol="0" anchor="ctr"/>
          <a:lstStyle/>
          <a:p>
            <a:r>
              <a:rPr lang="en-US" sz="2600" dirty="0">
                <a:solidFill>
                  <a:srgbClr val="102A3E"/>
                </a:solidFill>
                <a:latin typeface="Calibri" pitchFamily="34" charset="0"/>
                <a:ea typeface="Calibri" pitchFamily="34" charset="-122"/>
                <a:cs typeface="Calibri" pitchFamily="34" charset="-120"/>
              </a:rPr>
              <a:t>Services</a:t>
            </a:r>
            <a:endParaRPr lang="en-US" sz="2600" dirty="0"/>
          </a:p>
        </p:txBody>
      </p:sp>
      <p:sp>
        <p:nvSpPr>
          <p:cNvPr id="21" name="Shape 19"/>
          <p:cNvSpPr/>
          <p:nvPr/>
        </p:nvSpPr>
        <p:spPr>
          <a:xfrm>
            <a:off x="4924019" y="5990057"/>
            <a:ext cx="10058400" cy="512064"/>
          </a:xfrm>
          <a:prstGeom prst="rect">
            <a:avLst/>
          </a:prstGeom>
          <a:solidFill>
            <a:srgbClr val="E8F4F1"/>
          </a:solidFill>
          <a:ln w="12700">
            <a:solidFill>
              <a:srgbClr val="D0E8E2"/>
            </a:solidFill>
            <a:prstDash val="solid"/>
          </a:ln>
        </p:spPr>
        <p:txBody>
          <a:bodyPr/>
          <a:lstStyle/>
          <a:p>
            <a:endParaRPr lang="en-US" sz="3600"/>
          </a:p>
        </p:txBody>
      </p:sp>
      <p:sp>
        <p:nvSpPr>
          <p:cNvPr id="22" name="Shape 20"/>
          <p:cNvSpPr/>
          <p:nvPr/>
        </p:nvSpPr>
        <p:spPr>
          <a:xfrm>
            <a:off x="4924019" y="5990057"/>
            <a:ext cx="5501640" cy="512064"/>
          </a:xfrm>
          <a:prstGeom prst="rect">
            <a:avLst/>
          </a:prstGeom>
          <a:solidFill>
            <a:srgbClr val="5DA8E0"/>
          </a:solidFill>
          <a:ln w="12700">
            <a:solidFill>
              <a:srgbClr val="5DA8E0"/>
            </a:solidFill>
            <a:prstDash val="solid"/>
          </a:ln>
        </p:spPr>
        <p:txBody>
          <a:bodyPr/>
          <a:lstStyle/>
          <a:p>
            <a:endParaRPr lang="en-US" sz="3600"/>
          </a:p>
        </p:txBody>
      </p:sp>
      <p:sp>
        <p:nvSpPr>
          <p:cNvPr id="23" name="Text 21"/>
          <p:cNvSpPr/>
          <p:nvPr/>
        </p:nvSpPr>
        <p:spPr>
          <a:xfrm>
            <a:off x="15256739" y="5807177"/>
            <a:ext cx="2377440" cy="822960"/>
          </a:xfrm>
          <a:prstGeom prst="rect">
            <a:avLst/>
          </a:prstGeom>
          <a:noFill/>
          <a:ln/>
        </p:spPr>
        <p:txBody>
          <a:bodyPr wrap="square" lIns="0" tIns="0" rIns="0" bIns="0" rtlCol="0" anchor="ctr"/>
          <a:lstStyle/>
          <a:p>
            <a:pPr algn="r"/>
            <a:r>
              <a:rPr lang="en-US" sz="2600" b="1" dirty="0">
                <a:solidFill>
                  <a:srgbClr val="5DA8E0"/>
                </a:solidFill>
                <a:latin typeface="Calibri" pitchFamily="34" charset="0"/>
                <a:ea typeface="Calibri" pitchFamily="34" charset="-122"/>
                <a:cs typeface="Calibri" pitchFamily="34" charset="-120"/>
              </a:rPr>
              <a:t>167 500 DT</a:t>
            </a:r>
            <a:endParaRPr lang="en-US" sz="2600" dirty="0"/>
          </a:p>
        </p:txBody>
      </p:sp>
      <p:sp>
        <p:nvSpPr>
          <p:cNvPr id="24" name="Shape 22"/>
          <p:cNvSpPr/>
          <p:nvPr/>
        </p:nvSpPr>
        <p:spPr>
          <a:xfrm>
            <a:off x="697793" y="8165592"/>
            <a:ext cx="16824960" cy="768096"/>
          </a:xfrm>
          <a:prstGeom prst="rect">
            <a:avLst/>
          </a:prstGeom>
          <a:solidFill>
            <a:srgbClr val="FFF5E0"/>
          </a:solidFill>
          <a:ln w="12700">
            <a:solidFill>
              <a:srgbClr val="F5A623"/>
            </a:solidFill>
            <a:prstDash val="solid"/>
          </a:ln>
        </p:spPr>
        <p:txBody>
          <a:bodyPr/>
          <a:lstStyle/>
          <a:p>
            <a:endParaRPr lang="en-US" sz="3600"/>
          </a:p>
        </p:txBody>
      </p:sp>
      <p:sp>
        <p:nvSpPr>
          <p:cNvPr id="25" name="Text 23"/>
          <p:cNvSpPr/>
          <p:nvPr/>
        </p:nvSpPr>
        <p:spPr>
          <a:xfrm>
            <a:off x="1063553" y="8165592"/>
            <a:ext cx="16459200" cy="768096"/>
          </a:xfrm>
          <a:prstGeom prst="rect">
            <a:avLst/>
          </a:prstGeom>
          <a:noFill/>
          <a:ln/>
        </p:spPr>
        <p:txBody>
          <a:bodyPr wrap="square" lIns="0" tIns="0" rIns="0" bIns="0" rtlCol="0" anchor="ctr"/>
          <a:lstStyle/>
          <a:p>
            <a:r>
              <a:rPr lang="en-US" sz="2400" dirty="0">
                <a:solidFill>
                  <a:srgbClr val="102A3E"/>
                </a:solidFill>
                <a:latin typeface="Calibri" pitchFamily="34" charset="0"/>
                <a:ea typeface="Calibri" pitchFamily="34" charset="-122"/>
                <a:cs typeface="Calibri" pitchFamily="34" charset="-120"/>
              </a:rPr>
              <a:t>💡  Contribution SQLI Services : 70 000 DT  </a:t>
            </a:r>
            <a:endParaRPr lang="en-US" sz="2400" dirty="0"/>
          </a:p>
        </p:txBody>
      </p:sp>
      <p:sp>
        <p:nvSpPr>
          <p:cNvPr id="28" name="AutoShape 2">
            <a:extLst>
              <a:ext uri="{FF2B5EF4-FFF2-40B4-BE49-F238E27FC236}">
                <a16:creationId xmlns:a16="http://schemas.microsoft.com/office/drawing/2014/main" id="{50ED15BC-210F-BFF2-EB04-1ACFB30106FF}"/>
              </a:ext>
            </a:extLst>
          </p:cNvPr>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sp>
        <p:nvSpPr>
          <p:cNvPr id="29" name="Freeform 17">
            <a:extLst>
              <a:ext uri="{FF2B5EF4-FFF2-40B4-BE49-F238E27FC236}">
                <a16:creationId xmlns:a16="http://schemas.microsoft.com/office/drawing/2014/main" id="{61A35E9B-C6DE-8495-F0A6-C78E572819D5}"/>
              </a:ext>
            </a:extLst>
          </p:cNvPr>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B923"/>
        </a:solidFill>
        <a:effectLst/>
      </p:bgPr>
    </p:bg>
    <p:spTree>
      <p:nvGrpSpPr>
        <p:cNvPr id="1" name=""/>
        <p:cNvGrpSpPr/>
        <p:nvPr/>
      </p:nvGrpSpPr>
      <p:grpSpPr>
        <a:xfrm>
          <a:off x="0" y="0"/>
          <a:ext cx="0" cy="0"/>
          <a:chOff x="0" y="0"/>
          <a:chExt cx="0" cy="0"/>
        </a:xfrm>
      </p:grpSpPr>
      <p:grpSp>
        <p:nvGrpSpPr>
          <p:cNvPr id="3" name="Group 3"/>
          <p:cNvGrpSpPr/>
          <p:nvPr/>
        </p:nvGrpSpPr>
        <p:grpSpPr>
          <a:xfrm>
            <a:off x="1019812" y="2995056"/>
            <a:ext cx="6404233" cy="1826853"/>
            <a:chOff x="0" y="1282291"/>
            <a:chExt cx="8538977" cy="2435804"/>
          </a:xfrm>
        </p:grpSpPr>
        <p:sp>
          <p:nvSpPr>
            <p:cNvPr id="5" name="TextBox 5"/>
            <p:cNvSpPr txBox="1"/>
            <p:nvPr/>
          </p:nvSpPr>
          <p:spPr>
            <a:xfrm>
              <a:off x="0" y="2259148"/>
              <a:ext cx="8538977" cy="1458947"/>
            </a:xfrm>
            <a:prstGeom prst="rect">
              <a:avLst/>
            </a:prstGeom>
          </p:spPr>
          <p:txBody>
            <a:bodyPr lIns="0" tIns="0" rIns="0" bIns="0" rtlCol="0" anchor="t">
              <a:spAutoFit/>
            </a:bodyPr>
            <a:lstStyle/>
            <a:p>
              <a:pPr algn="l">
                <a:lnSpc>
                  <a:spcPts val="9099"/>
                </a:lnSpc>
              </a:pPr>
              <a:r>
                <a:rPr lang="en-US" sz="6999" spc="-139" dirty="0" err="1">
                  <a:solidFill>
                    <a:srgbClr val="FFFFFF"/>
                  </a:solidFill>
                  <a:latin typeface="Clear Sans"/>
                  <a:ea typeface="Clear Sans"/>
                  <a:cs typeface="Clear Sans"/>
                  <a:sym typeface="Clear Sans"/>
                </a:rPr>
                <a:t>Méthodologie</a:t>
              </a:r>
              <a:endParaRPr lang="en-US" sz="6999" spc="-139" dirty="0">
                <a:solidFill>
                  <a:srgbClr val="FFFFFF"/>
                </a:solidFill>
                <a:latin typeface="Clear Sans"/>
                <a:ea typeface="Clear Sans"/>
                <a:cs typeface="Clear Sans"/>
                <a:sym typeface="Clear Sans"/>
              </a:endParaRPr>
            </a:p>
          </p:txBody>
        </p:sp>
        <p:sp>
          <p:nvSpPr>
            <p:cNvPr id="6" name="Freeform 6"/>
            <p:cNvSpPr/>
            <p:nvPr/>
          </p:nvSpPr>
          <p:spPr>
            <a:xfrm>
              <a:off x="0" y="1282291"/>
              <a:ext cx="4889018" cy="361316"/>
            </a:xfrm>
            <a:custGeom>
              <a:avLst/>
              <a:gdLst/>
              <a:ahLst/>
              <a:cxnLst/>
              <a:rect l="l" t="t" r="r" b="b"/>
              <a:pathLst>
                <a:path w="4889018" h="361316">
                  <a:moveTo>
                    <a:pt x="0" y="0"/>
                  </a:moveTo>
                  <a:lnTo>
                    <a:pt x="4889018" y="0"/>
                  </a:lnTo>
                  <a:lnTo>
                    <a:pt x="4889018" y="361316"/>
                  </a:lnTo>
                  <a:lnTo>
                    <a:pt x="0" y="361316"/>
                  </a:lnTo>
                  <a:lnTo>
                    <a:pt x="0" y="0"/>
                  </a:lnTo>
                  <a:close/>
                </a:path>
              </a:pathLst>
            </a:custGeom>
            <a:blipFill>
              <a:blip>
                <a:extLst>
                  <a:ext uri="{96DAC541-7B7A-43D3-8B79-37D633B846F1}">
                    <asvg:svgBlip xmlns:asvg="http://schemas.microsoft.com/office/drawing/2016/SVG/main" r:embed="rId2"/>
                  </a:ext>
                </a:extLst>
              </a:blip>
              <a:stretch>
                <a:fillRect l="-171" t="-308623" r="-7088" b="-1042730"/>
              </a:stretch>
            </a:blipFill>
          </p:spPr>
          <p:txBody>
            <a:bodyPr/>
            <a:lstStyle/>
            <a:p>
              <a:endParaRPr lang="en-US"/>
            </a:p>
          </p:txBody>
        </p:sp>
      </p:grpSp>
      <p:pic>
        <p:nvPicPr>
          <p:cNvPr id="10" name="Image 9">
            <a:extLst>
              <a:ext uri="{FF2B5EF4-FFF2-40B4-BE49-F238E27FC236}">
                <a16:creationId xmlns:a16="http://schemas.microsoft.com/office/drawing/2014/main" id="{FEB7C8E4-3C4B-E130-D0E0-6D0A8CAA86B6}"/>
              </a:ext>
            </a:extLst>
          </p:cNvPr>
          <p:cNvPicPr>
            <a:picLocks noChangeAspect="1"/>
          </p:cNvPicPr>
          <p:nvPr/>
        </p:nvPicPr>
        <p:blipFill>
          <a:blip r:embed="rId3">
            <a:extLst>
              <a:ext uri="{28A0092B-C50C-407E-A947-70E740481C1C}">
                <a14:useLocalDpi xmlns:a14="http://schemas.microsoft.com/office/drawing/2010/main" val="0"/>
              </a:ext>
            </a:extLst>
          </a:blip>
          <a:srcRect l="30096"/>
          <a:stretch>
            <a:fillRect/>
          </a:stretch>
        </p:blipFill>
        <p:spPr>
          <a:xfrm>
            <a:off x="7424045" y="-54892"/>
            <a:ext cx="10871838" cy="103684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463040"/>
          </a:xfrm>
          <a:prstGeom prst="rect">
            <a:avLst/>
          </a:prstGeom>
          <a:solidFill>
            <a:srgbClr val="FFC000"/>
          </a:solidFill>
          <a:ln w="12700">
            <a:solidFill>
              <a:srgbClr val="0D2232"/>
            </a:solidFill>
            <a:prstDash val="solid"/>
          </a:ln>
        </p:spPr>
        <p:txBody>
          <a:bodyPr/>
          <a:lstStyle/>
          <a:p>
            <a:endParaRPr lang="en-US" sz="3600"/>
          </a:p>
        </p:txBody>
      </p:sp>
      <p:sp>
        <p:nvSpPr>
          <p:cNvPr id="3" name="Text 1"/>
          <p:cNvSpPr/>
          <p:nvPr/>
        </p:nvSpPr>
        <p:spPr>
          <a:xfrm>
            <a:off x="731520" y="0"/>
            <a:ext cx="16824960" cy="1463040"/>
          </a:xfrm>
          <a:prstGeom prst="rect">
            <a:avLst/>
          </a:prstGeom>
          <a:noFill/>
          <a:ln/>
        </p:spPr>
        <p:txBody>
          <a:bodyPr wrap="square" lIns="0" tIns="0" rIns="0" bIns="0" rtlCol="0" anchor="ctr"/>
          <a:lstStyle/>
          <a:p>
            <a:r>
              <a:rPr lang="en-US" sz="4000" b="1" dirty="0">
                <a:solidFill>
                  <a:srgbClr val="FFFFFF"/>
                </a:solidFill>
                <a:latin typeface="Trebuchet MS" pitchFamily="34" charset="0"/>
                <a:ea typeface="Trebuchet MS" pitchFamily="34" charset="-122"/>
                <a:cs typeface="Trebuchet MS" pitchFamily="34" charset="-120"/>
              </a:rPr>
              <a:t>MÉTHODOLOGIE — 7 PHASES</a:t>
            </a:r>
            <a:endParaRPr lang="en-US" sz="4000" dirty="0"/>
          </a:p>
        </p:txBody>
      </p:sp>
      <p:sp>
        <p:nvSpPr>
          <p:cNvPr id="4" name="Shape 2"/>
          <p:cNvSpPr/>
          <p:nvPr/>
        </p:nvSpPr>
        <p:spPr>
          <a:xfrm>
            <a:off x="548640" y="1737360"/>
            <a:ext cx="3840480" cy="3474720"/>
          </a:xfrm>
          <a:prstGeom prst="rect">
            <a:avLst/>
          </a:prstGeom>
          <a:solidFill>
            <a:srgbClr val="16384F"/>
          </a:solidFill>
          <a:ln w="25400">
            <a:solidFill>
              <a:srgbClr val="F5A623"/>
            </a:solidFill>
            <a:prstDash val="solid"/>
          </a:ln>
        </p:spPr>
        <p:txBody>
          <a:bodyPr/>
          <a:lstStyle/>
          <a:p>
            <a:endParaRPr lang="en-US" sz="3600"/>
          </a:p>
        </p:txBody>
      </p:sp>
      <p:sp>
        <p:nvSpPr>
          <p:cNvPr id="5" name="Shape 3"/>
          <p:cNvSpPr/>
          <p:nvPr/>
        </p:nvSpPr>
        <p:spPr>
          <a:xfrm>
            <a:off x="548640" y="1737360"/>
            <a:ext cx="3840480" cy="182880"/>
          </a:xfrm>
          <a:prstGeom prst="rect">
            <a:avLst/>
          </a:prstGeom>
          <a:solidFill>
            <a:srgbClr val="F5A623"/>
          </a:solidFill>
          <a:ln w="12700">
            <a:solidFill>
              <a:srgbClr val="F5A623"/>
            </a:solidFill>
            <a:prstDash val="solid"/>
          </a:ln>
        </p:spPr>
        <p:txBody>
          <a:bodyPr/>
          <a:lstStyle/>
          <a:p>
            <a:endParaRPr lang="en-US" sz="3600"/>
          </a:p>
        </p:txBody>
      </p:sp>
      <p:sp>
        <p:nvSpPr>
          <p:cNvPr id="6" name="Shape 4"/>
          <p:cNvSpPr/>
          <p:nvPr/>
        </p:nvSpPr>
        <p:spPr>
          <a:xfrm>
            <a:off x="2048256" y="2048256"/>
            <a:ext cx="822960" cy="822960"/>
          </a:xfrm>
          <a:prstGeom prst="ellipse">
            <a:avLst/>
          </a:prstGeom>
          <a:solidFill>
            <a:srgbClr val="F5A623"/>
          </a:solidFill>
          <a:ln w="12700">
            <a:solidFill>
              <a:srgbClr val="F5A623"/>
            </a:solidFill>
            <a:prstDash val="solid"/>
          </a:ln>
        </p:spPr>
        <p:txBody>
          <a:bodyPr/>
          <a:lstStyle/>
          <a:p>
            <a:endParaRPr lang="en-US" sz="3600"/>
          </a:p>
        </p:txBody>
      </p:sp>
      <p:sp>
        <p:nvSpPr>
          <p:cNvPr id="7" name="Text 5"/>
          <p:cNvSpPr/>
          <p:nvPr/>
        </p:nvSpPr>
        <p:spPr>
          <a:xfrm>
            <a:off x="2048256" y="2048256"/>
            <a:ext cx="822960" cy="8229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1</a:t>
            </a:r>
            <a:endParaRPr lang="en-US" sz="3000" dirty="0"/>
          </a:p>
        </p:txBody>
      </p:sp>
      <p:sp>
        <p:nvSpPr>
          <p:cNvPr id="8" name="Text 6"/>
          <p:cNvSpPr/>
          <p:nvPr/>
        </p:nvSpPr>
        <p:spPr>
          <a:xfrm>
            <a:off x="548640" y="2962656"/>
            <a:ext cx="3840480" cy="822960"/>
          </a:xfrm>
          <a:prstGeom prst="rect">
            <a:avLst/>
          </a:prstGeom>
          <a:noFill/>
          <a:ln/>
        </p:spPr>
        <p:txBody>
          <a:bodyPr wrap="square" lIns="0" tIns="0" rIns="0" bIns="0" rtlCol="0" anchor="ctr"/>
          <a:lstStyle/>
          <a:p>
            <a:pPr algn="ctr"/>
            <a:r>
              <a:rPr lang="en-US" sz="2400" b="1" dirty="0">
                <a:solidFill>
                  <a:srgbClr val="F5A623"/>
                </a:solidFill>
                <a:latin typeface="Trebuchet MS" pitchFamily="34" charset="0"/>
                <a:ea typeface="Trebuchet MS" pitchFamily="34" charset="-122"/>
                <a:cs typeface="Trebuchet MS" pitchFamily="34" charset="-120"/>
              </a:rPr>
              <a:t>Lancement</a:t>
            </a:r>
            <a:endParaRPr lang="en-US" sz="2400" dirty="0"/>
          </a:p>
        </p:txBody>
      </p:sp>
      <p:sp>
        <p:nvSpPr>
          <p:cNvPr id="9" name="Text 7"/>
          <p:cNvSpPr/>
          <p:nvPr/>
        </p:nvSpPr>
        <p:spPr>
          <a:xfrm>
            <a:off x="548640" y="3840480"/>
            <a:ext cx="3840480" cy="1097280"/>
          </a:xfrm>
          <a:prstGeom prst="rect">
            <a:avLst/>
          </a:prstGeom>
          <a:noFill/>
          <a:ln/>
        </p:spPr>
        <p:txBody>
          <a:bodyPr wrap="square" lIns="0" tIns="0" rIns="0" bIns="0" rtlCol="0" anchor="ctr"/>
          <a:lstStyle/>
          <a:p>
            <a:pPr algn="ctr"/>
            <a:r>
              <a:rPr lang="en-US" sz="2000" dirty="0">
                <a:solidFill>
                  <a:schemeClr val="bg1"/>
                </a:solidFill>
                <a:latin typeface="Calibri" pitchFamily="34" charset="0"/>
                <a:ea typeface="Calibri" pitchFamily="34" charset="-122"/>
                <a:cs typeface="Calibri" pitchFamily="34" charset="-120"/>
              </a:rPr>
              <a:t>Constitution des équipes et specs</a:t>
            </a:r>
            <a:endParaRPr lang="en-US" sz="2000" dirty="0">
              <a:solidFill>
                <a:schemeClr val="bg1"/>
              </a:solidFill>
            </a:endParaRPr>
          </a:p>
        </p:txBody>
      </p:sp>
      <p:sp>
        <p:nvSpPr>
          <p:cNvPr id="10" name="Shape 8"/>
          <p:cNvSpPr/>
          <p:nvPr/>
        </p:nvSpPr>
        <p:spPr>
          <a:xfrm>
            <a:off x="4901184" y="1737360"/>
            <a:ext cx="3840480" cy="3474720"/>
          </a:xfrm>
          <a:prstGeom prst="rect">
            <a:avLst/>
          </a:prstGeom>
          <a:solidFill>
            <a:srgbClr val="16384F"/>
          </a:solidFill>
          <a:ln w="25400">
            <a:solidFill>
              <a:srgbClr val="00A884"/>
            </a:solidFill>
            <a:prstDash val="solid"/>
          </a:ln>
        </p:spPr>
        <p:txBody>
          <a:bodyPr/>
          <a:lstStyle/>
          <a:p>
            <a:endParaRPr lang="en-US" sz="3600"/>
          </a:p>
        </p:txBody>
      </p:sp>
      <p:sp>
        <p:nvSpPr>
          <p:cNvPr id="11" name="Shape 9"/>
          <p:cNvSpPr/>
          <p:nvPr/>
        </p:nvSpPr>
        <p:spPr>
          <a:xfrm>
            <a:off x="4901184" y="1737360"/>
            <a:ext cx="3840480" cy="182880"/>
          </a:xfrm>
          <a:prstGeom prst="rect">
            <a:avLst/>
          </a:prstGeom>
          <a:solidFill>
            <a:srgbClr val="00A884"/>
          </a:solidFill>
          <a:ln w="12700">
            <a:solidFill>
              <a:srgbClr val="00A884"/>
            </a:solidFill>
            <a:prstDash val="solid"/>
          </a:ln>
        </p:spPr>
        <p:txBody>
          <a:bodyPr/>
          <a:lstStyle/>
          <a:p>
            <a:endParaRPr lang="en-US" sz="3600"/>
          </a:p>
        </p:txBody>
      </p:sp>
      <p:sp>
        <p:nvSpPr>
          <p:cNvPr id="12" name="Shape 10"/>
          <p:cNvSpPr/>
          <p:nvPr/>
        </p:nvSpPr>
        <p:spPr>
          <a:xfrm>
            <a:off x="6400800" y="2048256"/>
            <a:ext cx="822960" cy="822960"/>
          </a:xfrm>
          <a:prstGeom prst="ellipse">
            <a:avLst/>
          </a:prstGeom>
          <a:solidFill>
            <a:srgbClr val="00A884"/>
          </a:solidFill>
          <a:ln w="12700">
            <a:solidFill>
              <a:srgbClr val="00A884"/>
            </a:solidFill>
            <a:prstDash val="solid"/>
          </a:ln>
        </p:spPr>
        <p:txBody>
          <a:bodyPr/>
          <a:lstStyle/>
          <a:p>
            <a:endParaRPr lang="en-US" sz="3600"/>
          </a:p>
        </p:txBody>
      </p:sp>
      <p:sp>
        <p:nvSpPr>
          <p:cNvPr id="13" name="Text 11"/>
          <p:cNvSpPr/>
          <p:nvPr/>
        </p:nvSpPr>
        <p:spPr>
          <a:xfrm>
            <a:off x="6400800" y="2048256"/>
            <a:ext cx="822960" cy="8229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2</a:t>
            </a:r>
            <a:endParaRPr lang="en-US" sz="3000" dirty="0"/>
          </a:p>
        </p:txBody>
      </p:sp>
      <p:sp>
        <p:nvSpPr>
          <p:cNvPr id="14" name="Text 12"/>
          <p:cNvSpPr/>
          <p:nvPr/>
        </p:nvSpPr>
        <p:spPr>
          <a:xfrm>
            <a:off x="4901184" y="2962656"/>
            <a:ext cx="3840480" cy="822960"/>
          </a:xfrm>
          <a:prstGeom prst="rect">
            <a:avLst/>
          </a:prstGeom>
          <a:noFill/>
          <a:ln/>
        </p:spPr>
        <p:txBody>
          <a:bodyPr wrap="square" lIns="0" tIns="0" rIns="0" bIns="0" rtlCol="0" anchor="ctr"/>
          <a:lstStyle/>
          <a:p>
            <a:pPr algn="ctr"/>
            <a:r>
              <a:rPr lang="en-US" sz="2400" b="1" dirty="0">
                <a:solidFill>
                  <a:srgbClr val="00A884"/>
                </a:solidFill>
                <a:latin typeface="Trebuchet MS" pitchFamily="34" charset="0"/>
                <a:ea typeface="Trebuchet MS" pitchFamily="34" charset="-122"/>
                <a:cs typeface="Trebuchet MS" pitchFamily="34" charset="-120"/>
              </a:rPr>
              <a:t>Analyse Thermique</a:t>
            </a:r>
            <a:endParaRPr lang="en-US" sz="2400" dirty="0"/>
          </a:p>
        </p:txBody>
      </p:sp>
      <p:sp>
        <p:nvSpPr>
          <p:cNvPr id="15" name="Text 13"/>
          <p:cNvSpPr/>
          <p:nvPr/>
        </p:nvSpPr>
        <p:spPr>
          <a:xfrm>
            <a:off x="4901184" y="3840480"/>
            <a:ext cx="3840480" cy="1097280"/>
          </a:xfrm>
          <a:prstGeom prst="rect">
            <a:avLst/>
          </a:prstGeom>
          <a:noFill/>
          <a:ln/>
        </p:spPr>
        <p:txBody>
          <a:bodyPr wrap="square" lIns="0" tIns="0" rIns="0" bIns="0" rtlCol="0" anchor="ctr"/>
          <a:lstStyle/>
          <a:p>
            <a:pPr algn="ctr"/>
            <a:r>
              <a:rPr lang="en-US" sz="2000" dirty="0">
                <a:solidFill>
                  <a:schemeClr val="bg1"/>
                </a:solidFill>
                <a:latin typeface="Calibri" pitchFamily="34" charset="0"/>
                <a:ea typeface="Calibri" pitchFamily="34" charset="-122"/>
                <a:cs typeface="Calibri" pitchFamily="34" charset="-120"/>
              </a:rPr>
              <a:t>Simulation cycles frigorifiques et COP</a:t>
            </a:r>
            <a:endParaRPr lang="en-US" sz="2000" dirty="0">
              <a:solidFill>
                <a:schemeClr val="bg1"/>
              </a:solidFill>
            </a:endParaRPr>
          </a:p>
        </p:txBody>
      </p:sp>
      <p:sp>
        <p:nvSpPr>
          <p:cNvPr id="16" name="Shape 14"/>
          <p:cNvSpPr/>
          <p:nvPr/>
        </p:nvSpPr>
        <p:spPr>
          <a:xfrm>
            <a:off x="9253728" y="1737360"/>
            <a:ext cx="3840480" cy="3474720"/>
          </a:xfrm>
          <a:prstGeom prst="rect">
            <a:avLst/>
          </a:prstGeom>
          <a:solidFill>
            <a:srgbClr val="16384F"/>
          </a:solidFill>
          <a:ln w="25400">
            <a:solidFill>
              <a:srgbClr val="5DA8E0"/>
            </a:solidFill>
            <a:prstDash val="solid"/>
          </a:ln>
        </p:spPr>
        <p:txBody>
          <a:bodyPr/>
          <a:lstStyle/>
          <a:p>
            <a:endParaRPr lang="en-US" sz="3600"/>
          </a:p>
        </p:txBody>
      </p:sp>
      <p:sp>
        <p:nvSpPr>
          <p:cNvPr id="17" name="Shape 15"/>
          <p:cNvSpPr/>
          <p:nvPr/>
        </p:nvSpPr>
        <p:spPr>
          <a:xfrm>
            <a:off x="9253728" y="1737360"/>
            <a:ext cx="3840480" cy="182880"/>
          </a:xfrm>
          <a:prstGeom prst="rect">
            <a:avLst/>
          </a:prstGeom>
          <a:solidFill>
            <a:srgbClr val="5DA8E0"/>
          </a:solidFill>
          <a:ln w="12700">
            <a:solidFill>
              <a:srgbClr val="5DA8E0"/>
            </a:solidFill>
            <a:prstDash val="solid"/>
          </a:ln>
        </p:spPr>
        <p:txBody>
          <a:bodyPr/>
          <a:lstStyle/>
          <a:p>
            <a:endParaRPr lang="en-US" sz="3600"/>
          </a:p>
        </p:txBody>
      </p:sp>
      <p:sp>
        <p:nvSpPr>
          <p:cNvPr id="18" name="Shape 16"/>
          <p:cNvSpPr/>
          <p:nvPr/>
        </p:nvSpPr>
        <p:spPr>
          <a:xfrm>
            <a:off x="10753344" y="2048256"/>
            <a:ext cx="822960" cy="822960"/>
          </a:xfrm>
          <a:prstGeom prst="ellipse">
            <a:avLst/>
          </a:prstGeom>
          <a:solidFill>
            <a:srgbClr val="5DA8E0"/>
          </a:solidFill>
          <a:ln w="12700">
            <a:solidFill>
              <a:srgbClr val="5DA8E0"/>
            </a:solidFill>
            <a:prstDash val="solid"/>
          </a:ln>
        </p:spPr>
        <p:txBody>
          <a:bodyPr/>
          <a:lstStyle/>
          <a:p>
            <a:endParaRPr lang="en-US" sz="3600"/>
          </a:p>
        </p:txBody>
      </p:sp>
      <p:sp>
        <p:nvSpPr>
          <p:cNvPr id="19" name="Text 17"/>
          <p:cNvSpPr/>
          <p:nvPr/>
        </p:nvSpPr>
        <p:spPr>
          <a:xfrm>
            <a:off x="10753344" y="2048256"/>
            <a:ext cx="822960" cy="8229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3</a:t>
            </a:r>
            <a:endParaRPr lang="en-US" sz="3000" dirty="0"/>
          </a:p>
        </p:txBody>
      </p:sp>
      <p:sp>
        <p:nvSpPr>
          <p:cNvPr id="20" name="Text 18"/>
          <p:cNvSpPr/>
          <p:nvPr/>
        </p:nvSpPr>
        <p:spPr>
          <a:xfrm>
            <a:off x="9253728" y="2962656"/>
            <a:ext cx="3840480" cy="822960"/>
          </a:xfrm>
          <a:prstGeom prst="rect">
            <a:avLst/>
          </a:prstGeom>
          <a:noFill/>
          <a:ln/>
        </p:spPr>
        <p:txBody>
          <a:bodyPr wrap="square" lIns="0" tIns="0" rIns="0" bIns="0" rtlCol="0" anchor="ctr"/>
          <a:lstStyle/>
          <a:p>
            <a:pPr algn="ctr"/>
            <a:r>
              <a:rPr lang="en-US" sz="2400" b="1" dirty="0">
                <a:solidFill>
                  <a:srgbClr val="5DA8E0"/>
                </a:solidFill>
                <a:latin typeface="Trebuchet MS" pitchFamily="34" charset="0"/>
                <a:ea typeface="Trebuchet MS" pitchFamily="34" charset="-122"/>
                <a:cs typeface="Trebuchet MS" pitchFamily="34" charset="-120"/>
              </a:rPr>
              <a:t>Conception PV</a:t>
            </a:r>
            <a:endParaRPr lang="en-US" sz="2400" dirty="0"/>
          </a:p>
        </p:txBody>
      </p:sp>
      <p:sp>
        <p:nvSpPr>
          <p:cNvPr id="21" name="Text 19"/>
          <p:cNvSpPr/>
          <p:nvPr/>
        </p:nvSpPr>
        <p:spPr>
          <a:xfrm>
            <a:off x="9253728" y="3840480"/>
            <a:ext cx="3840480" cy="1097280"/>
          </a:xfrm>
          <a:prstGeom prst="rect">
            <a:avLst/>
          </a:prstGeom>
          <a:noFill/>
          <a:ln/>
        </p:spPr>
        <p:txBody>
          <a:bodyPr wrap="square" lIns="0" tIns="0" rIns="0" bIns="0" rtlCol="0" anchor="ctr"/>
          <a:lstStyle/>
          <a:p>
            <a:pPr algn="ctr"/>
            <a:r>
              <a:rPr lang="en-US" sz="2000" dirty="0">
                <a:solidFill>
                  <a:schemeClr val="bg1"/>
                </a:solidFill>
                <a:latin typeface="Calibri" pitchFamily="34" charset="0"/>
                <a:ea typeface="Calibri" pitchFamily="34" charset="-122"/>
                <a:cs typeface="Calibri" pitchFamily="34" charset="-120"/>
              </a:rPr>
              <a:t>Dimensionnement du système solaire</a:t>
            </a:r>
            <a:endParaRPr lang="en-US" sz="2000" dirty="0">
              <a:solidFill>
                <a:schemeClr val="bg1"/>
              </a:solidFill>
            </a:endParaRPr>
          </a:p>
        </p:txBody>
      </p:sp>
      <p:sp>
        <p:nvSpPr>
          <p:cNvPr id="22" name="Shape 20"/>
          <p:cNvSpPr/>
          <p:nvPr/>
        </p:nvSpPr>
        <p:spPr>
          <a:xfrm>
            <a:off x="13606272" y="1737360"/>
            <a:ext cx="3840480" cy="3474720"/>
          </a:xfrm>
          <a:prstGeom prst="rect">
            <a:avLst/>
          </a:prstGeom>
          <a:solidFill>
            <a:srgbClr val="16384F"/>
          </a:solidFill>
          <a:ln w="25400">
            <a:solidFill>
              <a:srgbClr val="F5A623"/>
            </a:solidFill>
            <a:prstDash val="solid"/>
          </a:ln>
        </p:spPr>
        <p:txBody>
          <a:bodyPr/>
          <a:lstStyle/>
          <a:p>
            <a:endParaRPr lang="en-US" sz="3600"/>
          </a:p>
        </p:txBody>
      </p:sp>
      <p:sp>
        <p:nvSpPr>
          <p:cNvPr id="23" name="Shape 21"/>
          <p:cNvSpPr/>
          <p:nvPr/>
        </p:nvSpPr>
        <p:spPr>
          <a:xfrm>
            <a:off x="13606272" y="1737360"/>
            <a:ext cx="3840480" cy="182880"/>
          </a:xfrm>
          <a:prstGeom prst="rect">
            <a:avLst/>
          </a:prstGeom>
          <a:solidFill>
            <a:srgbClr val="F5A623"/>
          </a:solidFill>
          <a:ln w="12700">
            <a:solidFill>
              <a:srgbClr val="F5A623"/>
            </a:solidFill>
            <a:prstDash val="solid"/>
          </a:ln>
        </p:spPr>
        <p:txBody>
          <a:bodyPr/>
          <a:lstStyle/>
          <a:p>
            <a:endParaRPr lang="en-US" sz="3600"/>
          </a:p>
        </p:txBody>
      </p:sp>
      <p:sp>
        <p:nvSpPr>
          <p:cNvPr id="24" name="Shape 22"/>
          <p:cNvSpPr/>
          <p:nvPr/>
        </p:nvSpPr>
        <p:spPr>
          <a:xfrm>
            <a:off x="15105888" y="2048256"/>
            <a:ext cx="822960" cy="822960"/>
          </a:xfrm>
          <a:prstGeom prst="ellipse">
            <a:avLst/>
          </a:prstGeom>
          <a:solidFill>
            <a:srgbClr val="F5A623"/>
          </a:solidFill>
          <a:ln w="12700">
            <a:solidFill>
              <a:srgbClr val="F5A623"/>
            </a:solidFill>
            <a:prstDash val="solid"/>
          </a:ln>
        </p:spPr>
        <p:txBody>
          <a:bodyPr/>
          <a:lstStyle/>
          <a:p>
            <a:endParaRPr lang="en-US" sz="3600"/>
          </a:p>
        </p:txBody>
      </p:sp>
      <p:sp>
        <p:nvSpPr>
          <p:cNvPr id="25" name="Text 23"/>
          <p:cNvSpPr/>
          <p:nvPr/>
        </p:nvSpPr>
        <p:spPr>
          <a:xfrm>
            <a:off x="15105888" y="2048256"/>
            <a:ext cx="822960" cy="8229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4</a:t>
            </a:r>
            <a:endParaRPr lang="en-US" sz="3000" dirty="0"/>
          </a:p>
        </p:txBody>
      </p:sp>
      <p:sp>
        <p:nvSpPr>
          <p:cNvPr id="26" name="Text 24"/>
          <p:cNvSpPr/>
          <p:nvPr/>
        </p:nvSpPr>
        <p:spPr>
          <a:xfrm>
            <a:off x="13606272" y="2962656"/>
            <a:ext cx="3840480" cy="822960"/>
          </a:xfrm>
          <a:prstGeom prst="rect">
            <a:avLst/>
          </a:prstGeom>
          <a:noFill/>
          <a:ln/>
        </p:spPr>
        <p:txBody>
          <a:bodyPr wrap="square" lIns="0" tIns="0" rIns="0" bIns="0" rtlCol="0" anchor="ctr"/>
          <a:lstStyle/>
          <a:p>
            <a:pPr algn="ctr"/>
            <a:r>
              <a:rPr lang="en-US" sz="2400" b="1" dirty="0">
                <a:solidFill>
                  <a:srgbClr val="F5A623"/>
                </a:solidFill>
                <a:latin typeface="Trebuchet MS" pitchFamily="34" charset="0"/>
                <a:ea typeface="Trebuchet MS" pitchFamily="34" charset="-122"/>
                <a:cs typeface="Trebuchet MS" pitchFamily="34" charset="-120"/>
              </a:rPr>
              <a:t>Installation</a:t>
            </a:r>
            <a:endParaRPr lang="en-US" sz="2400" dirty="0"/>
          </a:p>
        </p:txBody>
      </p:sp>
      <p:sp>
        <p:nvSpPr>
          <p:cNvPr id="27" name="Text 25"/>
          <p:cNvSpPr/>
          <p:nvPr/>
        </p:nvSpPr>
        <p:spPr>
          <a:xfrm>
            <a:off x="13606272" y="3840480"/>
            <a:ext cx="3840480" cy="1097280"/>
          </a:xfrm>
          <a:prstGeom prst="rect">
            <a:avLst/>
          </a:prstGeom>
          <a:noFill/>
          <a:ln/>
        </p:spPr>
        <p:txBody>
          <a:bodyPr wrap="square" lIns="0" tIns="0" rIns="0" bIns="0" rtlCol="0" anchor="ctr"/>
          <a:lstStyle/>
          <a:p>
            <a:pPr algn="ctr"/>
            <a:r>
              <a:rPr lang="en-US" sz="2000" dirty="0">
                <a:solidFill>
                  <a:schemeClr val="bg1"/>
                </a:solidFill>
                <a:latin typeface="Calibri" pitchFamily="34" charset="0"/>
                <a:ea typeface="Calibri" pitchFamily="34" charset="-122"/>
                <a:cs typeface="Calibri" pitchFamily="34" charset="-120"/>
              </a:rPr>
              <a:t>Acquisition et montage</a:t>
            </a:r>
            <a:endParaRPr lang="en-US" sz="2000" dirty="0">
              <a:solidFill>
                <a:schemeClr val="bg1"/>
              </a:solidFill>
            </a:endParaRPr>
          </a:p>
        </p:txBody>
      </p:sp>
      <p:sp>
        <p:nvSpPr>
          <p:cNvPr id="28" name="Shape 26"/>
          <p:cNvSpPr/>
          <p:nvPr/>
        </p:nvSpPr>
        <p:spPr>
          <a:xfrm>
            <a:off x="548640" y="5303520"/>
            <a:ext cx="17190720" cy="91440"/>
          </a:xfrm>
          <a:prstGeom prst="rect">
            <a:avLst/>
          </a:prstGeom>
          <a:solidFill>
            <a:srgbClr val="F5A623">
              <a:alpha val="50000"/>
            </a:srgbClr>
          </a:solidFill>
          <a:ln w="12700">
            <a:solidFill>
              <a:srgbClr val="F5A623">
                <a:alpha val="50000"/>
              </a:srgbClr>
            </a:solidFill>
            <a:prstDash val="solid"/>
          </a:ln>
        </p:spPr>
        <p:txBody>
          <a:bodyPr/>
          <a:lstStyle/>
          <a:p>
            <a:endParaRPr lang="en-US" sz="3600"/>
          </a:p>
        </p:txBody>
      </p:sp>
      <p:sp>
        <p:nvSpPr>
          <p:cNvPr id="29" name="Shape 27"/>
          <p:cNvSpPr/>
          <p:nvPr/>
        </p:nvSpPr>
        <p:spPr>
          <a:xfrm>
            <a:off x="548640" y="5486400"/>
            <a:ext cx="5029200" cy="3474720"/>
          </a:xfrm>
          <a:prstGeom prst="rect">
            <a:avLst/>
          </a:prstGeom>
          <a:solidFill>
            <a:srgbClr val="16384F"/>
          </a:solidFill>
          <a:ln w="25400">
            <a:solidFill>
              <a:srgbClr val="00A884"/>
            </a:solidFill>
            <a:prstDash val="solid"/>
          </a:ln>
        </p:spPr>
        <p:txBody>
          <a:bodyPr/>
          <a:lstStyle/>
          <a:p>
            <a:endParaRPr lang="en-US" sz="3600"/>
          </a:p>
        </p:txBody>
      </p:sp>
      <p:sp>
        <p:nvSpPr>
          <p:cNvPr id="30" name="Shape 28"/>
          <p:cNvSpPr/>
          <p:nvPr/>
        </p:nvSpPr>
        <p:spPr>
          <a:xfrm>
            <a:off x="548640" y="5486400"/>
            <a:ext cx="5029200" cy="182880"/>
          </a:xfrm>
          <a:prstGeom prst="rect">
            <a:avLst/>
          </a:prstGeom>
          <a:solidFill>
            <a:srgbClr val="00A884"/>
          </a:solidFill>
          <a:ln w="12700">
            <a:solidFill>
              <a:srgbClr val="00A884"/>
            </a:solidFill>
            <a:prstDash val="solid"/>
          </a:ln>
        </p:spPr>
        <p:txBody>
          <a:bodyPr/>
          <a:lstStyle/>
          <a:p>
            <a:endParaRPr lang="en-US" sz="3600"/>
          </a:p>
        </p:txBody>
      </p:sp>
      <p:sp>
        <p:nvSpPr>
          <p:cNvPr id="31" name="Shape 29"/>
          <p:cNvSpPr/>
          <p:nvPr/>
        </p:nvSpPr>
        <p:spPr>
          <a:xfrm>
            <a:off x="2651760" y="5797296"/>
            <a:ext cx="822960" cy="822960"/>
          </a:xfrm>
          <a:prstGeom prst="ellipse">
            <a:avLst/>
          </a:prstGeom>
          <a:solidFill>
            <a:srgbClr val="00A884"/>
          </a:solidFill>
          <a:ln w="12700">
            <a:solidFill>
              <a:srgbClr val="00A884"/>
            </a:solidFill>
            <a:prstDash val="solid"/>
          </a:ln>
        </p:spPr>
        <p:txBody>
          <a:bodyPr/>
          <a:lstStyle/>
          <a:p>
            <a:endParaRPr lang="en-US" sz="3600"/>
          </a:p>
        </p:txBody>
      </p:sp>
      <p:sp>
        <p:nvSpPr>
          <p:cNvPr id="32" name="Text 30"/>
          <p:cNvSpPr/>
          <p:nvPr/>
        </p:nvSpPr>
        <p:spPr>
          <a:xfrm>
            <a:off x="2651760" y="5797296"/>
            <a:ext cx="822960" cy="8229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5</a:t>
            </a:r>
            <a:endParaRPr lang="en-US" sz="3000" dirty="0"/>
          </a:p>
        </p:txBody>
      </p:sp>
      <p:sp>
        <p:nvSpPr>
          <p:cNvPr id="33" name="Text 31"/>
          <p:cNvSpPr/>
          <p:nvPr/>
        </p:nvSpPr>
        <p:spPr>
          <a:xfrm>
            <a:off x="548640" y="6729984"/>
            <a:ext cx="5029200" cy="822960"/>
          </a:xfrm>
          <a:prstGeom prst="rect">
            <a:avLst/>
          </a:prstGeom>
          <a:noFill/>
          <a:ln/>
        </p:spPr>
        <p:txBody>
          <a:bodyPr wrap="square" lIns="0" tIns="0" rIns="0" bIns="0" rtlCol="0" anchor="ctr"/>
          <a:lstStyle/>
          <a:p>
            <a:pPr algn="ctr"/>
            <a:r>
              <a:rPr lang="en-US" sz="2400" b="1" dirty="0">
                <a:solidFill>
                  <a:srgbClr val="00A884"/>
                </a:solidFill>
                <a:latin typeface="Trebuchet MS" pitchFamily="34" charset="0"/>
                <a:ea typeface="Trebuchet MS" pitchFamily="34" charset="-122"/>
                <a:cs typeface="Trebuchet MS" pitchFamily="34" charset="-120"/>
              </a:rPr>
              <a:t>Algorithme EMS</a:t>
            </a:r>
            <a:endParaRPr lang="en-US" sz="2400" dirty="0"/>
          </a:p>
        </p:txBody>
      </p:sp>
      <p:sp>
        <p:nvSpPr>
          <p:cNvPr id="34" name="Text 32"/>
          <p:cNvSpPr/>
          <p:nvPr/>
        </p:nvSpPr>
        <p:spPr>
          <a:xfrm>
            <a:off x="548640" y="7589520"/>
            <a:ext cx="5029200" cy="1097280"/>
          </a:xfrm>
          <a:prstGeom prst="rect">
            <a:avLst/>
          </a:prstGeom>
          <a:noFill/>
          <a:ln/>
        </p:spPr>
        <p:txBody>
          <a:bodyPr wrap="square" lIns="0" tIns="0" rIns="0" bIns="0" rtlCol="0" anchor="ctr"/>
          <a:lstStyle/>
          <a:p>
            <a:pPr algn="ctr"/>
            <a:r>
              <a:rPr lang="en-US" sz="2000" dirty="0">
                <a:solidFill>
                  <a:schemeClr val="bg1"/>
                </a:solidFill>
                <a:latin typeface="Calibri" pitchFamily="34" charset="0"/>
                <a:ea typeface="Calibri" pitchFamily="34" charset="-122"/>
                <a:cs typeface="Calibri" pitchFamily="34" charset="-120"/>
              </a:rPr>
              <a:t>Optimisation de la gestion d'énergie</a:t>
            </a:r>
            <a:endParaRPr lang="en-US" sz="2000" dirty="0">
              <a:solidFill>
                <a:schemeClr val="bg1"/>
              </a:solidFill>
            </a:endParaRPr>
          </a:p>
        </p:txBody>
      </p:sp>
      <p:sp>
        <p:nvSpPr>
          <p:cNvPr id="35" name="Shape 33"/>
          <p:cNvSpPr/>
          <p:nvPr/>
        </p:nvSpPr>
        <p:spPr>
          <a:xfrm>
            <a:off x="6126480" y="5486400"/>
            <a:ext cx="5029200" cy="3474720"/>
          </a:xfrm>
          <a:prstGeom prst="rect">
            <a:avLst/>
          </a:prstGeom>
          <a:solidFill>
            <a:srgbClr val="16384F"/>
          </a:solidFill>
          <a:ln w="25400">
            <a:solidFill>
              <a:srgbClr val="5DA8E0"/>
            </a:solidFill>
            <a:prstDash val="solid"/>
          </a:ln>
        </p:spPr>
        <p:txBody>
          <a:bodyPr/>
          <a:lstStyle/>
          <a:p>
            <a:endParaRPr lang="en-US" sz="3600"/>
          </a:p>
        </p:txBody>
      </p:sp>
      <p:sp>
        <p:nvSpPr>
          <p:cNvPr id="36" name="Shape 34"/>
          <p:cNvSpPr/>
          <p:nvPr/>
        </p:nvSpPr>
        <p:spPr>
          <a:xfrm>
            <a:off x="6126480" y="5486400"/>
            <a:ext cx="5029200" cy="182880"/>
          </a:xfrm>
          <a:prstGeom prst="rect">
            <a:avLst/>
          </a:prstGeom>
          <a:solidFill>
            <a:srgbClr val="5DA8E0"/>
          </a:solidFill>
          <a:ln w="12700">
            <a:solidFill>
              <a:srgbClr val="5DA8E0"/>
            </a:solidFill>
            <a:prstDash val="solid"/>
          </a:ln>
        </p:spPr>
        <p:txBody>
          <a:bodyPr/>
          <a:lstStyle/>
          <a:p>
            <a:endParaRPr lang="en-US" sz="3600"/>
          </a:p>
        </p:txBody>
      </p:sp>
      <p:sp>
        <p:nvSpPr>
          <p:cNvPr id="37" name="Shape 35"/>
          <p:cNvSpPr/>
          <p:nvPr/>
        </p:nvSpPr>
        <p:spPr>
          <a:xfrm>
            <a:off x="8229600" y="5797296"/>
            <a:ext cx="822960" cy="822960"/>
          </a:xfrm>
          <a:prstGeom prst="ellipse">
            <a:avLst/>
          </a:prstGeom>
          <a:solidFill>
            <a:srgbClr val="5DA8E0"/>
          </a:solidFill>
          <a:ln w="12700">
            <a:solidFill>
              <a:srgbClr val="5DA8E0"/>
            </a:solidFill>
            <a:prstDash val="solid"/>
          </a:ln>
        </p:spPr>
        <p:txBody>
          <a:bodyPr/>
          <a:lstStyle/>
          <a:p>
            <a:endParaRPr lang="en-US" sz="3600"/>
          </a:p>
        </p:txBody>
      </p:sp>
      <p:sp>
        <p:nvSpPr>
          <p:cNvPr id="38" name="Text 36"/>
          <p:cNvSpPr/>
          <p:nvPr/>
        </p:nvSpPr>
        <p:spPr>
          <a:xfrm>
            <a:off x="8229600" y="5797296"/>
            <a:ext cx="822960" cy="8229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6</a:t>
            </a:r>
            <a:endParaRPr lang="en-US" sz="3000" dirty="0"/>
          </a:p>
        </p:txBody>
      </p:sp>
      <p:sp>
        <p:nvSpPr>
          <p:cNvPr id="39" name="Text 37"/>
          <p:cNvSpPr/>
          <p:nvPr/>
        </p:nvSpPr>
        <p:spPr>
          <a:xfrm>
            <a:off x="6126480" y="6729984"/>
            <a:ext cx="5029200" cy="822960"/>
          </a:xfrm>
          <a:prstGeom prst="rect">
            <a:avLst/>
          </a:prstGeom>
          <a:noFill/>
          <a:ln/>
        </p:spPr>
        <p:txBody>
          <a:bodyPr wrap="square" lIns="0" tIns="0" rIns="0" bIns="0" rtlCol="0" anchor="ctr"/>
          <a:lstStyle/>
          <a:p>
            <a:pPr algn="ctr"/>
            <a:r>
              <a:rPr lang="en-US" sz="2400" b="1" dirty="0">
                <a:solidFill>
                  <a:srgbClr val="5DA8E0"/>
                </a:solidFill>
                <a:latin typeface="Trebuchet MS" pitchFamily="34" charset="0"/>
                <a:ea typeface="Trebuchet MS" pitchFamily="34" charset="-122"/>
                <a:cs typeface="Trebuchet MS" pitchFamily="34" charset="-120"/>
              </a:rPr>
              <a:t>Digital Twin</a:t>
            </a:r>
            <a:endParaRPr lang="en-US" sz="2400" dirty="0"/>
          </a:p>
        </p:txBody>
      </p:sp>
      <p:sp>
        <p:nvSpPr>
          <p:cNvPr id="40" name="Text 38"/>
          <p:cNvSpPr/>
          <p:nvPr/>
        </p:nvSpPr>
        <p:spPr>
          <a:xfrm>
            <a:off x="6126480" y="7589520"/>
            <a:ext cx="5029200" cy="1097280"/>
          </a:xfrm>
          <a:prstGeom prst="rect">
            <a:avLst/>
          </a:prstGeom>
          <a:noFill/>
          <a:ln/>
        </p:spPr>
        <p:txBody>
          <a:bodyPr wrap="square" lIns="0" tIns="0" rIns="0" bIns="0" rtlCol="0" anchor="ctr"/>
          <a:lstStyle/>
          <a:p>
            <a:pPr algn="ctr"/>
            <a:r>
              <a:rPr lang="en-US" sz="2000" dirty="0">
                <a:solidFill>
                  <a:schemeClr val="bg1"/>
                </a:solidFill>
                <a:latin typeface="Calibri" pitchFamily="34" charset="0"/>
                <a:ea typeface="Calibri" pitchFamily="34" charset="-122"/>
                <a:cs typeface="Calibri" pitchFamily="34" charset="-120"/>
              </a:rPr>
              <a:t>Modèle numérique et application mobile</a:t>
            </a:r>
            <a:endParaRPr lang="en-US" sz="2000" dirty="0">
              <a:solidFill>
                <a:schemeClr val="bg1"/>
              </a:solidFill>
            </a:endParaRPr>
          </a:p>
        </p:txBody>
      </p:sp>
      <p:sp>
        <p:nvSpPr>
          <p:cNvPr id="41" name="Shape 39"/>
          <p:cNvSpPr/>
          <p:nvPr/>
        </p:nvSpPr>
        <p:spPr>
          <a:xfrm>
            <a:off x="11704320" y="5486400"/>
            <a:ext cx="5029200" cy="3474720"/>
          </a:xfrm>
          <a:prstGeom prst="rect">
            <a:avLst/>
          </a:prstGeom>
          <a:solidFill>
            <a:srgbClr val="16384F"/>
          </a:solidFill>
          <a:ln w="25400">
            <a:solidFill>
              <a:srgbClr val="F5A623"/>
            </a:solidFill>
            <a:prstDash val="solid"/>
          </a:ln>
        </p:spPr>
        <p:txBody>
          <a:bodyPr/>
          <a:lstStyle/>
          <a:p>
            <a:endParaRPr lang="en-US" sz="3600"/>
          </a:p>
        </p:txBody>
      </p:sp>
      <p:sp>
        <p:nvSpPr>
          <p:cNvPr id="42" name="Shape 40"/>
          <p:cNvSpPr/>
          <p:nvPr/>
        </p:nvSpPr>
        <p:spPr>
          <a:xfrm>
            <a:off x="11704320" y="5486400"/>
            <a:ext cx="5029200" cy="182880"/>
          </a:xfrm>
          <a:prstGeom prst="rect">
            <a:avLst/>
          </a:prstGeom>
          <a:solidFill>
            <a:srgbClr val="F5A623"/>
          </a:solidFill>
          <a:ln w="12700">
            <a:solidFill>
              <a:srgbClr val="F5A623"/>
            </a:solidFill>
            <a:prstDash val="solid"/>
          </a:ln>
        </p:spPr>
        <p:txBody>
          <a:bodyPr/>
          <a:lstStyle/>
          <a:p>
            <a:endParaRPr lang="en-US" sz="3600"/>
          </a:p>
        </p:txBody>
      </p:sp>
      <p:sp>
        <p:nvSpPr>
          <p:cNvPr id="43" name="Shape 41"/>
          <p:cNvSpPr/>
          <p:nvPr/>
        </p:nvSpPr>
        <p:spPr>
          <a:xfrm>
            <a:off x="13807440" y="5797296"/>
            <a:ext cx="822960" cy="822960"/>
          </a:xfrm>
          <a:prstGeom prst="ellipse">
            <a:avLst/>
          </a:prstGeom>
          <a:solidFill>
            <a:srgbClr val="F5A623"/>
          </a:solidFill>
          <a:ln w="12700">
            <a:solidFill>
              <a:srgbClr val="F5A623"/>
            </a:solidFill>
            <a:prstDash val="solid"/>
          </a:ln>
        </p:spPr>
        <p:txBody>
          <a:bodyPr/>
          <a:lstStyle/>
          <a:p>
            <a:endParaRPr lang="en-US" sz="3600"/>
          </a:p>
        </p:txBody>
      </p:sp>
      <p:sp>
        <p:nvSpPr>
          <p:cNvPr id="44" name="Text 42"/>
          <p:cNvSpPr/>
          <p:nvPr/>
        </p:nvSpPr>
        <p:spPr>
          <a:xfrm>
            <a:off x="13807440" y="5797296"/>
            <a:ext cx="822960" cy="822960"/>
          </a:xfrm>
          <a:prstGeom prst="rect">
            <a:avLst/>
          </a:prstGeom>
          <a:noFill/>
          <a:ln/>
        </p:spPr>
        <p:txBody>
          <a:bodyPr wrap="square" lIns="0" tIns="0" rIns="0" bIns="0" rtlCol="0" anchor="ctr"/>
          <a:lstStyle/>
          <a:p>
            <a:pPr algn="ctr"/>
            <a:r>
              <a:rPr lang="en-US" sz="3000" b="1" dirty="0">
                <a:solidFill>
                  <a:srgbClr val="FFFFFF"/>
                </a:solidFill>
                <a:latin typeface="Trebuchet MS" pitchFamily="34" charset="0"/>
                <a:ea typeface="Trebuchet MS" pitchFamily="34" charset="-122"/>
                <a:cs typeface="Trebuchet MS" pitchFamily="34" charset="-120"/>
              </a:rPr>
              <a:t>7</a:t>
            </a:r>
            <a:endParaRPr lang="en-US" sz="3000" dirty="0"/>
          </a:p>
        </p:txBody>
      </p:sp>
      <p:sp>
        <p:nvSpPr>
          <p:cNvPr id="45" name="Text 43"/>
          <p:cNvSpPr/>
          <p:nvPr/>
        </p:nvSpPr>
        <p:spPr>
          <a:xfrm>
            <a:off x="11704320" y="6729984"/>
            <a:ext cx="5029200" cy="822960"/>
          </a:xfrm>
          <a:prstGeom prst="rect">
            <a:avLst/>
          </a:prstGeom>
          <a:noFill/>
          <a:ln/>
        </p:spPr>
        <p:txBody>
          <a:bodyPr wrap="square" lIns="0" tIns="0" rIns="0" bIns="0" rtlCol="0" anchor="ctr"/>
          <a:lstStyle/>
          <a:p>
            <a:pPr algn="ctr"/>
            <a:r>
              <a:rPr lang="en-US" sz="2400" b="1" dirty="0">
                <a:solidFill>
                  <a:srgbClr val="F5A623"/>
                </a:solidFill>
                <a:latin typeface="Trebuchet MS" pitchFamily="34" charset="0"/>
                <a:ea typeface="Trebuchet MS" pitchFamily="34" charset="-122"/>
                <a:cs typeface="Trebuchet MS" pitchFamily="34" charset="-120"/>
              </a:rPr>
              <a:t>Validation Finale</a:t>
            </a:r>
            <a:endParaRPr lang="en-US" sz="2400" dirty="0"/>
          </a:p>
        </p:txBody>
      </p:sp>
      <p:sp>
        <p:nvSpPr>
          <p:cNvPr id="46" name="Text 44"/>
          <p:cNvSpPr/>
          <p:nvPr/>
        </p:nvSpPr>
        <p:spPr>
          <a:xfrm>
            <a:off x="11704320" y="7589520"/>
            <a:ext cx="5029200" cy="1097280"/>
          </a:xfrm>
          <a:prstGeom prst="rect">
            <a:avLst/>
          </a:prstGeom>
          <a:noFill/>
          <a:ln/>
        </p:spPr>
        <p:txBody>
          <a:bodyPr wrap="square" lIns="0" tIns="0" rIns="0" bIns="0" rtlCol="0" anchor="ctr"/>
          <a:lstStyle/>
          <a:p>
            <a:pPr algn="ctr"/>
            <a:r>
              <a:rPr lang="en-US" sz="2000" dirty="0">
                <a:solidFill>
                  <a:schemeClr val="bg1"/>
                </a:solidFill>
                <a:latin typeface="Calibri" pitchFamily="34" charset="0"/>
                <a:ea typeface="Calibri" pitchFamily="34" charset="-122"/>
                <a:cs typeface="Calibri" pitchFamily="34" charset="-120"/>
              </a:rPr>
              <a:t>Expérimentation en conditions réelles</a:t>
            </a:r>
            <a:endParaRPr lang="en-US" sz="2000" dirty="0">
              <a:solidFill>
                <a:schemeClr val="bg1"/>
              </a:solidFill>
            </a:endParaRPr>
          </a:p>
        </p:txBody>
      </p:sp>
      <p:sp>
        <p:nvSpPr>
          <p:cNvPr id="47" name="AutoShape 2">
            <a:extLst>
              <a:ext uri="{FF2B5EF4-FFF2-40B4-BE49-F238E27FC236}">
                <a16:creationId xmlns:a16="http://schemas.microsoft.com/office/drawing/2014/main" id="{1FEB6782-9C05-1314-17A3-7EA80ABF1408}"/>
              </a:ext>
            </a:extLst>
          </p:cNvPr>
          <p:cNvSpPr/>
          <p:nvPr/>
        </p:nvSpPr>
        <p:spPr>
          <a:xfrm flipV="1">
            <a:off x="710589" y="9079613"/>
            <a:ext cx="16866811" cy="9525"/>
          </a:xfrm>
          <a:prstGeom prst="line">
            <a:avLst/>
          </a:prstGeom>
          <a:ln w="19050" cap="rnd">
            <a:solidFill>
              <a:srgbClr val="010101"/>
            </a:solidFill>
            <a:prstDash val="solid"/>
            <a:headEnd type="none" w="sm" len="sm"/>
            <a:tailEnd type="none" w="sm" len="sm"/>
          </a:ln>
        </p:spPr>
        <p:txBody>
          <a:bodyPr/>
          <a:lstStyle/>
          <a:p>
            <a:endParaRPr lang="en-US"/>
          </a:p>
        </p:txBody>
      </p:sp>
      <p:sp>
        <p:nvSpPr>
          <p:cNvPr id="48" name="Freeform 17">
            <a:extLst>
              <a:ext uri="{FF2B5EF4-FFF2-40B4-BE49-F238E27FC236}">
                <a16:creationId xmlns:a16="http://schemas.microsoft.com/office/drawing/2014/main" id="{F1CE1B63-493F-991F-9BB8-17CC56453E35}"/>
              </a:ext>
            </a:extLst>
          </p:cNvPr>
          <p:cNvSpPr/>
          <p:nvPr/>
        </p:nvSpPr>
        <p:spPr>
          <a:xfrm>
            <a:off x="13869690" y="9118158"/>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5400000">
            <a:off x="-63669" y="2700884"/>
            <a:ext cx="18442820" cy="18372631"/>
          </a:xfrm>
          <a:custGeom>
            <a:avLst/>
            <a:gdLst/>
            <a:ahLst/>
            <a:cxnLst/>
            <a:rect l="l" t="t" r="r" b="b"/>
            <a:pathLst>
              <a:path w="18442820" h="18372631">
                <a:moveTo>
                  <a:pt x="0" y="0"/>
                </a:moveTo>
                <a:lnTo>
                  <a:pt x="18442819" y="0"/>
                </a:lnTo>
                <a:lnTo>
                  <a:pt x="18442819" y="18372632"/>
                </a:lnTo>
                <a:lnTo>
                  <a:pt x="0" y="18372632"/>
                </a:lnTo>
                <a:lnTo>
                  <a:pt x="0" y="0"/>
                </a:lnTo>
                <a:close/>
              </a:path>
            </a:pathLst>
          </a:custGeom>
          <a:blipFill>
            <a:blip>
              <a:extLst>
                <a:ext uri="{96DAC541-7B7A-43D3-8B79-37D633B846F1}">
                  <asvg:svgBlip xmlns:asvg="http://schemas.microsoft.com/office/drawing/2016/SVG/main" r:embed="rId2"/>
                </a:ext>
              </a:extLst>
            </a:blip>
            <a:stretch>
              <a:fillRect t="-416" r="-34"/>
            </a:stretch>
          </a:blipFill>
        </p:spPr>
        <p:txBody>
          <a:bodyPr/>
          <a:lstStyle/>
          <a:p>
            <a:endParaRPr lang="en-US"/>
          </a:p>
        </p:txBody>
      </p:sp>
      <p:sp>
        <p:nvSpPr>
          <p:cNvPr id="4" name="TextBox 4"/>
          <p:cNvSpPr txBox="1"/>
          <p:nvPr/>
        </p:nvSpPr>
        <p:spPr>
          <a:xfrm>
            <a:off x="3679260" y="4403408"/>
            <a:ext cx="10929479" cy="1634999"/>
          </a:xfrm>
          <a:prstGeom prst="rect">
            <a:avLst/>
          </a:prstGeom>
        </p:spPr>
        <p:txBody>
          <a:bodyPr lIns="0" tIns="0" rIns="0" bIns="0" rtlCol="0" anchor="t">
            <a:spAutoFit/>
          </a:bodyPr>
          <a:lstStyle/>
          <a:p>
            <a:pPr marL="0" lvl="0" indent="0" algn="ctr">
              <a:lnSpc>
                <a:spcPts val="12419"/>
              </a:lnSpc>
              <a:spcBef>
                <a:spcPct val="0"/>
              </a:spcBef>
            </a:pPr>
            <a:r>
              <a:rPr lang="en-US" sz="11499" spc="-114" dirty="0">
                <a:solidFill>
                  <a:schemeClr val="tx1">
                    <a:lumMod val="95000"/>
                    <a:lumOff val="5000"/>
                  </a:schemeClr>
                </a:solidFill>
                <a:latin typeface="Hammersmith One"/>
                <a:ea typeface="Hammersmith One"/>
                <a:cs typeface="Hammersmith One"/>
                <a:sym typeface="Hammersmith One"/>
              </a:rPr>
              <a:t>What's Next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2C235-9019-D762-D21B-B5675A32B8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CFAE0C6-3853-311C-DEA5-FE010768C8F6}"/>
              </a:ext>
            </a:extLst>
          </p:cNvPr>
          <p:cNvGrpSpPr/>
          <p:nvPr/>
        </p:nvGrpSpPr>
        <p:grpSpPr>
          <a:xfrm>
            <a:off x="9982200" y="2609850"/>
            <a:ext cx="6515100" cy="3304227"/>
            <a:chOff x="0" y="76200"/>
            <a:chExt cx="7924340" cy="4405635"/>
          </a:xfrm>
        </p:grpSpPr>
        <p:sp>
          <p:nvSpPr>
            <p:cNvPr id="3" name="TextBox 3">
              <a:extLst>
                <a:ext uri="{FF2B5EF4-FFF2-40B4-BE49-F238E27FC236}">
                  <a16:creationId xmlns:a16="http://schemas.microsoft.com/office/drawing/2014/main" id="{423842A0-658D-9940-23DD-8174D671EC4D}"/>
                </a:ext>
              </a:extLst>
            </p:cNvPr>
            <p:cNvSpPr txBox="1"/>
            <p:nvPr/>
          </p:nvSpPr>
          <p:spPr>
            <a:xfrm>
              <a:off x="0" y="76200"/>
              <a:ext cx="7924340" cy="3611245"/>
            </a:xfrm>
            <a:prstGeom prst="rect">
              <a:avLst/>
            </a:prstGeom>
          </p:spPr>
          <p:txBody>
            <a:bodyPr lIns="0" tIns="0" rIns="0" bIns="0" rtlCol="0" anchor="t">
              <a:spAutoFit/>
            </a:bodyPr>
            <a:lstStyle/>
            <a:p>
              <a:r>
                <a:rPr lang="en-US" sz="8800" b="1" dirty="0">
                  <a:solidFill>
                    <a:srgbClr val="243186"/>
                  </a:solidFill>
                  <a:latin typeface="Calibri" pitchFamily="34" charset="0"/>
                  <a:ea typeface="Calibri" pitchFamily="34" charset="-122"/>
                  <a:cs typeface="Calibri" pitchFamily="34" charset="-120"/>
                </a:rPr>
                <a:t>Prochain </a:t>
              </a:r>
              <a:r>
                <a:rPr lang="en-US" sz="8800" b="1" dirty="0" err="1">
                  <a:solidFill>
                    <a:srgbClr val="243186"/>
                  </a:solidFill>
                  <a:latin typeface="Calibri" pitchFamily="34" charset="0"/>
                  <a:ea typeface="Calibri" pitchFamily="34" charset="-122"/>
                  <a:cs typeface="Calibri" pitchFamily="34" charset="-120"/>
                </a:rPr>
                <a:t>Événement</a:t>
              </a:r>
              <a:endParaRPr lang="en-US" sz="8800" dirty="0">
                <a:solidFill>
                  <a:srgbClr val="243186"/>
                </a:solidFill>
              </a:endParaRPr>
            </a:p>
          </p:txBody>
        </p:sp>
        <p:sp>
          <p:nvSpPr>
            <p:cNvPr id="4" name="Freeform 4">
              <a:extLst>
                <a:ext uri="{FF2B5EF4-FFF2-40B4-BE49-F238E27FC236}">
                  <a16:creationId xmlns:a16="http://schemas.microsoft.com/office/drawing/2014/main" id="{7180BEE5-5866-66FC-1C0D-7FB4BD55D73A}"/>
                </a:ext>
              </a:extLst>
            </p:cNvPr>
            <p:cNvSpPr/>
            <p:nvPr/>
          </p:nvSpPr>
          <p:spPr>
            <a:xfrm>
              <a:off x="0" y="4098662"/>
              <a:ext cx="5184770" cy="383173"/>
            </a:xfrm>
            <a:custGeom>
              <a:avLst/>
              <a:gdLst/>
              <a:ahLst/>
              <a:cxnLst/>
              <a:rect l="l" t="t" r="r" b="b"/>
              <a:pathLst>
                <a:path w="5184770" h="383173">
                  <a:moveTo>
                    <a:pt x="0" y="0"/>
                  </a:moveTo>
                  <a:lnTo>
                    <a:pt x="5184770" y="0"/>
                  </a:lnTo>
                  <a:lnTo>
                    <a:pt x="5184770" y="383172"/>
                  </a:lnTo>
                  <a:lnTo>
                    <a:pt x="0" y="383172"/>
                  </a:lnTo>
                  <a:lnTo>
                    <a:pt x="0" y="0"/>
                  </a:lnTo>
                  <a:close/>
                </a:path>
              </a:pathLst>
            </a:custGeom>
            <a:blipFill>
              <a:blip>
                <a:extLst>
                  <a:ext uri="{96DAC541-7B7A-43D3-8B79-37D633B846F1}">
                    <asvg:svgBlip xmlns:asvg="http://schemas.microsoft.com/office/drawing/2016/SVG/main" r:embed="rId2"/>
                  </a:ext>
                </a:extLst>
              </a:blip>
              <a:stretch>
                <a:fillRect l="-171" t="-308623" r="-7088" b="-1042730"/>
              </a:stretch>
            </a:blipFill>
          </p:spPr>
          <p:txBody>
            <a:bodyPr/>
            <a:lstStyle/>
            <a:p>
              <a:endParaRPr lang="en-US"/>
            </a:p>
          </p:txBody>
        </p:sp>
      </p:grpSp>
      <p:sp>
        <p:nvSpPr>
          <p:cNvPr id="6" name="AutoShape 2" descr="Modern workspace with project timeline">
            <a:extLst>
              <a:ext uri="{FF2B5EF4-FFF2-40B4-BE49-F238E27FC236}">
                <a16:creationId xmlns:a16="http://schemas.microsoft.com/office/drawing/2014/main" id="{255F78E7-25D6-1272-ACB4-21DAC29BED2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5" name="Group 5">
            <a:extLst>
              <a:ext uri="{FF2B5EF4-FFF2-40B4-BE49-F238E27FC236}">
                <a16:creationId xmlns:a16="http://schemas.microsoft.com/office/drawing/2014/main" id="{787B1F3E-282A-FFB2-4FB7-177F9629804C}"/>
              </a:ext>
            </a:extLst>
          </p:cNvPr>
          <p:cNvGrpSpPr/>
          <p:nvPr/>
        </p:nvGrpSpPr>
        <p:grpSpPr>
          <a:xfrm rot="5400000">
            <a:off x="-2133057" y="761999"/>
            <a:ext cx="12724315" cy="8458201"/>
            <a:chOff x="0" y="0"/>
            <a:chExt cx="16965753" cy="8481598"/>
          </a:xfrm>
        </p:grpSpPr>
        <p:sp>
          <p:nvSpPr>
            <p:cNvPr id="7" name="Freeform 6">
              <a:extLst>
                <a:ext uri="{FF2B5EF4-FFF2-40B4-BE49-F238E27FC236}">
                  <a16:creationId xmlns:a16="http://schemas.microsoft.com/office/drawing/2014/main" id="{0183475D-2B66-42B7-2451-92CD109B6CAA}"/>
                </a:ext>
              </a:extLst>
            </p:cNvPr>
            <p:cNvSpPr/>
            <p:nvPr/>
          </p:nvSpPr>
          <p:spPr>
            <a:xfrm rot="-5400000">
              <a:off x="8480553"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9" name="Freeform 7">
              <a:extLst>
                <a:ext uri="{FF2B5EF4-FFF2-40B4-BE49-F238E27FC236}">
                  <a16:creationId xmlns:a16="http://schemas.microsoft.com/office/drawing/2014/main" id="{025FFFFC-877D-717A-17F5-06A2AD3E5B57}"/>
                </a:ext>
              </a:extLst>
            </p:cNvPr>
            <p:cNvSpPr/>
            <p:nvPr/>
          </p:nvSpPr>
          <p:spPr>
            <a:xfrm rot="-5400000">
              <a:off x="3602"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grpSp>
      <p:sp>
        <p:nvSpPr>
          <p:cNvPr id="10" name="Freeform 17">
            <a:extLst>
              <a:ext uri="{FF2B5EF4-FFF2-40B4-BE49-F238E27FC236}">
                <a16:creationId xmlns:a16="http://schemas.microsoft.com/office/drawing/2014/main" id="{2ADC1CC1-2D59-4E79-DB56-4D49E1FF21CE}"/>
              </a:ext>
            </a:extLst>
          </p:cNvPr>
          <p:cNvSpPr/>
          <p:nvPr/>
        </p:nvSpPr>
        <p:spPr>
          <a:xfrm>
            <a:off x="14244927" y="9273475"/>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4"/>
            <a:stretch>
              <a:fillRect/>
            </a:stretch>
          </a:blipFill>
        </p:spPr>
        <p:txBody>
          <a:bodyPr/>
          <a:lstStyle/>
          <a:p>
            <a:endParaRPr lang="en-US"/>
          </a:p>
        </p:txBody>
      </p:sp>
      <p:sp>
        <p:nvSpPr>
          <p:cNvPr id="11" name="Shape 7">
            <a:extLst>
              <a:ext uri="{FF2B5EF4-FFF2-40B4-BE49-F238E27FC236}">
                <a16:creationId xmlns:a16="http://schemas.microsoft.com/office/drawing/2014/main" id="{B8AFF673-7005-110D-1275-48DD2942080A}"/>
              </a:ext>
            </a:extLst>
          </p:cNvPr>
          <p:cNvSpPr/>
          <p:nvPr/>
        </p:nvSpPr>
        <p:spPr>
          <a:xfrm>
            <a:off x="13495283" y="617307"/>
            <a:ext cx="4389120" cy="1097280"/>
          </a:xfrm>
          <a:prstGeom prst="rect">
            <a:avLst/>
          </a:prstGeom>
          <a:solidFill>
            <a:srgbClr val="F7A400"/>
          </a:solidFill>
          <a:ln w="12700">
            <a:solidFill>
              <a:srgbClr val="F7A400"/>
            </a:solidFill>
            <a:prstDash val="solid"/>
          </a:ln>
        </p:spPr>
        <p:txBody>
          <a:bodyPr/>
          <a:lstStyle/>
          <a:p>
            <a:endParaRPr lang="fr-FR" sz="3600"/>
          </a:p>
        </p:txBody>
      </p:sp>
      <p:sp>
        <p:nvSpPr>
          <p:cNvPr id="13" name="ZoneTexte 12">
            <a:extLst>
              <a:ext uri="{FF2B5EF4-FFF2-40B4-BE49-F238E27FC236}">
                <a16:creationId xmlns:a16="http://schemas.microsoft.com/office/drawing/2014/main" id="{BD60F992-8048-CB24-772F-FC1791743407}"/>
              </a:ext>
            </a:extLst>
          </p:cNvPr>
          <p:cNvSpPr txBox="1"/>
          <p:nvPr/>
        </p:nvSpPr>
        <p:spPr>
          <a:xfrm>
            <a:off x="14070592" y="784484"/>
            <a:ext cx="3238501" cy="646331"/>
          </a:xfrm>
          <a:prstGeom prst="rect">
            <a:avLst/>
          </a:prstGeom>
          <a:noFill/>
        </p:spPr>
        <p:txBody>
          <a:bodyPr wrap="square">
            <a:spAutoFit/>
          </a:bodyPr>
          <a:lstStyle/>
          <a:p>
            <a:pPr algn="ctr"/>
            <a:r>
              <a:rPr lang="en-US" sz="3600" b="1" dirty="0">
                <a:solidFill>
                  <a:srgbClr val="0A2E50"/>
                </a:solidFill>
                <a:latin typeface="Calibri" pitchFamily="34" charset="0"/>
                <a:ea typeface="Calibri" pitchFamily="34" charset="-122"/>
                <a:cs typeface="Calibri" pitchFamily="34" charset="-120"/>
              </a:rPr>
              <a:t>Octobre 2026</a:t>
            </a:r>
            <a:endParaRPr lang="en-US" sz="3600" dirty="0"/>
          </a:p>
        </p:txBody>
      </p:sp>
      <p:sp>
        <p:nvSpPr>
          <p:cNvPr id="14" name="Freeform 4">
            <a:extLst>
              <a:ext uri="{FF2B5EF4-FFF2-40B4-BE49-F238E27FC236}">
                <a16:creationId xmlns:a16="http://schemas.microsoft.com/office/drawing/2014/main" id="{F5E32FDB-540D-AEAB-71E5-E895C94AD852}"/>
              </a:ext>
            </a:extLst>
          </p:cNvPr>
          <p:cNvSpPr/>
          <p:nvPr/>
        </p:nvSpPr>
        <p:spPr>
          <a:xfrm>
            <a:off x="2818212" y="5327067"/>
            <a:ext cx="12651575" cy="509474"/>
          </a:xfrm>
          <a:custGeom>
            <a:avLst/>
            <a:gdLst/>
            <a:ahLst/>
            <a:cxnLst/>
            <a:rect l="l" t="t" r="r" b="b"/>
            <a:pathLst>
              <a:path w="9191696" h="679299">
                <a:moveTo>
                  <a:pt x="0" y="0"/>
                </a:moveTo>
                <a:lnTo>
                  <a:pt x="9191696" y="0"/>
                </a:lnTo>
                <a:lnTo>
                  <a:pt x="9191696" y="679299"/>
                </a:lnTo>
                <a:lnTo>
                  <a:pt x="0" y="679299"/>
                </a:lnTo>
                <a:lnTo>
                  <a:pt x="0" y="0"/>
                </a:lnTo>
                <a:close/>
              </a:path>
            </a:pathLst>
          </a:custGeom>
          <a:blipFill>
            <a:blip>
              <a:extLst>
                <a:ext uri="{96DAC541-7B7A-43D3-8B79-37D633B846F1}">
                  <asvg:svgBlip xmlns:asvg="http://schemas.microsoft.com/office/drawing/2016/SVG/main" r:embed="rId5"/>
                </a:ext>
              </a:extLst>
            </a:blip>
            <a:stretch>
              <a:fillRect l="-171" t="-308623" r="-7088" b="-1042730"/>
            </a:stretch>
          </a:blipFill>
        </p:spPr>
        <p:txBody>
          <a:bodyPr/>
          <a:lstStyle/>
          <a:p>
            <a:endParaRPr lang="en-US"/>
          </a:p>
        </p:txBody>
      </p:sp>
      <p:sp>
        <p:nvSpPr>
          <p:cNvPr id="15" name="Text 9">
            <a:extLst>
              <a:ext uri="{FF2B5EF4-FFF2-40B4-BE49-F238E27FC236}">
                <a16:creationId xmlns:a16="http://schemas.microsoft.com/office/drawing/2014/main" id="{6B2DFEBE-A230-0195-274E-5280013E4D04}"/>
              </a:ext>
            </a:extLst>
          </p:cNvPr>
          <p:cNvSpPr/>
          <p:nvPr/>
        </p:nvSpPr>
        <p:spPr>
          <a:xfrm>
            <a:off x="9997128" y="6130003"/>
            <a:ext cx="12801600" cy="822960"/>
          </a:xfrm>
          <a:prstGeom prst="rect">
            <a:avLst/>
          </a:prstGeom>
          <a:noFill/>
          <a:ln/>
        </p:spPr>
        <p:txBody>
          <a:bodyPr wrap="square" lIns="0" tIns="0" rIns="0" bIns="0" rtlCol="0" anchor="ctr"/>
          <a:lstStyle/>
          <a:p>
            <a:r>
              <a:rPr lang="en-US" sz="2600" i="1" dirty="0">
                <a:solidFill>
                  <a:srgbClr val="9DC3D4"/>
                </a:solidFill>
                <a:latin typeface="Calibri" pitchFamily="34" charset="0"/>
                <a:ea typeface="Calibri" pitchFamily="34" charset="-122"/>
                <a:cs typeface="Calibri" pitchFamily="34" charset="-120"/>
              </a:rPr>
              <a:t>Workshop · Résultats · Collaboration scientifique</a:t>
            </a:r>
            <a:endParaRPr lang="en-US" sz="2600" dirty="0"/>
          </a:p>
        </p:txBody>
      </p:sp>
    </p:spTree>
    <p:extLst>
      <p:ext uri="{BB962C8B-B14F-4D97-AF65-F5344CB8AC3E}">
        <p14:creationId xmlns:p14="http://schemas.microsoft.com/office/powerpoint/2010/main" val="1030275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0">
            <a:extLst>
              <a:ext uri="{FF2B5EF4-FFF2-40B4-BE49-F238E27FC236}">
                <a16:creationId xmlns:a16="http://schemas.microsoft.com/office/drawing/2014/main" id="{44A3DEE6-2FFA-F92E-A66E-FA0438C519C1}"/>
              </a:ext>
            </a:extLst>
          </p:cNvPr>
          <p:cNvSpPr/>
          <p:nvPr/>
        </p:nvSpPr>
        <p:spPr>
          <a:xfrm>
            <a:off x="0" y="114756"/>
            <a:ext cx="18288000" cy="1463040"/>
          </a:xfrm>
          <a:prstGeom prst="rect">
            <a:avLst/>
          </a:prstGeom>
          <a:solidFill>
            <a:srgbClr val="FFC000"/>
          </a:solidFill>
          <a:ln w="12700">
            <a:solidFill>
              <a:srgbClr val="0D2232"/>
            </a:solidFill>
            <a:prstDash val="solid"/>
          </a:ln>
        </p:spPr>
        <p:txBody>
          <a:bodyPr/>
          <a:lstStyle/>
          <a:p>
            <a:endParaRPr lang="en-US" sz="3600"/>
          </a:p>
        </p:txBody>
      </p:sp>
      <p:sp>
        <p:nvSpPr>
          <p:cNvPr id="2" name="Shape 0"/>
          <p:cNvSpPr/>
          <p:nvPr/>
        </p:nvSpPr>
        <p:spPr>
          <a:xfrm>
            <a:off x="0" y="0"/>
            <a:ext cx="18288000" cy="128016"/>
          </a:xfrm>
          <a:prstGeom prst="rect">
            <a:avLst/>
          </a:prstGeom>
          <a:solidFill>
            <a:srgbClr val="F7A400"/>
          </a:solidFill>
          <a:ln w="12700">
            <a:solidFill>
              <a:srgbClr val="F7A400"/>
            </a:solidFill>
            <a:prstDash val="solid"/>
          </a:ln>
        </p:spPr>
        <p:txBody>
          <a:bodyPr/>
          <a:lstStyle/>
          <a:p>
            <a:endParaRPr lang="fr-FR" sz="3600"/>
          </a:p>
        </p:txBody>
      </p:sp>
      <p:sp>
        <p:nvSpPr>
          <p:cNvPr id="4" name="Text 2"/>
          <p:cNvSpPr/>
          <p:nvPr/>
        </p:nvSpPr>
        <p:spPr>
          <a:xfrm>
            <a:off x="914400" y="-283314"/>
            <a:ext cx="16459200" cy="2103120"/>
          </a:xfrm>
          <a:prstGeom prst="rect">
            <a:avLst/>
          </a:prstGeom>
          <a:noFill/>
          <a:ln/>
        </p:spPr>
        <p:txBody>
          <a:bodyPr wrap="square" lIns="0" tIns="0" rIns="0" bIns="0" rtlCol="0" anchor="ctr"/>
          <a:lstStyle/>
          <a:p>
            <a:r>
              <a:rPr lang="en-US" sz="5600" b="1" dirty="0">
                <a:solidFill>
                  <a:srgbClr val="FFFFFF"/>
                </a:solidFill>
                <a:latin typeface="Calibri" pitchFamily="34" charset="0"/>
                <a:ea typeface="Calibri" pitchFamily="34" charset="-122"/>
                <a:cs typeface="Calibri" pitchFamily="34" charset="-120"/>
              </a:rPr>
              <a:t>Objectifs du Workshop</a:t>
            </a:r>
            <a:endParaRPr lang="en-US" sz="5600" dirty="0"/>
          </a:p>
        </p:txBody>
      </p:sp>
      <p:sp>
        <p:nvSpPr>
          <p:cNvPr id="5" name="Shape 3"/>
          <p:cNvSpPr/>
          <p:nvPr/>
        </p:nvSpPr>
        <p:spPr>
          <a:xfrm>
            <a:off x="731520" y="2313582"/>
            <a:ext cx="16824960" cy="2103120"/>
          </a:xfrm>
          <a:prstGeom prst="rect">
            <a:avLst/>
          </a:prstGeom>
          <a:solidFill>
            <a:srgbClr val="FFE393"/>
          </a:solidFill>
          <a:ln w="6350">
            <a:solidFill>
              <a:srgbClr val="9DC3D4"/>
            </a:solidFill>
            <a:prstDash val="solid"/>
          </a:ln>
        </p:spPr>
        <p:txBody>
          <a:bodyPr/>
          <a:lstStyle/>
          <a:p>
            <a:endParaRPr lang="fr-FR" sz="3600"/>
          </a:p>
        </p:txBody>
      </p:sp>
      <p:sp>
        <p:nvSpPr>
          <p:cNvPr id="6" name="Shape 4"/>
          <p:cNvSpPr/>
          <p:nvPr/>
        </p:nvSpPr>
        <p:spPr>
          <a:xfrm>
            <a:off x="914400" y="2679342"/>
            <a:ext cx="1280160" cy="1280160"/>
          </a:xfrm>
          <a:prstGeom prst="ellipse">
            <a:avLst/>
          </a:prstGeom>
          <a:solidFill>
            <a:srgbClr val="222F85"/>
          </a:solidFill>
          <a:ln w="12700">
            <a:solidFill>
              <a:srgbClr val="F7A400"/>
            </a:solidFill>
            <a:prstDash val="solid"/>
          </a:ln>
        </p:spPr>
        <p:txBody>
          <a:bodyPr/>
          <a:lstStyle/>
          <a:p>
            <a:endParaRPr lang="fr-FR" sz="3600">
              <a:solidFill>
                <a:schemeClr val="bg1"/>
              </a:solidFill>
            </a:endParaRPr>
          </a:p>
        </p:txBody>
      </p:sp>
      <p:sp>
        <p:nvSpPr>
          <p:cNvPr id="7" name="Text 5"/>
          <p:cNvSpPr/>
          <p:nvPr/>
        </p:nvSpPr>
        <p:spPr>
          <a:xfrm>
            <a:off x="914400" y="2679342"/>
            <a:ext cx="1280160" cy="1280160"/>
          </a:xfrm>
          <a:prstGeom prst="rect">
            <a:avLst/>
          </a:prstGeom>
          <a:noFill/>
          <a:ln/>
        </p:spPr>
        <p:txBody>
          <a:bodyPr wrap="square" lIns="0" tIns="0" rIns="0" bIns="0" rtlCol="0" anchor="ctr"/>
          <a:lstStyle/>
          <a:p>
            <a:pPr algn="ctr"/>
            <a:r>
              <a:rPr lang="en-US" sz="3200" b="1" dirty="0">
                <a:solidFill>
                  <a:schemeClr val="bg1"/>
                </a:solidFill>
                <a:latin typeface="Calibri" pitchFamily="34" charset="0"/>
                <a:ea typeface="Calibri" pitchFamily="34" charset="-122"/>
                <a:cs typeface="Calibri" pitchFamily="34" charset="-120"/>
              </a:rPr>
              <a:t>1</a:t>
            </a:r>
            <a:endParaRPr lang="en-US" sz="3200" dirty="0">
              <a:solidFill>
                <a:schemeClr val="bg1"/>
              </a:solidFill>
            </a:endParaRPr>
          </a:p>
        </p:txBody>
      </p:sp>
      <p:sp>
        <p:nvSpPr>
          <p:cNvPr id="8" name="Text 6"/>
          <p:cNvSpPr/>
          <p:nvPr/>
        </p:nvSpPr>
        <p:spPr>
          <a:xfrm>
            <a:off x="2560320" y="2459886"/>
            <a:ext cx="14264640" cy="822960"/>
          </a:xfrm>
          <a:prstGeom prst="rect">
            <a:avLst/>
          </a:prstGeom>
          <a:noFill/>
          <a:ln/>
        </p:spPr>
        <p:txBody>
          <a:bodyPr wrap="square" lIns="0" tIns="0" rIns="0" bIns="0" rtlCol="0" anchor="ctr"/>
          <a:lstStyle/>
          <a:p>
            <a:r>
              <a:rPr lang="en-US" sz="3000" b="1" dirty="0">
                <a:solidFill>
                  <a:srgbClr val="FFFFFF"/>
                </a:solidFill>
                <a:latin typeface="Calibri" pitchFamily="34" charset="0"/>
                <a:ea typeface="Calibri" pitchFamily="34" charset="-122"/>
                <a:cs typeface="Calibri" pitchFamily="34" charset="-120"/>
              </a:rPr>
              <a:t>Présentation des premiers résultats</a:t>
            </a:r>
            <a:endParaRPr lang="en-US" sz="3000" dirty="0"/>
          </a:p>
        </p:txBody>
      </p:sp>
      <p:sp>
        <p:nvSpPr>
          <p:cNvPr id="9" name="Text 7"/>
          <p:cNvSpPr/>
          <p:nvPr/>
        </p:nvSpPr>
        <p:spPr>
          <a:xfrm>
            <a:off x="2560320" y="3282846"/>
            <a:ext cx="14264640" cy="1005840"/>
          </a:xfrm>
          <a:prstGeom prst="rect">
            <a:avLst/>
          </a:prstGeom>
          <a:noFill/>
          <a:ln/>
        </p:spPr>
        <p:txBody>
          <a:bodyPr wrap="square" lIns="0" tIns="0" rIns="0" bIns="0" rtlCol="0" anchor="ctr"/>
          <a:lstStyle/>
          <a:p>
            <a:r>
              <a:rPr lang="en-US" sz="2200" dirty="0">
                <a:solidFill>
                  <a:srgbClr val="222F85"/>
                </a:solidFill>
                <a:latin typeface="Calibri" pitchFamily="34" charset="0"/>
                <a:ea typeface="Calibri" pitchFamily="34" charset="-122"/>
                <a:cs typeface="Calibri" pitchFamily="34" charset="-120"/>
              </a:rPr>
              <a:t>Exposé des </a:t>
            </a:r>
            <a:r>
              <a:rPr lang="en-US" sz="2200" dirty="0" err="1">
                <a:solidFill>
                  <a:srgbClr val="222F85"/>
                </a:solidFill>
                <a:latin typeface="Calibri" pitchFamily="34" charset="0"/>
                <a:ea typeface="Calibri" pitchFamily="34" charset="-122"/>
                <a:cs typeface="Calibri" pitchFamily="34" charset="-120"/>
              </a:rPr>
              <a:t>avancées</a:t>
            </a:r>
            <a:r>
              <a:rPr lang="en-US" sz="2200" dirty="0">
                <a:solidFill>
                  <a:srgbClr val="222F85"/>
                </a:solidFill>
                <a:latin typeface="Calibri" pitchFamily="34" charset="0"/>
                <a:ea typeface="Calibri" pitchFamily="34" charset="-122"/>
                <a:cs typeface="Calibri" pitchFamily="34" charset="-120"/>
              </a:rPr>
              <a:t> </a:t>
            </a:r>
            <a:r>
              <a:rPr lang="en-US" sz="2200" dirty="0" err="1">
                <a:solidFill>
                  <a:srgbClr val="222F85"/>
                </a:solidFill>
                <a:latin typeface="Calibri" pitchFamily="34" charset="0"/>
                <a:ea typeface="Calibri" pitchFamily="34" charset="-122"/>
                <a:cs typeface="Calibri" pitchFamily="34" charset="-120"/>
              </a:rPr>
              <a:t>scientifiques</a:t>
            </a:r>
            <a:r>
              <a:rPr lang="en-US" sz="2200" dirty="0">
                <a:solidFill>
                  <a:srgbClr val="222F85"/>
                </a:solidFill>
                <a:latin typeface="Calibri" pitchFamily="34" charset="0"/>
                <a:ea typeface="Calibri" pitchFamily="34" charset="-122"/>
                <a:cs typeface="Calibri" pitchFamily="34" charset="-120"/>
              </a:rPr>
              <a:t> et techniques </a:t>
            </a:r>
            <a:r>
              <a:rPr lang="en-US" sz="2200" dirty="0" err="1">
                <a:solidFill>
                  <a:srgbClr val="222F85"/>
                </a:solidFill>
                <a:latin typeface="Calibri" pitchFamily="34" charset="0"/>
                <a:ea typeface="Calibri" pitchFamily="34" charset="-122"/>
                <a:cs typeface="Calibri" pitchFamily="34" charset="-120"/>
              </a:rPr>
              <a:t>réalisées</a:t>
            </a:r>
            <a:r>
              <a:rPr lang="en-US" sz="2200" dirty="0">
                <a:solidFill>
                  <a:srgbClr val="222F85"/>
                </a:solidFill>
                <a:latin typeface="Calibri" pitchFamily="34" charset="0"/>
                <a:ea typeface="Calibri" pitchFamily="34" charset="-122"/>
                <a:cs typeface="Calibri" pitchFamily="34" charset="-120"/>
              </a:rPr>
              <a:t> </a:t>
            </a:r>
            <a:r>
              <a:rPr lang="en-US" sz="2200" dirty="0" err="1">
                <a:solidFill>
                  <a:srgbClr val="222F85"/>
                </a:solidFill>
                <a:latin typeface="Calibri" pitchFamily="34" charset="0"/>
                <a:ea typeface="Calibri" pitchFamily="34" charset="-122"/>
                <a:cs typeface="Calibri" pitchFamily="34" charset="-120"/>
              </a:rPr>
              <a:t>depuis</a:t>
            </a:r>
            <a:r>
              <a:rPr lang="en-US" sz="2200" dirty="0">
                <a:solidFill>
                  <a:srgbClr val="222F85"/>
                </a:solidFill>
                <a:latin typeface="Calibri" pitchFamily="34" charset="0"/>
                <a:ea typeface="Calibri" pitchFamily="34" charset="-122"/>
                <a:cs typeface="Calibri" pitchFamily="34" charset="-120"/>
              </a:rPr>
              <a:t> le </a:t>
            </a:r>
            <a:r>
              <a:rPr lang="en-US" sz="2200" dirty="0" err="1">
                <a:solidFill>
                  <a:srgbClr val="222F85"/>
                </a:solidFill>
                <a:latin typeface="Calibri" pitchFamily="34" charset="0"/>
                <a:ea typeface="Calibri" pitchFamily="34" charset="-122"/>
                <a:cs typeface="Calibri" pitchFamily="34" charset="-120"/>
              </a:rPr>
              <a:t>lancement</a:t>
            </a:r>
            <a:r>
              <a:rPr lang="en-US" sz="2200" dirty="0">
                <a:solidFill>
                  <a:srgbClr val="222F85"/>
                </a:solidFill>
                <a:latin typeface="Calibri" pitchFamily="34" charset="0"/>
                <a:ea typeface="Calibri" pitchFamily="34" charset="-122"/>
                <a:cs typeface="Calibri" pitchFamily="34" charset="-120"/>
              </a:rPr>
              <a:t> du </a:t>
            </a:r>
            <a:r>
              <a:rPr lang="en-US" sz="2200" dirty="0" err="1">
                <a:solidFill>
                  <a:srgbClr val="222F85"/>
                </a:solidFill>
                <a:latin typeface="Calibri" pitchFamily="34" charset="0"/>
                <a:ea typeface="Calibri" pitchFamily="34" charset="-122"/>
                <a:cs typeface="Calibri" pitchFamily="34" charset="-120"/>
              </a:rPr>
              <a:t>projet</a:t>
            </a:r>
            <a:r>
              <a:rPr lang="en-US" sz="2200" dirty="0">
                <a:solidFill>
                  <a:srgbClr val="222F85"/>
                </a:solidFill>
                <a:latin typeface="Calibri" pitchFamily="34" charset="0"/>
                <a:ea typeface="Calibri" pitchFamily="34" charset="-122"/>
                <a:cs typeface="Calibri" pitchFamily="34" charset="-120"/>
              </a:rPr>
              <a:t>. </a:t>
            </a:r>
          </a:p>
          <a:p>
            <a:r>
              <a:rPr lang="en-US" sz="2200" dirty="0" err="1">
                <a:solidFill>
                  <a:srgbClr val="222F85"/>
                </a:solidFill>
                <a:latin typeface="Calibri" pitchFamily="34" charset="0"/>
                <a:ea typeface="Calibri" pitchFamily="34" charset="-122"/>
                <a:cs typeface="Calibri" pitchFamily="34" charset="-120"/>
              </a:rPr>
              <a:t>Synthèse</a:t>
            </a:r>
            <a:r>
              <a:rPr lang="en-US" sz="2200" dirty="0">
                <a:solidFill>
                  <a:srgbClr val="222F85"/>
                </a:solidFill>
                <a:latin typeface="Calibri" pitchFamily="34" charset="0"/>
                <a:ea typeface="Calibri" pitchFamily="34" charset="-122"/>
                <a:cs typeface="Calibri" pitchFamily="34" charset="-120"/>
              </a:rPr>
              <a:t> des données </a:t>
            </a:r>
            <a:r>
              <a:rPr lang="en-US" sz="2200" dirty="0" err="1">
                <a:solidFill>
                  <a:srgbClr val="222F85"/>
                </a:solidFill>
                <a:latin typeface="Calibri" pitchFamily="34" charset="0"/>
                <a:ea typeface="Calibri" pitchFamily="34" charset="-122"/>
                <a:cs typeface="Calibri" pitchFamily="34" charset="-120"/>
              </a:rPr>
              <a:t>collectées</a:t>
            </a:r>
            <a:r>
              <a:rPr lang="en-US" sz="2200" dirty="0">
                <a:solidFill>
                  <a:srgbClr val="222F85"/>
                </a:solidFill>
                <a:latin typeface="Calibri" pitchFamily="34" charset="0"/>
                <a:ea typeface="Calibri" pitchFamily="34" charset="-122"/>
                <a:cs typeface="Calibri" pitchFamily="34" charset="-120"/>
              </a:rPr>
              <a:t> et des analyses </a:t>
            </a:r>
            <a:r>
              <a:rPr lang="en-US" sz="2200" dirty="0" err="1">
                <a:solidFill>
                  <a:srgbClr val="222F85"/>
                </a:solidFill>
                <a:latin typeface="Calibri" pitchFamily="34" charset="0"/>
                <a:ea typeface="Calibri" pitchFamily="34" charset="-122"/>
                <a:cs typeface="Calibri" pitchFamily="34" charset="-120"/>
              </a:rPr>
              <a:t>préliminaires</a:t>
            </a:r>
            <a:r>
              <a:rPr lang="en-US" sz="2200" dirty="0">
                <a:solidFill>
                  <a:srgbClr val="222F85"/>
                </a:solidFill>
                <a:latin typeface="Calibri" pitchFamily="34" charset="0"/>
                <a:ea typeface="Calibri" pitchFamily="34" charset="-122"/>
                <a:cs typeface="Calibri" pitchFamily="34" charset="-120"/>
              </a:rPr>
              <a:t>.</a:t>
            </a:r>
            <a:endParaRPr lang="en-US" sz="2200" dirty="0">
              <a:solidFill>
                <a:srgbClr val="222F85"/>
              </a:solidFill>
            </a:endParaRPr>
          </a:p>
        </p:txBody>
      </p:sp>
      <p:sp>
        <p:nvSpPr>
          <p:cNvPr id="10" name="Shape 8"/>
          <p:cNvSpPr/>
          <p:nvPr/>
        </p:nvSpPr>
        <p:spPr>
          <a:xfrm>
            <a:off x="731520" y="4782462"/>
            <a:ext cx="16824960" cy="2103120"/>
          </a:xfrm>
          <a:prstGeom prst="rect">
            <a:avLst/>
          </a:prstGeom>
          <a:solidFill>
            <a:srgbClr val="FFE393"/>
          </a:solidFill>
          <a:ln w="6350">
            <a:solidFill>
              <a:srgbClr val="9DC3D4"/>
            </a:solidFill>
            <a:prstDash val="solid"/>
          </a:ln>
        </p:spPr>
        <p:txBody>
          <a:bodyPr/>
          <a:lstStyle/>
          <a:p>
            <a:endParaRPr lang="fr-FR" sz="3600"/>
          </a:p>
        </p:txBody>
      </p:sp>
      <p:sp>
        <p:nvSpPr>
          <p:cNvPr id="11" name="Shape 9"/>
          <p:cNvSpPr/>
          <p:nvPr/>
        </p:nvSpPr>
        <p:spPr>
          <a:xfrm>
            <a:off x="914400" y="5148222"/>
            <a:ext cx="1280160" cy="1280160"/>
          </a:xfrm>
          <a:prstGeom prst="ellipse">
            <a:avLst/>
          </a:prstGeom>
          <a:solidFill>
            <a:srgbClr val="222F85"/>
          </a:solidFill>
          <a:ln w="12700">
            <a:solidFill>
              <a:srgbClr val="F7A400"/>
            </a:solidFill>
            <a:prstDash val="solid"/>
          </a:ln>
        </p:spPr>
        <p:txBody>
          <a:bodyPr/>
          <a:lstStyle/>
          <a:p>
            <a:endParaRPr lang="fr-FR" sz="3600">
              <a:solidFill>
                <a:schemeClr val="bg1"/>
              </a:solidFill>
            </a:endParaRPr>
          </a:p>
        </p:txBody>
      </p:sp>
      <p:sp>
        <p:nvSpPr>
          <p:cNvPr id="12" name="Text 10"/>
          <p:cNvSpPr/>
          <p:nvPr/>
        </p:nvSpPr>
        <p:spPr>
          <a:xfrm>
            <a:off x="914400" y="5148222"/>
            <a:ext cx="1280160" cy="1280160"/>
          </a:xfrm>
          <a:prstGeom prst="rect">
            <a:avLst/>
          </a:prstGeom>
          <a:noFill/>
          <a:ln/>
        </p:spPr>
        <p:txBody>
          <a:bodyPr wrap="square" lIns="0" tIns="0" rIns="0" bIns="0" rtlCol="0" anchor="ctr"/>
          <a:lstStyle/>
          <a:p>
            <a:pPr algn="ctr"/>
            <a:r>
              <a:rPr lang="en-US" sz="3200" b="1" dirty="0">
                <a:solidFill>
                  <a:schemeClr val="bg1"/>
                </a:solidFill>
                <a:latin typeface="Calibri" pitchFamily="34" charset="0"/>
                <a:ea typeface="Calibri" pitchFamily="34" charset="-122"/>
                <a:cs typeface="Calibri" pitchFamily="34" charset="-120"/>
              </a:rPr>
              <a:t>2</a:t>
            </a:r>
            <a:endParaRPr lang="en-US" sz="3200" dirty="0">
              <a:solidFill>
                <a:schemeClr val="bg1"/>
              </a:solidFill>
            </a:endParaRPr>
          </a:p>
        </p:txBody>
      </p:sp>
      <p:sp>
        <p:nvSpPr>
          <p:cNvPr id="13" name="Text 11"/>
          <p:cNvSpPr/>
          <p:nvPr/>
        </p:nvSpPr>
        <p:spPr>
          <a:xfrm>
            <a:off x="2560320" y="4928766"/>
            <a:ext cx="14264640" cy="822960"/>
          </a:xfrm>
          <a:prstGeom prst="rect">
            <a:avLst/>
          </a:prstGeom>
          <a:noFill/>
          <a:ln/>
        </p:spPr>
        <p:txBody>
          <a:bodyPr wrap="square" lIns="0" tIns="0" rIns="0" bIns="0" rtlCol="0" anchor="ctr"/>
          <a:lstStyle/>
          <a:p>
            <a:r>
              <a:rPr lang="en-US" sz="3000" b="1" dirty="0">
                <a:solidFill>
                  <a:srgbClr val="FFFFFF"/>
                </a:solidFill>
                <a:latin typeface="Calibri" pitchFamily="34" charset="0"/>
                <a:ea typeface="Calibri" pitchFamily="34" charset="-122"/>
                <a:cs typeface="Calibri" pitchFamily="34" charset="-120"/>
              </a:rPr>
              <a:t>Échanges techniques entre partenaires</a:t>
            </a:r>
            <a:endParaRPr lang="en-US" sz="3000" dirty="0"/>
          </a:p>
        </p:txBody>
      </p:sp>
      <p:sp>
        <p:nvSpPr>
          <p:cNvPr id="14" name="Text 12"/>
          <p:cNvSpPr/>
          <p:nvPr/>
        </p:nvSpPr>
        <p:spPr>
          <a:xfrm>
            <a:off x="2560320" y="5751726"/>
            <a:ext cx="14264640" cy="1005840"/>
          </a:xfrm>
          <a:prstGeom prst="rect">
            <a:avLst/>
          </a:prstGeom>
          <a:noFill/>
          <a:ln/>
        </p:spPr>
        <p:txBody>
          <a:bodyPr wrap="square" lIns="0" tIns="0" rIns="0" bIns="0" rtlCol="0" anchor="ctr"/>
          <a:lstStyle/>
          <a:p>
            <a:r>
              <a:rPr lang="en-US" sz="2200" dirty="0">
                <a:solidFill>
                  <a:srgbClr val="222F85"/>
                </a:solidFill>
                <a:latin typeface="Calibri" pitchFamily="34" charset="0"/>
                <a:cs typeface="Calibri" pitchFamily="34" charset="-120"/>
              </a:rPr>
              <a:t>Sessions de travail dédiées aux aspects techniques du projet. </a:t>
            </a:r>
          </a:p>
          <a:p>
            <a:r>
              <a:rPr lang="en-US" sz="2200" dirty="0">
                <a:solidFill>
                  <a:srgbClr val="222F85"/>
                </a:solidFill>
                <a:latin typeface="Calibri" pitchFamily="34" charset="0"/>
                <a:cs typeface="Calibri" pitchFamily="34" charset="-120"/>
              </a:rPr>
              <a:t>Identification des synergies et résolution collaborative des défis </a:t>
            </a:r>
            <a:r>
              <a:rPr lang="en-US" sz="2200" dirty="0" err="1">
                <a:solidFill>
                  <a:srgbClr val="222F85"/>
                </a:solidFill>
                <a:latin typeface="Calibri" pitchFamily="34" charset="0"/>
                <a:cs typeface="Calibri" pitchFamily="34" charset="-120"/>
              </a:rPr>
              <a:t>rencontrés</a:t>
            </a:r>
            <a:r>
              <a:rPr lang="en-US" sz="2200" dirty="0">
                <a:solidFill>
                  <a:srgbClr val="222F85"/>
                </a:solidFill>
                <a:latin typeface="Calibri" pitchFamily="34" charset="0"/>
                <a:cs typeface="Calibri" pitchFamily="34" charset="-120"/>
              </a:rPr>
              <a:t>.</a:t>
            </a:r>
          </a:p>
        </p:txBody>
      </p:sp>
      <p:sp>
        <p:nvSpPr>
          <p:cNvPr id="15" name="Shape 13"/>
          <p:cNvSpPr/>
          <p:nvPr/>
        </p:nvSpPr>
        <p:spPr>
          <a:xfrm>
            <a:off x="731520" y="7251342"/>
            <a:ext cx="16824960" cy="2103120"/>
          </a:xfrm>
          <a:prstGeom prst="rect">
            <a:avLst/>
          </a:prstGeom>
          <a:solidFill>
            <a:srgbClr val="FFE393"/>
          </a:solidFill>
          <a:ln w="6350">
            <a:solidFill>
              <a:srgbClr val="9DC3D4"/>
            </a:solidFill>
            <a:prstDash val="solid"/>
          </a:ln>
        </p:spPr>
        <p:txBody>
          <a:bodyPr/>
          <a:lstStyle/>
          <a:p>
            <a:endParaRPr lang="fr-FR" sz="3600"/>
          </a:p>
        </p:txBody>
      </p:sp>
      <p:sp>
        <p:nvSpPr>
          <p:cNvPr id="16" name="Shape 14"/>
          <p:cNvSpPr/>
          <p:nvPr/>
        </p:nvSpPr>
        <p:spPr>
          <a:xfrm>
            <a:off x="914400" y="7617102"/>
            <a:ext cx="1280160" cy="1280160"/>
          </a:xfrm>
          <a:prstGeom prst="ellipse">
            <a:avLst/>
          </a:prstGeom>
          <a:solidFill>
            <a:srgbClr val="222F85"/>
          </a:solidFill>
          <a:ln w="12700">
            <a:solidFill>
              <a:srgbClr val="F7A400"/>
            </a:solidFill>
            <a:prstDash val="solid"/>
          </a:ln>
        </p:spPr>
        <p:txBody>
          <a:bodyPr/>
          <a:lstStyle/>
          <a:p>
            <a:endParaRPr lang="fr-FR" sz="3600">
              <a:solidFill>
                <a:schemeClr val="bg1"/>
              </a:solidFill>
            </a:endParaRPr>
          </a:p>
        </p:txBody>
      </p:sp>
      <p:sp>
        <p:nvSpPr>
          <p:cNvPr id="17" name="Text 15"/>
          <p:cNvSpPr/>
          <p:nvPr/>
        </p:nvSpPr>
        <p:spPr>
          <a:xfrm>
            <a:off x="914400" y="7617102"/>
            <a:ext cx="1280160" cy="1280160"/>
          </a:xfrm>
          <a:prstGeom prst="rect">
            <a:avLst/>
          </a:prstGeom>
          <a:noFill/>
          <a:ln/>
        </p:spPr>
        <p:txBody>
          <a:bodyPr wrap="square" lIns="0" tIns="0" rIns="0" bIns="0" rtlCol="0" anchor="ctr"/>
          <a:lstStyle/>
          <a:p>
            <a:pPr algn="ctr"/>
            <a:r>
              <a:rPr lang="en-US" sz="3200" b="1" dirty="0">
                <a:solidFill>
                  <a:schemeClr val="bg1"/>
                </a:solidFill>
                <a:latin typeface="Calibri" pitchFamily="34" charset="0"/>
                <a:ea typeface="Calibri" pitchFamily="34" charset="-122"/>
                <a:cs typeface="Calibri" pitchFamily="34" charset="-120"/>
              </a:rPr>
              <a:t>3</a:t>
            </a:r>
            <a:endParaRPr lang="en-US" sz="3200" dirty="0">
              <a:solidFill>
                <a:schemeClr val="bg1"/>
              </a:solidFill>
            </a:endParaRPr>
          </a:p>
        </p:txBody>
      </p:sp>
      <p:sp>
        <p:nvSpPr>
          <p:cNvPr id="18" name="Text 16"/>
          <p:cNvSpPr/>
          <p:nvPr/>
        </p:nvSpPr>
        <p:spPr>
          <a:xfrm>
            <a:off x="2560320" y="7397646"/>
            <a:ext cx="14264640" cy="822960"/>
          </a:xfrm>
          <a:prstGeom prst="rect">
            <a:avLst/>
          </a:prstGeom>
          <a:noFill/>
          <a:ln/>
        </p:spPr>
        <p:txBody>
          <a:bodyPr wrap="square" lIns="0" tIns="0" rIns="0" bIns="0" rtlCol="0" anchor="ctr"/>
          <a:lstStyle/>
          <a:p>
            <a:r>
              <a:rPr lang="en-US" sz="3000" b="1" dirty="0">
                <a:solidFill>
                  <a:srgbClr val="FFFFFF"/>
                </a:solidFill>
                <a:latin typeface="Calibri" pitchFamily="34" charset="0"/>
                <a:ea typeface="Calibri" pitchFamily="34" charset="-122"/>
                <a:cs typeface="Calibri" pitchFamily="34" charset="-120"/>
              </a:rPr>
              <a:t>Partage d'expériences et discussions scientifiques</a:t>
            </a:r>
            <a:endParaRPr lang="en-US" sz="3000" dirty="0"/>
          </a:p>
        </p:txBody>
      </p:sp>
      <p:sp>
        <p:nvSpPr>
          <p:cNvPr id="19" name="Text 17"/>
          <p:cNvSpPr/>
          <p:nvPr/>
        </p:nvSpPr>
        <p:spPr>
          <a:xfrm>
            <a:off x="2560320" y="8220606"/>
            <a:ext cx="14264640" cy="1005840"/>
          </a:xfrm>
          <a:prstGeom prst="rect">
            <a:avLst/>
          </a:prstGeom>
          <a:noFill/>
          <a:ln/>
        </p:spPr>
        <p:txBody>
          <a:bodyPr wrap="square" lIns="0" tIns="0" rIns="0" bIns="0" rtlCol="0" anchor="ctr"/>
          <a:lstStyle/>
          <a:p>
            <a:r>
              <a:rPr lang="en-US" sz="2200" dirty="0">
                <a:solidFill>
                  <a:srgbClr val="222F85"/>
                </a:solidFill>
                <a:latin typeface="Calibri" pitchFamily="34" charset="0"/>
                <a:cs typeface="Calibri" pitchFamily="34" charset="-120"/>
              </a:rPr>
              <a:t>Forum ouvert pour le partage des retours d'expérience entre équipes. </a:t>
            </a:r>
          </a:p>
          <a:p>
            <a:r>
              <a:rPr lang="en-US" sz="2200" dirty="0">
                <a:solidFill>
                  <a:srgbClr val="222F85"/>
                </a:solidFill>
                <a:latin typeface="Calibri" pitchFamily="34" charset="0"/>
                <a:cs typeface="Calibri" pitchFamily="34" charset="-120"/>
              </a:rPr>
              <a:t>Discussions autour des publications, méthodologies et orientations futures.</a:t>
            </a:r>
          </a:p>
        </p:txBody>
      </p:sp>
      <p:sp>
        <p:nvSpPr>
          <p:cNvPr id="21" name="Text 19"/>
          <p:cNvSpPr/>
          <p:nvPr/>
        </p:nvSpPr>
        <p:spPr>
          <a:xfrm>
            <a:off x="914400" y="9692640"/>
            <a:ext cx="16459200" cy="594360"/>
          </a:xfrm>
          <a:prstGeom prst="rect">
            <a:avLst/>
          </a:prstGeom>
          <a:noFill/>
          <a:ln/>
        </p:spPr>
        <p:txBody>
          <a:bodyPr wrap="square" lIns="0" tIns="0" rIns="0" bIns="0" rtlCol="0" anchor="ctr"/>
          <a:lstStyle/>
          <a:p>
            <a:r>
              <a:rPr lang="en-US" sz="2000" dirty="0">
                <a:solidFill>
                  <a:srgbClr val="FFFFFF"/>
                </a:solidFill>
                <a:latin typeface="Calibri" pitchFamily="34" charset="0"/>
                <a:ea typeface="Calibri" pitchFamily="34" charset="-122"/>
                <a:cs typeface="Calibri" pitchFamily="34" charset="-120"/>
              </a:rPr>
              <a:t>Événement Partenaires — Octobre 2026</a:t>
            </a:r>
            <a:endParaRPr lang="en-US" sz="2000" dirty="0"/>
          </a:p>
        </p:txBody>
      </p:sp>
      <p:sp>
        <p:nvSpPr>
          <p:cNvPr id="22" name="Freeform 17">
            <a:extLst>
              <a:ext uri="{FF2B5EF4-FFF2-40B4-BE49-F238E27FC236}">
                <a16:creationId xmlns:a16="http://schemas.microsoft.com/office/drawing/2014/main" id="{F5F0D7DE-13E8-6985-0724-6B34FA58CBF8}"/>
              </a:ext>
            </a:extLst>
          </p:cNvPr>
          <p:cNvSpPr/>
          <p:nvPr/>
        </p:nvSpPr>
        <p:spPr>
          <a:xfrm>
            <a:off x="14536823" y="9473184"/>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45E3C-0EAA-09F2-A853-4DABD6E82E0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206E719-1075-BC9B-8A74-17BE3BC5FCDC}"/>
              </a:ext>
            </a:extLst>
          </p:cNvPr>
          <p:cNvGrpSpPr/>
          <p:nvPr/>
        </p:nvGrpSpPr>
        <p:grpSpPr>
          <a:xfrm>
            <a:off x="4236594" y="225390"/>
            <a:ext cx="12725400" cy="5688687"/>
            <a:chOff x="-6988402" y="-3103079"/>
            <a:chExt cx="15477951" cy="7584914"/>
          </a:xfrm>
        </p:grpSpPr>
        <p:sp>
          <p:nvSpPr>
            <p:cNvPr id="3" name="TextBox 3">
              <a:extLst>
                <a:ext uri="{FF2B5EF4-FFF2-40B4-BE49-F238E27FC236}">
                  <a16:creationId xmlns:a16="http://schemas.microsoft.com/office/drawing/2014/main" id="{D21A886A-518B-A317-4E22-B433A7EA083D}"/>
                </a:ext>
              </a:extLst>
            </p:cNvPr>
            <p:cNvSpPr txBox="1"/>
            <p:nvPr/>
          </p:nvSpPr>
          <p:spPr>
            <a:xfrm>
              <a:off x="-6988402" y="-3103079"/>
              <a:ext cx="15477951" cy="1107996"/>
            </a:xfrm>
            <a:prstGeom prst="rect">
              <a:avLst/>
            </a:prstGeom>
          </p:spPr>
          <p:txBody>
            <a:bodyPr wrap="square" lIns="0" tIns="0" rIns="0" bIns="0" rtlCol="0" anchor="t">
              <a:spAutoFit/>
            </a:bodyPr>
            <a:lstStyle/>
            <a:p>
              <a:pPr algn="r"/>
              <a:r>
                <a:rPr lang="en-US" sz="5400" b="1" dirty="0">
                  <a:solidFill>
                    <a:srgbClr val="243186"/>
                  </a:solidFill>
                  <a:latin typeface="Calibri" pitchFamily="34" charset="0"/>
                  <a:ea typeface="Calibri" pitchFamily="34" charset="-122"/>
                  <a:cs typeface="Calibri" pitchFamily="34" charset="-120"/>
                </a:rPr>
                <a:t>Zone </a:t>
              </a:r>
              <a:r>
                <a:rPr lang="en-US" sz="5400" b="1" dirty="0" err="1">
                  <a:solidFill>
                    <a:srgbClr val="243186"/>
                  </a:solidFill>
                  <a:latin typeface="Calibri" pitchFamily="34" charset="0"/>
                  <a:ea typeface="Calibri" pitchFamily="34" charset="-122"/>
                  <a:cs typeface="Calibri" pitchFamily="34" charset="-120"/>
                </a:rPr>
                <a:t>d’installation</a:t>
              </a:r>
              <a:r>
                <a:rPr lang="en-US" sz="5400" b="1" dirty="0">
                  <a:solidFill>
                    <a:srgbClr val="243186"/>
                  </a:solidFill>
                  <a:latin typeface="Calibri" pitchFamily="34" charset="0"/>
                  <a:ea typeface="Calibri" pitchFamily="34" charset="-122"/>
                  <a:cs typeface="Calibri" pitchFamily="34" charset="-120"/>
                </a:rPr>
                <a:t> </a:t>
              </a:r>
              <a:r>
                <a:rPr lang="en-US" sz="5400" b="1" dirty="0" err="1">
                  <a:solidFill>
                    <a:srgbClr val="243186"/>
                  </a:solidFill>
                  <a:latin typeface="Calibri" pitchFamily="34" charset="0"/>
                  <a:ea typeface="Calibri" pitchFamily="34" charset="-122"/>
                  <a:cs typeface="Calibri" pitchFamily="34" charset="-120"/>
                </a:rPr>
                <a:t>prévue</a:t>
              </a:r>
              <a:endParaRPr lang="en-US" sz="5400" dirty="0">
                <a:solidFill>
                  <a:srgbClr val="243186"/>
                </a:solidFill>
              </a:endParaRPr>
            </a:p>
          </p:txBody>
        </p:sp>
        <p:sp>
          <p:nvSpPr>
            <p:cNvPr id="4" name="Freeform 4">
              <a:extLst>
                <a:ext uri="{FF2B5EF4-FFF2-40B4-BE49-F238E27FC236}">
                  <a16:creationId xmlns:a16="http://schemas.microsoft.com/office/drawing/2014/main" id="{DA01455A-070F-DCCC-EAFA-BD8A405CC6BC}"/>
                </a:ext>
              </a:extLst>
            </p:cNvPr>
            <p:cNvSpPr/>
            <p:nvPr/>
          </p:nvSpPr>
          <p:spPr>
            <a:xfrm>
              <a:off x="0" y="4098662"/>
              <a:ext cx="5184770" cy="383173"/>
            </a:xfrm>
            <a:custGeom>
              <a:avLst/>
              <a:gdLst/>
              <a:ahLst/>
              <a:cxnLst/>
              <a:rect l="l" t="t" r="r" b="b"/>
              <a:pathLst>
                <a:path w="5184770" h="383173">
                  <a:moveTo>
                    <a:pt x="0" y="0"/>
                  </a:moveTo>
                  <a:lnTo>
                    <a:pt x="5184770" y="0"/>
                  </a:lnTo>
                  <a:lnTo>
                    <a:pt x="5184770" y="383172"/>
                  </a:lnTo>
                  <a:lnTo>
                    <a:pt x="0" y="383172"/>
                  </a:lnTo>
                  <a:lnTo>
                    <a:pt x="0" y="0"/>
                  </a:lnTo>
                  <a:close/>
                </a:path>
              </a:pathLst>
            </a:custGeom>
            <a:blipFill>
              <a:blip>
                <a:extLst>
                  <a:ext uri="{96DAC541-7B7A-43D3-8B79-37D633B846F1}">
                    <asvg:svgBlip xmlns:asvg="http://schemas.microsoft.com/office/drawing/2016/SVG/main" r:embed="rId2"/>
                  </a:ext>
                </a:extLst>
              </a:blip>
              <a:stretch>
                <a:fillRect l="-171" t="-308623" r="-7088" b="-1042730"/>
              </a:stretch>
            </a:blipFill>
          </p:spPr>
          <p:txBody>
            <a:bodyPr/>
            <a:lstStyle/>
            <a:p>
              <a:endParaRPr lang="en-US"/>
            </a:p>
          </p:txBody>
        </p:sp>
      </p:grpSp>
      <p:sp>
        <p:nvSpPr>
          <p:cNvPr id="6" name="AutoShape 2" descr="Modern workspace with project timeline">
            <a:extLst>
              <a:ext uri="{FF2B5EF4-FFF2-40B4-BE49-F238E27FC236}">
                <a16:creationId xmlns:a16="http://schemas.microsoft.com/office/drawing/2014/main" id="{82F014D5-E6F0-E661-C082-BD91DA9E6DF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5" name="Group 5">
            <a:extLst>
              <a:ext uri="{FF2B5EF4-FFF2-40B4-BE49-F238E27FC236}">
                <a16:creationId xmlns:a16="http://schemas.microsoft.com/office/drawing/2014/main" id="{8C1F9ED8-41BC-D4A9-531B-05A0A6A8EAAB}"/>
              </a:ext>
            </a:extLst>
          </p:cNvPr>
          <p:cNvGrpSpPr/>
          <p:nvPr/>
        </p:nvGrpSpPr>
        <p:grpSpPr>
          <a:xfrm rot="5400000">
            <a:off x="-2133058" y="761998"/>
            <a:ext cx="12724316" cy="8458202"/>
            <a:chOff x="-1" y="0"/>
            <a:chExt cx="16965754" cy="8481599"/>
          </a:xfrm>
        </p:grpSpPr>
        <p:sp>
          <p:nvSpPr>
            <p:cNvPr id="7" name="Freeform 6">
              <a:extLst>
                <a:ext uri="{FF2B5EF4-FFF2-40B4-BE49-F238E27FC236}">
                  <a16:creationId xmlns:a16="http://schemas.microsoft.com/office/drawing/2014/main" id="{3D5E4A31-5876-CC8A-BC0F-897F68C7524E}"/>
                </a:ext>
              </a:extLst>
            </p:cNvPr>
            <p:cNvSpPr/>
            <p:nvPr/>
          </p:nvSpPr>
          <p:spPr>
            <a:xfrm rot="-5400000">
              <a:off x="8480553"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9" name="Freeform 7">
              <a:extLst>
                <a:ext uri="{FF2B5EF4-FFF2-40B4-BE49-F238E27FC236}">
                  <a16:creationId xmlns:a16="http://schemas.microsoft.com/office/drawing/2014/main" id="{71176BA6-9FCE-58B4-10AF-18C802577E77}"/>
                </a:ext>
              </a:extLst>
            </p:cNvPr>
            <p:cNvSpPr/>
            <p:nvPr/>
          </p:nvSpPr>
          <p:spPr>
            <a:xfrm rot="16200000">
              <a:off x="3602" y="-3602"/>
              <a:ext cx="8481598" cy="8488803"/>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dirty="0"/>
            </a:p>
          </p:txBody>
        </p:sp>
      </p:grpSp>
      <p:sp>
        <p:nvSpPr>
          <p:cNvPr id="10" name="Freeform 17">
            <a:extLst>
              <a:ext uri="{FF2B5EF4-FFF2-40B4-BE49-F238E27FC236}">
                <a16:creationId xmlns:a16="http://schemas.microsoft.com/office/drawing/2014/main" id="{5CE02FF6-60C3-ADCB-EFAE-AAEEC00721E6}"/>
              </a:ext>
            </a:extLst>
          </p:cNvPr>
          <p:cNvSpPr/>
          <p:nvPr/>
        </p:nvSpPr>
        <p:spPr>
          <a:xfrm>
            <a:off x="14244927" y="9273475"/>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4"/>
            <a:stretch>
              <a:fillRect/>
            </a:stretch>
          </a:blipFill>
        </p:spPr>
        <p:txBody>
          <a:bodyPr/>
          <a:lstStyle/>
          <a:p>
            <a:endParaRPr lang="en-US"/>
          </a:p>
        </p:txBody>
      </p:sp>
      <p:pic>
        <p:nvPicPr>
          <p:cNvPr id="12" name="Image 11">
            <a:extLst>
              <a:ext uri="{FF2B5EF4-FFF2-40B4-BE49-F238E27FC236}">
                <a16:creationId xmlns:a16="http://schemas.microsoft.com/office/drawing/2014/main" id="{D30D4AE9-2741-E208-A7F6-B56697CA0D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19400" y="1585912"/>
            <a:ext cx="12725400" cy="7158038"/>
          </a:xfrm>
          <a:prstGeom prst="rect">
            <a:avLst/>
          </a:prstGeom>
        </p:spPr>
      </p:pic>
    </p:spTree>
    <p:extLst>
      <p:ext uri="{BB962C8B-B14F-4D97-AF65-F5344CB8AC3E}">
        <p14:creationId xmlns:p14="http://schemas.microsoft.com/office/powerpoint/2010/main" val="3552823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0CBB1-AC2F-9C57-607A-16478442C94E}"/>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5F84A94-D2BE-4353-4CE2-1C4009B6D8A7}"/>
              </a:ext>
            </a:extLst>
          </p:cNvPr>
          <p:cNvGrpSpPr/>
          <p:nvPr/>
        </p:nvGrpSpPr>
        <p:grpSpPr>
          <a:xfrm rot="5400000">
            <a:off x="-2285458" y="647157"/>
            <a:ext cx="12724316" cy="8458202"/>
            <a:chOff x="-1" y="0"/>
            <a:chExt cx="16965754" cy="8481599"/>
          </a:xfrm>
        </p:grpSpPr>
        <p:sp>
          <p:nvSpPr>
            <p:cNvPr id="7" name="Freeform 6">
              <a:extLst>
                <a:ext uri="{FF2B5EF4-FFF2-40B4-BE49-F238E27FC236}">
                  <a16:creationId xmlns:a16="http://schemas.microsoft.com/office/drawing/2014/main" id="{A7012201-D999-6D13-3F3F-D1F3696B6CB3}"/>
                </a:ext>
              </a:extLst>
            </p:cNvPr>
            <p:cNvSpPr/>
            <p:nvPr/>
          </p:nvSpPr>
          <p:spPr>
            <a:xfrm rot="-5400000">
              <a:off x="8480553"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2"/>
                  </a:ext>
                </a:extLst>
              </a:blip>
              <a:stretch>
                <a:fillRect l="-50" r="-34"/>
              </a:stretch>
            </a:blipFill>
          </p:spPr>
          <p:txBody>
            <a:bodyPr/>
            <a:lstStyle/>
            <a:p>
              <a:endParaRPr lang="en-US"/>
            </a:p>
          </p:txBody>
        </p:sp>
        <p:sp>
          <p:nvSpPr>
            <p:cNvPr id="9" name="Freeform 7">
              <a:extLst>
                <a:ext uri="{FF2B5EF4-FFF2-40B4-BE49-F238E27FC236}">
                  <a16:creationId xmlns:a16="http://schemas.microsoft.com/office/drawing/2014/main" id="{F5AD0CF2-9D79-DB12-019D-5557E0174967}"/>
                </a:ext>
              </a:extLst>
            </p:cNvPr>
            <p:cNvSpPr/>
            <p:nvPr/>
          </p:nvSpPr>
          <p:spPr>
            <a:xfrm rot="16200000">
              <a:off x="3602" y="-3602"/>
              <a:ext cx="8481598" cy="8488803"/>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2"/>
                  </a:ext>
                </a:extLst>
              </a:blip>
              <a:stretch>
                <a:fillRect l="-50" r="-34"/>
              </a:stretch>
            </a:blipFill>
          </p:spPr>
          <p:txBody>
            <a:bodyPr/>
            <a:lstStyle/>
            <a:p>
              <a:endParaRPr lang="en-US" dirty="0"/>
            </a:p>
          </p:txBody>
        </p:sp>
      </p:grpSp>
      <p:grpSp>
        <p:nvGrpSpPr>
          <p:cNvPr id="2" name="Group 2">
            <a:extLst>
              <a:ext uri="{FF2B5EF4-FFF2-40B4-BE49-F238E27FC236}">
                <a16:creationId xmlns:a16="http://schemas.microsoft.com/office/drawing/2014/main" id="{1CFEB2C8-3721-2BC0-F12E-3D00FFD165D1}"/>
              </a:ext>
            </a:extLst>
          </p:cNvPr>
          <p:cNvGrpSpPr/>
          <p:nvPr/>
        </p:nvGrpSpPr>
        <p:grpSpPr>
          <a:xfrm>
            <a:off x="1676400" y="123553"/>
            <a:ext cx="17297400" cy="5790524"/>
            <a:chOff x="-10102374" y="-3238862"/>
            <a:chExt cx="21038891" cy="7720697"/>
          </a:xfrm>
        </p:grpSpPr>
        <p:sp>
          <p:nvSpPr>
            <p:cNvPr id="4" name="Freeform 4">
              <a:extLst>
                <a:ext uri="{FF2B5EF4-FFF2-40B4-BE49-F238E27FC236}">
                  <a16:creationId xmlns:a16="http://schemas.microsoft.com/office/drawing/2014/main" id="{97215BE1-59F3-7E0A-1CF7-D590AFC6322D}"/>
                </a:ext>
              </a:extLst>
            </p:cNvPr>
            <p:cNvSpPr/>
            <p:nvPr/>
          </p:nvSpPr>
          <p:spPr>
            <a:xfrm>
              <a:off x="0" y="4098662"/>
              <a:ext cx="5184770" cy="383173"/>
            </a:xfrm>
            <a:custGeom>
              <a:avLst/>
              <a:gdLst/>
              <a:ahLst/>
              <a:cxnLst/>
              <a:rect l="l" t="t" r="r" b="b"/>
              <a:pathLst>
                <a:path w="5184770" h="383173">
                  <a:moveTo>
                    <a:pt x="0" y="0"/>
                  </a:moveTo>
                  <a:lnTo>
                    <a:pt x="5184770" y="0"/>
                  </a:lnTo>
                  <a:lnTo>
                    <a:pt x="5184770" y="383172"/>
                  </a:lnTo>
                  <a:lnTo>
                    <a:pt x="0" y="383172"/>
                  </a:lnTo>
                  <a:lnTo>
                    <a:pt x="0" y="0"/>
                  </a:lnTo>
                  <a:close/>
                </a:path>
              </a:pathLst>
            </a:custGeom>
            <a:blipFill>
              <a:blip>
                <a:extLst>
                  <a:ext uri="{96DAC541-7B7A-43D3-8B79-37D633B846F1}">
                    <asvg:svgBlip xmlns:asvg="http://schemas.microsoft.com/office/drawing/2016/SVG/main" r:embed="rId3"/>
                  </a:ext>
                </a:extLst>
              </a:blip>
              <a:stretch>
                <a:fillRect l="-171" t="-308623" r="-7088" b="-1042730"/>
              </a:stretch>
            </a:blipFill>
          </p:spPr>
          <p:txBody>
            <a:bodyPr/>
            <a:lstStyle/>
            <a:p>
              <a:endParaRPr lang="en-US"/>
            </a:p>
          </p:txBody>
        </p:sp>
        <p:sp>
          <p:nvSpPr>
            <p:cNvPr id="3" name="TextBox 3">
              <a:extLst>
                <a:ext uri="{FF2B5EF4-FFF2-40B4-BE49-F238E27FC236}">
                  <a16:creationId xmlns:a16="http://schemas.microsoft.com/office/drawing/2014/main" id="{22304BBC-CEE5-2C07-247C-D9DA3A4CCD13}"/>
                </a:ext>
              </a:extLst>
            </p:cNvPr>
            <p:cNvSpPr txBox="1"/>
            <p:nvPr/>
          </p:nvSpPr>
          <p:spPr>
            <a:xfrm>
              <a:off x="-10102374" y="-3238862"/>
              <a:ext cx="21038891" cy="1107996"/>
            </a:xfrm>
            <a:prstGeom prst="rect">
              <a:avLst/>
            </a:prstGeom>
          </p:spPr>
          <p:txBody>
            <a:bodyPr wrap="square" lIns="0" tIns="0" rIns="0" bIns="0" rtlCol="0" anchor="t">
              <a:spAutoFit/>
            </a:bodyPr>
            <a:lstStyle/>
            <a:p>
              <a:r>
                <a:rPr lang="fr-FR" sz="5400" b="1" dirty="0">
                  <a:solidFill>
                    <a:srgbClr val="243186"/>
                  </a:solidFill>
                  <a:latin typeface="Calibri" pitchFamily="34" charset="0"/>
                  <a:ea typeface="Calibri" pitchFamily="34" charset="-122"/>
                  <a:cs typeface="Calibri" pitchFamily="34" charset="-120"/>
                </a:rPr>
                <a:t>Projection de la chambre froide dans son environnement</a:t>
              </a:r>
              <a:endParaRPr lang="en-US" sz="5400" dirty="0">
                <a:solidFill>
                  <a:srgbClr val="243186"/>
                </a:solidFill>
              </a:endParaRPr>
            </a:p>
          </p:txBody>
        </p:sp>
      </p:grpSp>
      <p:sp>
        <p:nvSpPr>
          <p:cNvPr id="6" name="AutoShape 2" descr="Modern workspace with project timeline">
            <a:extLst>
              <a:ext uri="{FF2B5EF4-FFF2-40B4-BE49-F238E27FC236}">
                <a16:creationId xmlns:a16="http://schemas.microsoft.com/office/drawing/2014/main" id="{95DB9371-7A03-2D88-E0C6-C06EF21968E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0" name="Freeform 17">
            <a:extLst>
              <a:ext uri="{FF2B5EF4-FFF2-40B4-BE49-F238E27FC236}">
                <a16:creationId xmlns:a16="http://schemas.microsoft.com/office/drawing/2014/main" id="{B4DB24EF-426D-496D-C666-9E951A506A40}"/>
              </a:ext>
            </a:extLst>
          </p:cNvPr>
          <p:cNvSpPr/>
          <p:nvPr/>
        </p:nvSpPr>
        <p:spPr>
          <a:xfrm>
            <a:off x="14244927" y="9273475"/>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4"/>
            <a:stretch>
              <a:fillRect/>
            </a:stretch>
          </a:blipFill>
        </p:spPr>
        <p:txBody>
          <a:bodyPr/>
          <a:lstStyle/>
          <a:p>
            <a:endParaRPr lang="en-US"/>
          </a:p>
        </p:txBody>
      </p:sp>
      <p:pic>
        <p:nvPicPr>
          <p:cNvPr id="8" name="Image 7">
            <a:extLst>
              <a:ext uri="{FF2B5EF4-FFF2-40B4-BE49-F238E27FC236}">
                <a16:creationId xmlns:a16="http://schemas.microsoft.com/office/drawing/2014/main" id="{FEF03E74-4512-2402-0F00-EFBDA206F5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02470" y="1430657"/>
            <a:ext cx="11582400" cy="7721600"/>
          </a:xfrm>
          <a:prstGeom prst="rect">
            <a:avLst/>
          </a:prstGeom>
        </p:spPr>
      </p:pic>
    </p:spTree>
    <p:extLst>
      <p:ext uri="{BB962C8B-B14F-4D97-AF65-F5344CB8AC3E}">
        <p14:creationId xmlns:p14="http://schemas.microsoft.com/office/powerpoint/2010/main" val="1410874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BACAF-0731-FD72-6234-0689034ADE2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EC820E7-20E1-19EC-D4DA-E69463A3CE25}"/>
              </a:ext>
            </a:extLst>
          </p:cNvPr>
          <p:cNvGrpSpPr/>
          <p:nvPr/>
        </p:nvGrpSpPr>
        <p:grpSpPr>
          <a:xfrm>
            <a:off x="7391400" y="2609850"/>
            <a:ext cx="9105900" cy="3304227"/>
            <a:chOff x="-3151200" y="76200"/>
            <a:chExt cx="11075540" cy="4405635"/>
          </a:xfrm>
        </p:grpSpPr>
        <p:sp>
          <p:nvSpPr>
            <p:cNvPr id="3" name="TextBox 3">
              <a:extLst>
                <a:ext uri="{FF2B5EF4-FFF2-40B4-BE49-F238E27FC236}">
                  <a16:creationId xmlns:a16="http://schemas.microsoft.com/office/drawing/2014/main" id="{B7AA41F6-B178-F115-2066-BBE48B69B864}"/>
                </a:ext>
              </a:extLst>
            </p:cNvPr>
            <p:cNvSpPr txBox="1"/>
            <p:nvPr/>
          </p:nvSpPr>
          <p:spPr>
            <a:xfrm>
              <a:off x="-3151200" y="76200"/>
              <a:ext cx="11075540" cy="3611245"/>
            </a:xfrm>
            <a:prstGeom prst="rect">
              <a:avLst/>
            </a:prstGeom>
          </p:spPr>
          <p:txBody>
            <a:bodyPr wrap="square" lIns="0" tIns="0" rIns="0" bIns="0" rtlCol="0" anchor="t">
              <a:spAutoFit/>
            </a:bodyPr>
            <a:lstStyle/>
            <a:p>
              <a:r>
                <a:rPr lang="en-US" sz="8800" b="1" dirty="0">
                  <a:solidFill>
                    <a:srgbClr val="243186"/>
                  </a:solidFill>
                  <a:latin typeface="Calibri" pitchFamily="34" charset="0"/>
                  <a:ea typeface="Calibri" pitchFamily="34" charset="-122"/>
                  <a:cs typeface="Calibri" pitchFamily="34" charset="-120"/>
                </a:rPr>
                <a:t>Merci pour </a:t>
              </a:r>
              <a:r>
                <a:rPr lang="en-US" sz="8800" b="1" dirty="0" err="1">
                  <a:solidFill>
                    <a:srgbClr val="243186"/>
                  </a:solidFill>
                  <a:latin typeface="Calibri" pitchFamily="34" charset="0"/>
                  <a:ea typeface="Calibri" pitchFamily="34" charset="-122"/>
                  <a:cs typeface="Calibri" pitchFamily="34" charset="-120"/>
                </a:rPr>
                <a:t>votre</a:t>
              </a:r>
              <a:r>
                <a:rPr lang="en-US" sz="8800" b="1" dirty="0">
                  <a:solidFill>
                    <a:srgbClr val="243186"/>
                  </a:solidFill>
                  <a:latin typeface="Calibri" pitchFamily="34" charset="0"/>
                  <a:ea typeface="Calibri" pitchFamily="34" charset="-122"/>
                  <a:cs typeface="Calibri" pitchFamily="34" charset="-120"/>
                </a:rPr>
                <a:t> Attention</a:t>
              </a:r>
              <a:endParaRPr lang="en-US" sz="8800" dirty="0">
                <a:solidFill>
                  <a:srgbClr val="243186"/>
                </a:solidFill>
              </a:endParaRPr>
            </a:p>
          </p:txBody>
        </p:sp>
        <p:sp>
          <p:nvSpPr>
            <p:cNvPr id="4" name="Freeform 4">
              <a:extLst>
                <a:ext uri="{FF2B5EF4-FFF2-40B4-BE49-F238E27FC236}">
                  <a16:creationId xmlns:a16="http://schemas.microsoft.com/office/drawing/2014/main" id="{FFEC88FC-92E0-77F8-0858-672B8690BED1}"/>
                </a:ext>
              </a:extLst>
            </p:cNvPr>
            <p:cNvSpPr/>
            <p:nvPr/>
          </p:nvSpPr>
          <p:spPr>
            <a:xfrm>
              <a:off x="0" y="4098662"/>
              <a:ext cx="5184770" cy="383173"/>
            </a:xfrm>
            <a:custGeom>
              <a:avLst/>
              <a:gdLst/>
              <a:ahLst/>
              <a:cxnLst/>
              <a:rect l="l" t="t" r="r" b="b"/>
              <a:pathLst>
                <a:path w="5184770" h="383173">
                  <a:moveTo>
                    <a:pt x="0" y="0"/>
                  </a:moveTo>
                  <a:lnTo>
                    <a:pt x="5184770" y="0"/>
                  </a:lnTo>
                  <a:lnTo>
                    <a:pt x="5184770" y="383172"/>
                  </a:lnTo>
                  <a:lnTo>
                    <a:pt x="0" y="383172"/>
                  </a:lnTo>
                  <a:lnTo>
                    <a:pt x="0" y="0"/>
                  </a:lnTo>
                  <a:close/>
                </a:path>
              </a:pathLst>
            </a:custGeom>
            <a:blipFill>
              <a:blip>
                <a:extLst>
                  <a:ext uri="{96DAC541-7B7A-43D3-8B79-37D633B846F1}">
                    <asvg:svgBlip xmlns:asvg="http://schemas.microsoft.com/office/drawing/2016/SVG/main" r:embed="rId2"/>
                  </a:ext>
                </a:extLst>
              </a:blip>
              <a:stretch>
                <a:fillRect l="-171" t="-308623" r="-7088" b="-1042730"/>
              </a:stretch>
            </a:blipFill>
          </p:spPr>
          <p:txBody>
            <a:bodyPr/>
            <a:lstStyle/>
            <a:p>
              <a:endParaRPr lang="en-US"/>
            </a:p>
          </p:txBody>
        </p:sp>
      </p:grpSp>
      <p:sp>
        <p:nvSpPr>
          <p:cNvPr id="6" name="AutoShape 2" descr="Modern workspace with project timeline">
            <a:extLst>
              <a:ext uri="{FF2B5EF4-FFF2-40B4-BE49-F238E27FC236}">
                <a16:creationId xmlns:a16="http://schemas.microsoft.com/office/drawing/2014/main" id="{6099A94A-DF08-1FFE-2B36-E43629371EF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5" name="Group 5">
            <a:extLst>
              <a:ext uri="{FF2B5EF4-FFF2-40B4-BE49-F238E27FC236}">
                <a16:creationId xmlns:a16="http://schemas.microsoft.com/office/drawing/2014/main" id="{4A9C4C1E-09DC-22EC-8CB5-733858BC2D7A}"/>
              </a:ext>
            </a:extLst>
          </p:cNvPr>
          <p:cNvGrpSpPr/>
          <p:nvPr/>
        </p:nvGrpSpPr>
        <p:grpSpPr>
          <a:xfrm rot="5400000">
            <a:off x="-2133057" y="761999"/>
            <a:ext cx="12724315" cy="8458201"/>
            <a:chOff x="0" y="0"/>
            <a:chExt cx="16965753" cy="8481598"/>
          </a:xfrm>
        </p:grpSpPr>
        <p:sp>
          <p:nvSpPr>
            <p:cNvPr id="7" name="Freeform 6">
              <a:extLst>
                <a:ext uri="{FF2B5EF4-FFF2-40B4-BE49-F238E27FC236}">
                  <a16:creationId xmlns:a16="http://schemas.microsoft.com/office/drawing/2014/main" id="{A6A12C1A-698D-2B8F-7376-789A0C40B2E6}"/>
                </a:ext>
              </a:extLst>
            </p:cNvPr>
            <p:cNvSpPr/>
            <p:nvPr/>
          </p:nvSpPr>
          <p:spPr>
            <a:xfrm rot="-5400000">
              <a:off x="8480553"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sp>
          <p:nvSpPr>
            <p:cNvPr id="9" name="Freeform 7">
              <a:extLst>
                <a:ext uri="{FF2B5EF4-FFF2-40B4-BE49-F238E27FC236}">
                  <a16:creationId xmlns:a16="http://schemas.microsoft.com/office/drawing/2014/main" id="{355D76EE-4D55-EDD5-B94D-B3DFA1BA2263}"/>
                </a:ext>
              </a:extLst>
            </p:cNvPr>
            <p:cNvSpPr/>
            <p:nvPr/>
          </p:nvSpPr>
          <p:spPr>
            <a:xfrm rot="-5400000">
              <a:off x="3602" y="-3602"/>
              <a:ext cx="8481598" cy="8488802"/>
            </a:xfrm>
            <a:custGeom>
              <a:avLst/>
              <a:gdLst/>
              <a:ahLst/>
              <a:cxnLst/>
              <a:rect l="l" t="t" r="r" b="b"/>
              <a:pathLst>
                <a:path w="8481598" h="8488802">
                  <a:moveTo>
                    <a:pt x="0" y="0"/>
                  </a:moveTo>
                  <a:lnTo>
                    <a:pt x="8481598" y="0"/>
                  </a:lnTo>
                  <a:lnTo>
                    <a:pt x="8481598" y="8488802"/>
                  </a:lnTo>
                  <a:lnTo>
                    <a:pt x="0" y="8488802"/>
                  </a:lnTo>
                  <a:lnTo>
                    <a:pt x="0" y="0"/>
                  </a:lnTo>
                  <a:close/>
                </a:path>
              </a:pathLst>
            </a:custGeom>
            <a:blipFill>
              <a:blip>
                <a:extLst>
                  <a:ext uri="{96DAC541-7B7A-43D3-8B79-37D633B846F1}">
                    <asvg:svgBlip xmlns:asvg="http://schemas.microsoft.com/office/drawing/2016/SVG/main" r:embed="rId3"/>
                  </a:ext>
                </a:extLst>
              </a:blip>
              <a:stretch>
                <a:fillRect l="-50" r="-34"/>
              </a:stretch>
            </a:blipFill>
          </p:spPr>
          <p:txBody>
            <a:bodyPr/>
            <a:lstStyle/>
            <a:p>
              <a:endParaRPr lang="en-US"/>
            </a:p>
          </p:txBody>
        </p:sp>
      </p:grpSp>
      <p:sp>
        <p:nvSpPr>
          <p:cNvPr id="10" name="Freeform 17">
            <a:extLst>
              <a:ext uri="{FF2B5EF4-FFF2-40B4-BE49-F238E27FC236}">
                <a16:creationId xmlns:a16="http://schemas.microsoft.com/office/drawing/2014/main" id="{DE20F846-DB9F-D4F5-B9B6-75D6F309972C}"/>
              </a:ext>
            </a:extLst>
          </p:cNvPr>
          <p:cNvSpPr/>
          <p:nvPr/>
        </p:nvSpPr>
        <p:spPr>
          <a:xfrm>
            <a:off x="14244927" y="9273475"/>
            <a:ext cx="3751177" cy="792436"/>
          </a:xfrm>
          <a:custGeom>
            <a:avLst/>
            <a:gdLst/>
            <a:ahLst/>
            <a:cxnLst/>
            <a:rect l="l" t="t" r="r" b="b"/>
            <a:pathLst>
              <a:path w="3751177" h="792436">
                <a:moveTo>
                  <a:pt x="0" y="0"/>
                </a:moveTo>
                <a:lnTo>
                  <a:pt x="3751177" y="0"/>
                </a:lnTo>
                <a:lnTo>
                  <a:pt x="3751177" y="792436"/>
                </a:lnTo>
                <a:lnTo>
                  <a:pt x="0" y="792436"/>
                </a:lnTo>
                <a:lnTo>
                  <a:pt x="0" y="0"/>
                </a:lnTo>
                <a:close/>
              </a:path>
            </a:pathLst>
          </a:custGeom>
          <a:blipFill>
            <a:blip r:embed="rId4"/>
            <a:stretch>
              <a:fillRect/>
            </a:stretch>
          </a:blipFill>
        </p:spPr>
        <p:txBody>
          <a:bodyPr/>
          <a:lstStyle/>
          <a:p>
            <a:endParaRPr lang="en-US"/>
          </a:p>
        </p:txBody>
      </p:sp>
      <p:sp>
        <p:nvSpPr>
          <p:cNvPr id="14" name="Freeform 4">
            <a:extLst>
              <a:ext uri="{FF2B5EF4-FFF2-40B4-BE49-F238E27FC236}">
                <a16:creationId xmlns:a16="http://schemas.microsoft.com/office/drawing/2014/main" id="{348D0FF6-2F0B-19B9-39F6-221C0CDA83D1}"/>
              </a:ext>
            </a:extLst>
          </p:cNvPr>
          <p:cNvSpPr/>
          <p:nvPr/>
        </p:nvSpPr>
        <p:spPr>
          <a:xfrm>
            <a:off x="2818212" y="5327067"/>
            <a:ext cx="12651575" cy="509474"/>
          </a:xfrm>
          <a:custGeom>
            <a:avLst/>
            <a:gdLst/>
            <a:ahLst/>
            <a:cxnLst/>
            <a:rect l="l" t="t" r="r" b="b"/>
            <a:pathLst>
              <a:path w="9191696" h="679299">
                <a:moveTo>
                  <a:pt x="0" y="0"/>
                </a:moveTo>
                <a:lnTo>
                  <a:pt x="9191696" y="0"/>
                </a:lnTo>
                <a:lnTo>
                  <a:pt x="9191696" y="679299"/>
                </a:lnTo>
                <a:lnTo>
                  <a:pt x="0" y="679299"/>
                </a:lnTo>
                <a:lnTo>
                  <a:pt x="0" y="0"/>
                </a:lnTo>
                <a:close/>
              </a:path>
            </a:pathLst>
          </a:custGeom>
          <a:blipFill>
            <a:blip>
              <a:extLst>
                <a:ext uri="{96DAC541-7B7A-43D3-8B79-37D633B846F1}">
                  <asvg:svgBlip xmlns:asvg="http://schemas.microsoft.com/office/drawing/2016/SVG/main" r:embed="rId5"/>
                </a:ext>
              </a:extLst>
            </a:blip>
            <a:stretch>
              <a:fillRect l="-171" t="-308623" r="-7088" b="-1042730"/>
            </a:stretch>
          </a:blipFill>
        </p:spPr>
        <p:txBody>
          <a:bodyPr/>
          <a:lstStyle/>
          <a:p>
            <a:endParaRPr lang="en-US"/>
          </a:p>
        </p:txBody>
      </p:sp>
    </p:spTree>
    <p:extLst>
      <p:ext uri="{BB962C8B-B14F-4D97-AF65-F5344CB8AC3E}">
        <p14:creationId xmlns:p14="http://schemas.microsoft.com/office/powerpoint/2010/main" val="38842033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286</TotalTime>
  <Words>754</Words>
  <Application>Microsoft Office PowerPoint</Application>
  <PresentationFormat>Personnalisé</PresentationFormat>
  <Paragraphs>211</Paragraphs>
  <Slides>26</Slides>
  <Notes>8</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26</vt:i4>
      </vt:variant>
    </vt:vector>
  </HeadingPairs>
  <TitlesOfParts>
    <vt:vector size="39" baseType="lpstr">
      <vt:lpstr>Hammersmith One</vt:lpstr>
      <vt:lpstr>Trebuchet MS</vt:lpstr>
      <vt:lpstr>Calibri</vt:lpstr>
      <vt:lpstr>Telegraf Medium</vt:lpstr>
      <vt:lpstr>Aptos</vt:lpstr>
      <vt:lpstr>Clear Sans Bold</vt:lpstr>
      <vt:lpstr>Garet</vt:lpstr>
      <vt:lpstr>Canva Sans Bold</vt:lpstr>
      <vt:lpstr>Clear Sans Medium</vt:lpstr>
      <vt:lpstr>Arial</vt:lpstr>
      <vt:lpstr>Proxima Nova Light</vt:lpstr>
      <vt:lpstr>Clear Sans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Copie de Project Kickoff Presentation</dc:title>
  <dc:creator>Sondes SKANDER</dc:creator>
  <cp:lastModifiedBy>SKANDER sondes</cp:lastModifiedBy>
  <cp:revision>23</cp:revision>
  <dcterms:created xsi:type="dcterms:W3CDTF">2006-08-16T00:00:00Z</dcterms:created>
  <dcterms:modified xsi:type="dcterms:W3CDTF">2026-04-14T06:59:33Z</dcterms:modified>
  <dc:identifier>DAHGd6qSPB0</dc:identifier>
</cp:coreProperties>
</file>